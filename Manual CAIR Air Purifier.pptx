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ini menjelaskan cara kerja, cara merakit, dan cara memprogram CAIR. Urutannya: gambaran sistem, hardware, software, konektivitas, lalu pengujian dan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adalah input, tengah otak sistem, kanan output. Semua input dibaca oleh task FreeRTOS terpisah, disimpan di data bersama, lalu dipakai oleh task lain: kipas, layar, aplikasi BLE, dan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sensor memakai logika 3.3 V sehingga aman langsung ke ESP32-S3. Hanya kipas yang memakai 12 V, dan jalurnya lewat relay di 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nomor pin dikumpulkan di include/config.h. Kalau label header di shield berbeda, cukup ubah di file itu lalu build ulang. Relay1 di shield memakai GPIO47, Relay2 memakai GPIO21.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Kipas CPU 4-pin memisahkan daya (pin 1 dan 2) dari sinyal (pin 3 dan 4). Daya 12 V lewat relay supaya kipas bisa benar-benar dimatikan. TACH adalah output open-collector dari kipas, sehingga butuh resistor pull-up ke 3.3 V, bukan ke 12 V. PWM adalah input sinyal dengan arus sangat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Semakin lebar pulsa HIGH, semakin cepat kipas. Resolusi 10 bit berarti ada 1024 langkah kecepatan. Perubahan kecepatan juga dibatasi (slew rate, default 25 persen per detik) supaya kipas tidak menyentak.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Pull-up wajib ke 3.3 V. Kalau ditarik ke 12 V, GPIO ESP32 bisa rusak. Kalau rpm selalu 0 padahal kipas berputar, periksa resistor pull-up dan sambungan GND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Relay hanya dipakai sebagai saklar ON/OFF. Relay mekanis tidak bisa dipakai untuk PWM 25 kHz karena kontaknya hanya sanggup beberapa kali klik per detik dan cepat aus. Pengaturan kecepatan tetap lewat kabel PWM.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 ENS160 dan AHT21 ditulis sendiri tanpa library, ada di src/env_task.cpp. Untuk paper, sebut eCO2 sebagai estimasi. Kalau butuh CO2 sebenarnya, tambahkan sensor NDIR seperti MH-Z19.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batas dan duty bisa diubah dari halaman web (menu Pengaturan mode otomatis) atau console (perintah th dan duty), lalu disimpan ke NVS supaya tetap ada setelah restart. Batas eCO2 ada di config.h.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platformio.ini ada tiga hal penting. ARDUINO_USB_CDC_ON_BOOT=0 membuat Serial menjadi UART0 (port USB "UART"). Partisi huge_app memberi ruang 3 MB karena BLE dan WiFi cukup besar. extra_scripts menjalankan embed_web.py sebelum build. Port COM di laptop masing-masing bisa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1 menangani kontrol real-time (kipas dan sensor). Core 0 menangani komunikasi (WiFi, BLE, console, layar), karena radio ESP32 juga berjalan di core 0. setup() hanya membuat task; loop() langsung dihapus.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mutex, dua task bisa membaca dan menulis data yang sama di waktu bersamaan sehingga nilainya rusak. Pola yang dipakai: kunci, salin ke variabel lokal, lepas kunci, baru diproses. Dengan begitu kunci hanya dipegang sangat singkat.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langkah ini dijalankan task fan tiap 100 ms. Slew rate membuat perubahan kecepatan halus. Kick-start memastikan kipas mulai berputar dari keadaan diam. Saat mode Manual dipilih, kecepatan awalnya diambil dari kecepatan saat itu supaya kipas tidak meloncat.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Warna LED mengambil level terburuk antara kategori PM2.5 dan level eCO2. Jadi ruangan yang bersih debu tapi pengap tetap menyala oranye, sebagai tanda untuk membuka ventilasi.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di kurung siku pertama adalah milidetik sejak boot. Log keluar di port USB "UART" pada 115200 baud, port yang sama untuk upload. Set LOG_VERBOSE ke 0 di config.h kalau log terlalu ramai.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remotexy membaca data bersama lalu mengisi struct RemoteXY setiap 20 ms. Kalau mode diubah dari tombol BOOT atau dari web, switch di app ikut menyesuaikan. Perubahan dari app disimpan ke NVS 3 detik setelah sentuhan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Hotspot alat selalu aktif, jadi dashboard tetap bisa dibuka walau tidak ada router. BLE dan WiFi jalan bersamaan. Kalau terhubung ke router, jam disinkron lewat internet (WIB) sehingga file CSV punya kolom waktu. cair.local mungkin tidak jalan di sebagian HP Android; pakai alamat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web embed. Browser menerima file yang masih terkompresi gzip dengan header Content-Encoding gzip, lalu mengurainya sendiri. Hasilnya transfer lebih cepat dan flash lebih hemat.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ini juga bisa dipakai alat lain, misalnya spreadsheet atau aplikasi buatan sendiri, selama berada di jaringan yang sama. Riwayat disimpan di RAM setiap 30 detik, maksimal 240 sampel (2 jam), dan hilang saat restart. Unduh CSV sebelum alat dimatikan.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Simulator berperan sebagai SDS011 sungguhan dan menjawab perintah sleep, wake, dan query, sehingga semua logika kipas bisa diuji sebelum sensor tersedia. Profil spike cocok untuk demo: PM naik tajam lalu turun, dan kipas terlihat merespons.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hampir selalu sama: buka serial monitor, restart board, lalu baca log boot. Hampir semua masalah wiring terlihat di sana, terutama di baris [i2c], [sds], dan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Alur utamanya: sensor membaca, task FreeRTOS memproses, kipas bekerja, dan hasilnya tampil di OLED, LED, app BLE, serta web. Untuk lomba atau paper, data CSV dari dashboard bisa langsung dipakai sebagai bukti performa.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0F1B2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2841"/>
            <a:ext cx="10566400" cy="4272359"/>
          </a:xfrm>
          <a:prstGeom prst="rect">
            <a:avLst/>
          </a:prstGeom>
          <a:noFill/>
          <a:ln/>
        </p:spPr>
        <p:txBody>
          <a:bodyPr wrap="square" lIns="0" tIns="0" rIns="0" bIns="0" rtlCol="0" anchor="t"/>
          <a:lstStyle>
            <a:lvl1pPr algn="l" indent="0" marL="0">
              <a:lnSpc>
                <a:spcPct val="140000"/>
              </a:lnSpc>
              <a:buNone/>
              <a:defRPr lang="en-US" sz="1600" dirty="0">
                <a:solidFill>
                  <a:srgbClr val="0F1B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0F1B2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72841"/>
            <a:ext cx="10566400" cy="4272359"/>
          </a:xfrm>
          <a:prstGeom prst="rect">
            <a:avLst/>
          </a:prstGeom>
          <a:noFill/>
          <a:ln/>
        </p:spPr>
        <p:txBody>
          <a:bodyPr wrap="square" lIns="0" tIns="0" rIns="0" bIns="0" rtlCol="0" anchor="t"/>
          <a:lstStyle>
            <a:lvl1pPr algn="l" indent="0" marL="0">
              <a:lnSpc>
                <a:spcPct val="140000"/>
              </a:lnSpc>
              <a:buNone/>
              <a:defRPr lang="en-US" sz="1600" dirty="0">
                <a:solidFill>
                  <a:srgbClr val="0F1B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4"/>
        </a:solidFill>
      </p:bgPr>
    </p:bg>
    <p:spTree>
      <p:nvGrpSpPr>
        <p:cNvPr id="1" name=""/>
        <p:cNvGrpSpPr/>
        <p:nvPr/>
      </p:nvGrpSpPr>
      <p:grpSpPr>
        <a:xfrm>
          <a:off x="0" y="0"/>
          <a:ext cx="0" cy="0"/>
          <a:chOff x="0" y="0"/>
          <a:chExt cx="0" cy="0"/>
        </a:xfrm>
      </p:grpSpPr>
      <p:sp>
        <p:nvSpPr>
          <p:cNvPr id="2" name="Shape 0"/>
          <p:cNvSpPr/>
          <p:nvPr/>
        </p:nvSpPr>
        <p:spPr>
          <a:xfrm>
            <a:off x="7493000" y="0"/>
            <a:ext cx="4699000" cy="6858000"/>
          </a:xfrm>
          <a:prstGeom prst="rect">
            <a:avLst/>
          </a:prstGeom>
          <a:gradFill rotWithShape="1">
            <a:gsLst>
              <a:gs pos="0">
                <a:srgbClr val="12A37A">
                  <a:alpha val="55000"/>
                </a:srgbClr>
              </a:gs>
              <a:gs pos="70000">
                <a:srgbClr val="0F1B24">
                  <a:alpha val="55000"/>
                </a:srgbClr>
              </a:gs>
            </a:gsLst>
            <a:path path="circle">
              <a:fillToRect l="70000" t="40000" r="30000" b="60000"/>
            </a:path>
          </a:gra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3DD6A3"/>
                </a:solidFill>
                <a:latin typeface="JetBrains Mono" pitchFamily="49" charset="0"/>
                <a:ea typeface="JetBrains Mono" pitchFamily="49" charset="-122"/>
                <a:cs typeface="JetBrains Mono" pitchFamily="49" charset="-120"/>
              </a:rPr>
              <a:t>MANUAL TEKNIS · V1</a:t>
            </a:r>
            <a:endParaRPr lang="en-US" sz="1400" dirty="0"/>
          </a:p>
        </p:txBody>
      </p:sp>
      <p:sp>
        <p:nvSpPr>
          <p:cNvPr id="4" name="Text 2"/>
          <p:cNvSpPr/>
          <p:nvPr>
            <p:ph type="title"/>
          </p:nvPr>
        </p:nvSpPr>
        <p:spPr>
          <a:xfrm>
            <a:off x="812800" y="201553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spc="-100" kern="0" dirty="0">
                <a:solidFill>
                  <a:srgbClr val="F4F6F3"/>
                </a:solidFill>
                <a:latin typeface="IBM Plex Sans" pitchFamily="34" charset="0"/>
                <a:ea typeface="IBM Plex Sans" pitchFamily="34" charset="-122"/>
                <a:cs typeface="IBM Plex Sans" pitchFamily="34" charset="-120"/>
              </a:rPr>
              <a:t>CAIR</a:t>
            </a:r>
            <a:endParaRPr lang="en-US" sz="7500" dirty="0"/>
          </a:p>
        </p:txBody>
      </p:sp>
      <p:sp>
        <p:nvSpPr>
          <p:cNvPr id="5" name="Text 3"/>
          <p:cNvSpPr/>
          <p:nvPr/>
        </p:nvSpPr>
        <p:spPr>
          <a:xfrm>
            <a:off x="812800" y="317123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E8EEF2"/>
                </a:solidFill>
                <a:latin typeface="IBM Plex Sans" pitchFamily="34" charset="0"/>
                <a:ea typeface="IBM Plex Sans" pitchFamily="34" charset="-122"/>
                <a:cs typeface="IBM Plex Sans" pitchFamily="34" charset="-120"/>
              </a:rPr>
              <a:t>Smart Air Purifier</a:t>
            </a:r>
            <a:endParaRPr lang="en-US" sz="3200" dirty="0"/>
          </a:p>
          <a:p>
            <a:pPr algn="l" indent="0" marL="0">
              <a:lnSpc>
                <a:spcPts val="3680"/>
              </a:lnSpc>
              <a:buNone/>
            </a:pPr>
            <a:r>
              <a:rPr lang="en-US" sz="3200" dirty="0">
                <a:solidFill>
                  <a:srgbClr val="E8EEF2"/>
                </a:solidFill>
                <a:latin typeface="IBM Plex Sans" pitchFamily="34" charset="0"/>
                <a:ea typeface="IBM Plex Sans" pitchFamily="34" charset="-122"/>
                <a:cs typeface="IBM Plex Sans" pitchFamily="34" charset="-120"/>
              </a:rPr>
              <a:t>ESP32-S3 + FreeRTOS</a:t>
            </a:r>
            <a:endParaRPr lang="en-US" sz="3200" dirty="0"/>
          </a:p>
        </p:txBody>
      </p:sp>
      <p:sp>
        <p:nvSpPr>
          <p:cNvPr id="6" name="Text 4"/>
          <p:cNvSpPr/>
          <p:nvPr/>
        </p:nvSpPr>
        <p:spPr>
          <a:xfrm>
            <a:off x="812800" y="4309070"/>
            <a:ext cx="71945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8C4"/>
                </a:solidFill>
                <a:latin typeface="IBM Plex Sans" pitchFamily="34" charset="0"/>
                <a:ea typeface="IBM Plex Sans" pitchFamily="34" charset="-122"/>
                <a:cs typeface="IBM Plex Sans" pitchFamily="34" charset="-120"/>
              </a:rPr>
              <a:t>PlatformIO · sensor PM2.5, eCO₂, suhu &amp; RH · kipas 4-pin PWM + tachometer + relay · RemoteXY BLE · dashboard web WiFi</a:t>
            </a:r>
            <a:endParaRPr lang="en-US" sz="1600" dirty="0"/>
          </a:p>
        </p:txBody>
      </p:sp>
      <p:sp>
        <p:nvSpPr>
          <p:cNvPr id="7"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3A3"/>
                </a:solidFill>
                <a:latin typeface="IBM Plex Sans" pitchFamily="34" charset="0"/>
                <a:ea typeface="IBM Plex Sans" pitchFamily="34" charset="-122"/>
                <a:cs typeface="IBM Plex Sans" pitchFamily="34" charset="-120"/>
              </a:rPr>
              <a:t>Science project SMA Budi Luhur · 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01 · GAMBARAN SISTEM</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Dari sensor ke kipas dan aplikasi</a:t>
            </a:r>
            <a:endParaRPr lang="en-US" sz="3200" dirty="0"/>
          </a:p>
        </p:txBody>
      </p:sp>
      <p:sp>
        <p:nvSpPr>
          <p:cNvPr id="4" name="Shape 2"/>
          <p:cNvSpPr/>
          <p:nvPr/>
        </p:nvSpPr>
        <p:spPr>
          <a:xfrm>
            <a:off x="815975" y="2314773"/>
            <a:ext cx="3422650" cy="671711"/>
          </a:xfrm>
          <a:prstGeom prst="roundRect">
            <a:avLst>
              <a:gd name="adj" fmla="val 12762"/>
            </a:avLst>
          </a:prstGeom>
          <a:solidFill>
            <a:srgbClr val="FFFFFF"/>
          </a:solidFill>
          <a:ln w="6350">
            <a:solidFill>
              <a:srgbClr val="DDE3E0"/>
            </a:solidFill>
            <a:prstDash val="solid"/>
          </a:ln>
        </p:spPr>
      </p:sp>
      <p:sp>
        <p:nvSpPr>
          <p:cNvPr id="5" name="Text 3"/>
          <p:cNvSpPr/>
          <p:nvPr/>
        </p:nvSpPr>
        <p:spPr>
          <a:xfrm>
            <a:off x="971550" y="2419548"/>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SDS011 · PM2.5 / PM10</a:t>
            </a:r>
            <a:endParaRPr lang="en-US" sz="1400" dirty="0"/>
          </a:p>
        </p:txBody>
      </p:sp>
      <p:sp>
        <p:nvSpPr>
          <p:cNvPr id="6" name="Text 4"/>
          <p:cNvSpPr/>
          <p:nvPr/>
        </p:nvSpPr>
        <p:spPr>
          <a:xfrm>
            <a:off x="971550" y="2668389"/>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UART1, frame 10 byte tiap 1 s</a:t>
            </a:r>
            <a:endParaRPr lang="en-US" sz="1200" dirty="0"/>
          </a:p>
        </p:txBody>
      </p:sp>
      <p:sp>
        <p:nvSpPr>
          <p:cNvPr id="7" name="Shape 5"/>
          <p:cNvSpPr/>
          <p:nvPr/>
        </p:nvSpPr>
        <p:spPr>
          <a:xfrm>
            <a:off x="815975" y="3069034"/>
            <a:ext cx="3422650" cy="671711"/>
          </a:xfrm>
          <a:prstGeom prst="roundRect">
            <a:avLst>
              <a:gd name="adj" fmla="val 12762"/>
            </a:avLst>
          </a:prstGeom>
          <a:solidFill>
            <a:srgbClr val="FFFFFF"/>
          </a:solidFill>
          <a:ln w="6350">
            <a:solidFill>
              <a:srgbClr val="DDE3E0"/>
            </a:solidFill>
            <a:prstDash val="solid"/>
          </a:ln>
        </p:spPr>
      </p:sp>
      <p:sp>
        <p:nvSpPr>
          <p:cNvPr id="8" name="Text 6"/>
          <p:cNvSpPr/>
          <p:nvPr/>
        </p:nvSpPr>
        <p:spPr>
          <a:xfrm>
            <a:off x="971550" y="3173809"/>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ENS160 · eCO₂, TVOC, AQI</a:t>
            </a:r>
            <a:endParaRPr lang="en-US" sz="1400" dirty="0"/>
          </a:p>
        </p:txBody>
      </p:sp>
      <p:sp>
        <p:nvSpPr>
          <p:cNvPr id="9" name="Text 7"/>
          <p:cNvSpPr/>
          <p:nvPr/>
        </p:nvSpPr>
        <p:spPr>
          <a:xfrm>
            <a:off x="971550" y="342265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I2C 0x53</a:t>
            </a:r>
            <a:endParaRPr lang="en-US" sz="1200" dirty="0"/>
          </a:p>
        </p:txBody>
      </p:sp>
      <p:sp>
        <p:nvSpPr>
          <p:cNvPr id="10" name="Shape 8"/>
          <p:cNvSpPr/>
          <p:nvPr/>
        </p:nvSpPr>
        <p:spPr>
          <a:xfrm>
            <a:off x="815975" y="3823295"/>
            <a:ext cx="3422650" cy="671711"/>
          </a:xfrm>
          <a:prstGeom prst="roundRect">
            <a:avLst>
              <a:gd name="adj" fmla="val 12762"/>
            </a:avLst>
          </a:prstGeom>
          <a:solidFill>
            <a:srgbClr val="FFFFFF"/>
          </a:solidFill>
          <a:ln w="6350">
            <a:solidFill>
              <a:srgbClr val="DDE3E0"/>
            </a:solidFill>
            <a:prstDash val="solid"/>
          </a:ln>
        </p:spPr>
      </p:sp>
      <p:sp>
        <p:nvSpPr>
          <p:cNvPr id="11" name="Text 9"/>
          <p:cNvSpPr/>
          <p:nvPr/>
        </p:nvSpPr>
        <p:spPr>
          <a:xfrm>
            <a:off x="971550" y="3928070"/>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AHT21 · suhu &amp; RH</a:t>
            </a:r>
            <a:endParaRPr lang="en-US" sz="1400" dirty="0"/>
          </a:p>
        </p:txBody>
      </p:sp>
      <p:sp>
        <p:nvSpPr>
          <p:cNvPr id="12" name="Text 10"/>
          <p:cNvSpPr/>
          <p:nvPr/>
        </p:nvSpPr>
        <p:spPr>
          <a:xfrm>
            <a:off x="971550" y="417691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I2C 0x38</a:t>
            </a:r>
            <a:endParaRPr lang="en-US" sz="1200" dirty="0"/>
          </a:p>
        </p:txBody>
      </p:sp>
      <p:sp>
        <p:nvSpPr>
          <p:cNvPr id="13" name="Shape 11"/>
          <p:cNvSpPr/>
          <p:nvPr/>
        </p:nvSpPr>
        <p:spPr>
          <a:xfrm>
            <a:off x="815975" y="4577556"/>
            <a:ext cx="3422650" cy="671711"/>
          </a:xfrm>
          <a:prstGeom prst="roundRect">
            <a:avLst>
              <a:gd name="adj" fmla="val 12762"/>
            </a:avLst>
          </a:prstGeom>
          <a:solidFill>
            <a:srgbClr val="FFFFFF"/>
          </a:solidFill>
          <a:ln w="6350">
            <a:solidFill>
              <a:srgbClr val="DDE3E0"/>
            </a:solidFill>
            <a:prstDash val="solid"/>
          </a:ln>
        </p:spPr>
      </p:sp>
      <p:sp>
        <p:nvSpPr>
          <p:cNvPr id="14" name="Text 12"/>
          <p:cNvSpPr/>
          <p:nvPr/>
        </p:nvSpPr>
        <p:spPr>
          <a:xfrm>
            <a:off x="971550" y="4682331"/>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Tach kipas · potensio · BOOT</a:t>
            </a:r>
            <a:endParaRPr lang="en-US" sz="1400" dirty="0"/>
          </a:p>
        </p:txBody>
      </p:sp>
      <p:sp>
        <p:nvSpPr>
          <p:cNvPr id="15" name="Text 13"/>
          <p:cNvSpPr/>
          <p:nvPr/>
        </p:nvSpPr>
        <p:spPr>
          <a:xfrm>
            <a:off x="971550" y="4931172"/>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GPIO7 interrupt · ADC GPIO4 · GPIO0</a:t>
            </a:r>
            <a:endParaRPr lang="en-US" sz="1200" dirty="0"/>
          </a:p>
        </p:txBody>
      </p:sp>
      <p:pic>
        <p:nvPicPr>
          <p:cNvPr id="16" name="Image 0" descr="connector">    </p:cNvPr>
          <p:cNvPicPr>
            <a:picLocks noChangeAspect="1"/>
          </p:cNvPicPr>
          <p:nvPr/>
        </p:nvPicPr>
        <p:blipFill>
          <a:blip r:embed="rId1"/>
          <a:srcRect l="0" r="0" t="0" b="0"/>
          <a:stretch/>
        </p:blipFill>
        <p:spPr>
          <a:xfrm>
            <a:off x="4292600" y="3718520"/>
            <a:ext cx="546100" cy="127000"/>
          </a:xfrm>
          <a:prstGeom prst="rect">
            <a:avLst/>
          </a:prstGeom>
        </p:spPr>
      </p:pic>
      <p:sp>
        <p:nvSpPr>
          <p:cNvPr id="17" name="Shape 14"/>
          <p:cNvSpPr/>
          <p:nvPr/>
        </p:nvSpPr>
        <p:spPr>
          <a:xfrm>
            <a:off x="4889500" y="2670870"/>
            <a:ext cx="2413000" cy="2222202"/>
          </a:xfrm>
          <a:prstGeom prst="roundRect">
            <a:avLst>
              <a:gd name="adj" fmla="val 5715"/>
            </a:avLst>
          </a:prstGeom>
          <a:solidFill>
            <a:srgbClr val="0F1B24"/>
          </a:solidFill>
          <a:ln/>
        </p:spPr>
      </p:sp>
      <p:sp>
        <p:nvSpPr>
          <p:cNvPr id="18" name="Text 15"/>
          <p:cNvSpPr/>
          <p:nvPr/>
        </p:nvSpPr>
        <p:spPr>
          <a:xfrm>
            <a:off x="5596066" y="2924870"/>
            <a:ext cx="999768"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3DD6A3"/>
                </a:solidFill>
                <a:latin typeface="JetBrains Mono" pitchFamily="49" charset="0"/>
                <a:ea typeface="JetBrains Mono" pitchFamily="49" charset="-122"/>
                <a:cs typeface="JetBrains Mono" pitchFamily="49" charset="-120"/>
              </a:rPr>
              <a:t>ESP32-S3</a:t>
            </a:r>
            <a:endParaRPr lang="en-US" sz="1200" dirty="0"/>
          </a:p>
        </p:txBody>
      </p:sp>
      <p:sp>
        <p:nvSpPr>
          <p:cNvPr id="19" name="Text 16"/>
          <p:cNvSpPr/>
          <p:nvPr/>
        </p:nvSpPr>
        <p:spPr>
          <a:xfrm>
            <a:off x="5321270" y="3239790"/>
            <a:ext cx="1549360" cy="33268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F4F6F3"/>
                </a:solidFill>
                <a:latin typeface="IBM Plex Sans" pitchFamily="34" charset="0"/>
                <a:ea typeface="IBM Plex Sans" pitchFamily="34" charset="-122"/>
                <a:cs typeface="IBM Plex Sans" pitchFamily="34" charset="-120"/>
              </a:rPr>
              <a:t>FreeRTOS</a:t>
            </a:r>
            <a:endParaRPr lang="en-US" sz="2200" dirty="0"/>
          </a:p>
        </p:txBody>
      </p:sp>
      <p:sp>
        <p:nvSpPr>
          <p:cNvPr id="20" name="Text 17"/>
          <p:cNvSpPr/>
          <p:nvPr/>
        </p:nvSpPr>
        <p:spPr>
          <a:xfrm>
            <a:off x="5062601" y="3648670"/>
            <a:ext cx="2066798" cy="487561"/>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A9B8C4"/>
                </a:solidFill>
                <a:latin typeface="IBM Plex Sans" pitchFamily="34" charset="0"/>
                <a:ea typeface="IBM Plex Sans" pitchFamily="34" charset="-122"/>
                <a:cs typeface="IBM Plex Sans" pitchFamily="34" charset="-120"/>
              </a:rPr>
              <a:t>7 task berjalan paralel di 2 core</a:t>
            </a:r>
            <a:endParaRPr lang="en-US" sz="1300" dirty="0"/>
          </a:p>
        </p:txBody>
      </p:sp>
      <p:sp>
        <p:nvSpPr>
          <p:cNvPr id="21" name="Text 18"/>
          <p:cNvSpPr/>
          <p:nvPr/>
        </p:nvSpPr>
        <p:spPr>
          <a:xfrm>
            <a:off x="5062601" y="4212431"/>
            <a:ext cx="2066798"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B8C4"/>
                </a:solidFill>
                <a:latin typeface="IBM Plex Sans" pitchFamily="34" charset="0"/>
                <a:ea typeface="IBM Plex Sans" pitchFamily="34" charset="-122"/>
                <a:cs typeface="IBM Plex Sans" pitchFamily="34" charset="-120"/>
              </a:rPr>
              <a:t>sensor · fan · env · display · console · remotexy · web</a:t>
            </a:r>
            <a:endParaRPr lang="en-US" sz="1200" dirty="0"/>
          </a:p>
        </p:txBody>
      </p:sp>
      <p:pic>
        <p:nvPicPr>
          <p:cNvPr id="22" name="Image 1" descr="connector">    </p:cNvPr>
          <p:cNvPicPr>
            <a:picLocks noChangeAspect="1"/>
          </p:cNvPicPr>
          <p:nvPr/>
        </p:nvPicPr>
        <p:blipFill>
          <a:blip r:embed="rId2"/>
          <a:srcRect l="0" r="0" t="0" b="0"/>
          <a:stretch/>
        </p:blipFill>
        <p:spPr>
          <a:xfrm>
            <a:off x="7353300" y="3718520"/>
            <a:ext cx="546100" cy="127000"/>
          </a:xfrm>
          <a:prstGeom prst="rect">
            <a:avLst/>
          </a:prstGeom>
        </p:spPr>
      </p:pic>
      <p:sp>
        <p:nvSpPr>
          <p:cNvPr id="23" name="Shape 19"/>
          <p:cNvSpPr/>
          <p:nvPr/>
        </p:nvSpPr>
        <p:spPr>
          <a:xfrm>
            <a:off x="7953375" y="2314773"/>
            <a:ext cx="3422650" cy="671711"/>
          </a:xfrm>
          <a:prstGeom prst="roundRect">
            <a:avLst>
              <a:gd name="adj" fmla="val 12762"/>
            </a:avLst>
          </a:prstGeom>
          <a:solidFill>
            <a:srgbClr val="FFFFFF"/>
          </a:solidFill>
          <a:ln w="6350">
            <a:solidFill>
              <a:srgbClr val="DDE3E0"/>
            </a:solidFill>
            <a:prstDash val="solid"/>
          </a:ln>
        </p:spPr>
      </p:sp>
      <p:sp>
        <p:nvSpPr>
          <p:cNvPr id="24" name="Text 20"/>
          <p:cNvSpPr/>
          <p:nvPr/>
        </p:nvSpPr>
        <p:spPr>
          <a:xfrm>
            <a:off x="8108950" y="2419548"/>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Kipas 12 V 4-pin</a:t>
            </a:r>
            <a:endParaRPr lang="en-US" sz="1400" dirty="0"/>
          </a:p>
        </p:txBody>
      </p:sp>
      <p:sp>
        <p:nvSpPr>
          <p:cNvPr id="25" name="Text 21"/>
          <p:cNvSpPr/>
          <p:nvPr/>
        </p:nvSpPr>
        <p:spPr>
          <a:xfrm>
            <a:off x="8108950" y="2668389"/>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PWM 25 kHz GPIO5 · relay GPIO47</a:t>
            </a:r>
            <a:endParaRPr lang="en-US" sz="1200" dirty="0"/>
          </a:p>
        </p:txBody>
      </p:sp>
      <p:sp>
        <p:nvSpPr>
          <p:cNvPr id="26" name="Shape 22"/>
          <p:cNvSpPr/>
          <p:nvPr/>
        </p:nvSpPr>
        <p:spPr>
          <a:xfrm>
            <a:off x="7953375" y="3069034"/>
            <a:ext cx="3422650" cy="671711"/>
          </a:xfrm>
          <a:prstGeom prst="roundRect">
            <a:avLst>
              <a:gd name="adj" fmla="val 12762"/>
            </a:avLst>
          </a:prstGeom>
          <a:solidFill>
            <a:srgbClr val="FFFFFF"/>
          </a:solidFill>
          <a:ln w="6350">
            <a:solidFill>
              <a:srgbClr val="DDE3E0"/>
            </a:solidFill>
            <a:prstDash val="solid"/>
          </a:ln>
        </p:spPr>
      </p:sp>
      <p:sp>
        <p:nvSpPr>
          <p:cNvPr id="27" name="Text 23"/>
          <p:cNvSpPr/>
          <p:nvPr/>
        </p:nvSpPr>
        <p:spPr>
          <a:xfrm>
            <a:off x="8108950" y="3173809"/>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OLED 0.96″ &amp; LED RGB</a:t>
            </a:r>
            <a:endParaRPr lang="en-US" sz="1400" dirty="0"/>
          </a:p>
        </p:txBody>
      </p:sp>
      <p:sp>
        <p:nvSpPr>
          <p:cNvPr id="28" name="Text 24"/>
          <p:cNvSpPr/>
          <p:nvPr/>
        </p:nvSpPr>
        <p:spPr>
          <a:xfrm>
            <a:off x="8108950" y="342265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tampilan lokal &amp; peringatan warna</a:t>
            </a:r>
            <a:endParaRPr lang="en-US" sz="1200" dirty="0"/>
          </a:p>
        </p:txBody>
      </p:sp>
      <p:sp>
        <p:nvSpPr>
          <p:cNvPr id="29" name="Shape 25"/>
          <p:cNvSpPr/>
          <p:nvPr/>
        </p:nvSpPr>
        <p:spPr>
          <a:xfrm>
            <a:off x="7953375" y="3823295"/>
            <a:ext cx="3422650" cy="671711"/>
          </a:xfrm>
          <a:prstGeom prst="roundRect">
            <a:avLst>
              <a:gd name="adj" fmla="val 12762"/>
            </a:avLst>
          </a:prstGeom>
          <a:solidFill>
            <a:srgbClr val="FFFFFF"/>
          </a:solidFill>
          <a:ln w="6350">
            <a:solidFill>
              <a:srgbClr val="DDE3E0"/>
            </a:solidFill>
            <a:prstDash val="solid"/>
          </a:ln>
        </p:spPr>
      </p:sp>
      <p:sp>
        <p:nvSpPr>
          <p:cNvPr id="30" name="Text 26"/>
          <p:cNvSpPr/>
          <p:nvPr/>
        </p:nvSpPr>
        <p:spPr>
          <a:xfrm>
            <a:off x="8108950" y="3928070"/>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RemoteXY · Bluetooth LE</a:t>
            </a:r>
            <a:endParaRPr lang="en-US" sz="1400" dirty="0"/>
          </a:p>
        </p:txBody>
      </p:sp>
      <p:sp>
        <p:nvSpPr>
          <p:cNvPr id="31" name="Text 27"/>
          <p:cNvSpPr/>
          <p:nvPr/>
        </p:nvSpPr>
        <p:spPr>
          <a:xfrm>
            <a:off x="8108950" y="4176911"/>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aplikasi HP, nama “CAIR”</a:t>
            </a:r>
            <a:endParaRPr lang="en-US" sz="1200" dirty="0"/>
          </a:p>
        </p:txBody>
      </p:sp>
      <p:sp>
        <p:nvSpPr>
          <p:cNvPr id="32" name="Shape 28"/>
          <p:cNvSpPr/>
          <p:nvPr/>
        </p:nvSpPr>
        <p:spPr>
          <a:xfrm>
            <a:off x="7953375" y="4577556"/>
            <a:ext cx="3422650" cy="671711"/>
          </a:xfrm>
          <a:prstGeom prst="roundRect">
            <a:avLst>
              <a:gd name="adj" fmla="val 12762"/>
            </a:avLst>
          </a:prstGeom>
          <a:solidFill>
            <a:srgbClr val="FFFFFF"/>
          </a:solidFill>
          <a:ln w="6350">
            <a:solidFill>
              <a:srgbClr val="DDE3E0"/>
            </a:solidFill>
            <a:prstDash val="solid"/>
          </a:ln>
        </p:spPr>
      </p:sp>
      <p:sp>
        <p:nvSpPr>
          <p:cNvPr id="33" name="Text 29"/>
          <p:cNvSpPr/>
          <p:nvPr/>
        </p:nvSpPr>
        <p:spPr>
          <a:xfrm>
            <a:off x="8108950" y="4682331"/>
            <a:ext cx="320484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Dashboard web · WiFi</a:t>
            </a:r>
            <a:endParaRPr lang="en-US" sz="1400" dirty="0"/>
          </a:p>
        </p:txBody>
      </p:sp>
      <p:sp>
        <p:nvSpPr>
          <p:cNvPr id="34" name="Text 30"/>
          <p:cNvSpPr/>
          <p:nvPr/>
        </p:nvSpPr>
        <p:spPr>
          <a:xfrm>
            <a:off x="8108950" y="4931172"/>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hotspot CAIR-XXXX atau cair.local</a:t>
            </a:r>
            <a:endParaRPr lang="en-US" sz="1200" dirty="0"/>
          </a:p>
        </p:txBody>
      </p:sp>
      <p:sp>
        <p:nvSpPr>
          <p:cNvPr id="35"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HARDWARE</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Daftar komponen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10553700" cy="3592711"/>
        </p:xfrm>
        <a:graphic>
          <a:graphicData uri="http://schemas.openxmlformats.org/drawingml/2006/table">
            <a:tbl>
              <a:tblPr/>
              <a:tblGrid>
                <a:gridCol w="3166110"/>
                <a:gridCol w="4221480"/>
                <a:gridCol w="3166110"/>
              </a:tblGrid>
              <a:tr h="359271">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Komponen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Fungsi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Catatan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ESP32-S3-DevKitC-1 N16R8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MCU utama, WiFi + 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dual-core 240 MHz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GPIO Shield ESP32-S3 Rev2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terminal, 2 relay, DC jack 12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khurslabs.com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Nova SDS011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PM2.5 &amp; PM10 (laser)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5 V, logika 3.3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Modul ENS160 + AHT21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eCO₂, TVOC, AQI, suhu, RH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I2C, 3.3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OLED 0.96″ SSD1306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tampilan lokal 128×64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I2C 0x3C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Kipas CPU 12 V 4-pin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menggerakkan udara lewat filter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PWM + TACH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Filter HEPA / karbon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menangkap partikel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dipasang di sisi hisap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Adaptor 12 V ≥ 2 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daya kipas &amp; board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ke DC jack shield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Potensio 10k, resistor 10k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atur manual · pull-up TACH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ke 3V3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HARDWARE</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Peta pin (include/config.h)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6946900" cy="3233440"/>
        </p:xfrm>
        <a:graphic>
          <a:graphicData uri="http://schemas.openxmlformats.org/drawingml/2006/table">
            <a:tbl>
              <a:tblPr/>
              <a:tblGrid>
                <a:gridCol w="3612388"/>
                <a:gridCol w="1389380"/>
                <a:gridCol w="1945132"/>
              </a:tblGrid>
              <a:tr h="359271">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Fungsi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GPIO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Bus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Log / console / upload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43 · 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UART0 USB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SDS011 TX → ESP RX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UART1 9600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ESP TX → SDS011 RX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UART1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SDA · SCL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8 · 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I2C 400 kHz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PWM kipas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LEDC 25 kHz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TACH kipas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interrupt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Relay1 daya kipas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47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output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Potensio · BOOT · RGB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4 · 0 · 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ADC · in · WS2812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bl>
          </a:graphicData>
        </a:graphic>
      </p:graphicFrame>
      <p:sp>
        <p:nvSpPr>
          <p:cNvPr id="5" name="Shape 2"/>
          <p:cNvSpPr/>
          <p:nvPr/>
        </p:nvSpPr>
        <p:spPr>
          <a:xfrm>
            <a:off x="8077200" y="1722041"/>
            <a:ext cx="3302000" cy="1287661"/>
          </a:xfrm>
          <a:prstGeom prst="roundRect">
            <a:avLst>
              <a:gd name="adj" fmla="val 7890"/>
            </a:avLst>
          </a:prstGeom>
          <a:solidFill>
            <a:srgbClr val="0F1B24"/>
          </a:solidFill>
          <a:ln/>
        </p:spPr>
      </p:sp>
      <p:sp>
        <p:nvSpPr>
          <p:cNvPr id="6" name="Text 3"/>
          <p:cNvSpPr/>
          <p:nvPr/>
        </p:nvSpPr>
        <p:spPr>
          <a:xfrm>
            <a:off x="8280400" y="189984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DD6A3"/>
                </a:solidFill>
                <a:latin typeface="IBM Plex Sans" pitchFamily="34" charset="0"/>
                <a:ea typeface="IBM Plex Sans" pitchFamily="34" charset="-122"/>
                <a:cs typeface="IBM Plex Sans" pitchFamily="34" charset="-120"/>
              </a:rPr>
              <a:t>Satu bus I2C, tiga alat</a:t>
            </a:r>
            <a:endParaRPr lang="en-US" sz="1500" dirty="0"/>
          </a:p>
        </p:txBody>
      </p:sp>
      <p:sp>
        <p:nvSpPr>
          <p:cNvPr id="7" name="Text 4"/>
          <p:cNvSpPr/>
          <p:nvPr/>
        </p:nvSpPr>
        <p:spPr>
          <a:xfrm>
            <a:off x="8280400" y="2191941"/>
            <a:ext cx="29824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OLED, ENS160, AHT21 diparalel ke SDA 8 &amp; SCL 9. Alamat berbeda, jadi tidak bentrok.</a:t>
            </a:r>
            <a:endParaRPr lang="en-US" sz="1200" dirty="0"/>
          </a:p>
        </p:txBody>
      </p:sp>
      <p:sp>
        <p:nvSpPr>
          <p:cNvPr id="8" name="Shape 5"/>
          <p:cNvSpPr/>
          <p:nvPr/>
        </p:nvSpPr>
        <p:spPr>
          <a:xfrm>
            <a:off x="8080375" y="3139877"/>
            <a:ext cx="3295650" cy="1294011"/>
          </a:xfrm>
          <a:prstGeom prst="roundRect">
            <a:avLst>
              <a:gd name="adj" fmla="val 7606"/>
            </a:avLst>
          </a:prstGeom>
          <a:solidFill>
            <a:srgbClr val="FFFFFF"/>
          </a:solidFill>
          <a:ln w="6350">
            <a:solidFill>
              <a:srgbClr val="DDE3E0"/>
            </a:solidFill>
            <a:prstDash val="solid"/>
          </a:ln>
        </p:spPr>
      </p:sp>
      <p:sp>
        <p:nvSpPr>
          <p:cNvPr id="9" name="Text 6"/>
          <p:cNvSpPr/>
          <p:nvPr/>
        </p:nvSpPr>
        <p:spPr>
          <a:xfrm>
            <a:off x="8286750" y="3320852"/>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4"/>
                </a:solidFill>
                <a:latin typeface="IBM Plex Sans" pitchFamily="34" charset="0"/>
                <a:ea typeface="IBM Plex Sans" pitchFamily="34" charset="-122"/>
                <a:cs typeface="IBM Plex Sans" pitchFamily="34" charset="-120"/>
              </a:rPr>
              <a:t>GND bersama</a:t>
            </a:r>
            <a:endParaRPr lang="en-US" sz="1500" dirty="0"/>
          </a:p>
        </p:txBody>
      </p:sp>
      <p:sp>
        <p:nvSpPr>
          <p:cNvPr id="10" name="Text 7"/>
          <p:cNvSpPr/>
          <p:nvPr/>
        </p:nvSpPr>
        <p:spPr>
          <a:xfrm>
            <a:off x="8286750" y="3612952"/>
            <a:ext cx="29693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GND adaptor 12 V, kipas, sensor &amp; ESP32 wajib disatukan agar sinyal punya acuan yang sama.</a:t>
            </a:r>
            <a:endParaRPr lang="en-US" sz="1200" dirty="0"/>
          </a:p>
        </p:txBody>
      </p:sp>
      <p:sp>
        <p:nvSpPr>
          <p:cNvPr id="11" name="Shape 8"/>
          <p:cNvSpPr/>
          <p:nvPr/>
        </p:nvSpPr>
        <p:spPr>
          <a:xfrm>
            <a:off x="8080375" y="4567238"/>
            <a:ext cx="3295650" cy="1080691"/>
          </a:xfrm>
          <a:prstGeom prst="roundRect">
            <a:avLst>
              <a:gd name="adj" fmla="val 9108"/>
            </a:avLst>
          </a:prstGeom>
          <a:solidFill>
            <a:srgbClr val="FFFFFF"/>
          </a:solidFill>
          <a:ln w="6350">
            <a:solidFill>
              <a:srgbClr val="DDE3E0"/>
            </a:solidFill>
            <a:prstDash val="solid"/>
          </a:ln>
        </p:spPr>
      </p:sp>
      <p:sp>
        <p:nvSpPr>
          <p:cNvPr id="12" name="Text 9"/>
          <p:cNvSpPr/>
          <p:nvPr/>
        </p:nvSpPr>
        <p:spPr>
          <a:xfrm>
            <a:off x="8286750" y="4748213"/>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8530C"/>
                </a:solidFill>
                <a:latin typeface="IBM Plex Sans" pitchFamily="34" charset="0"/>
                <a:ea typeface="IBM Plex Sans" pitchFamily="34" charset="-122"/>
                <a:cs typeface="IBM Plex Sans" pitchFamily="34" charset="-120"/>
              </a:rPr>
              <a:t>Hanya 3.3 V di GPIO</a:t>
            </a:r>
            <a:endParaRPr lang="en-US" sz="1500" dirty="0"/>
          </a:p>
        </p:txBody>
      </p:sp>
      <p:sp>
        <p:nvSpPr>
          <p:cNvPr id="13" name="Text 10"/>
          <p:cNvSpPr/>
          <p:nvPr/>
        </p:nvSpPr>
        <p:spPr>
          <a:xfrm>
            <a:off x="8286750" y="5040313"/>
            <a:ext cx="296938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Jangan pernah memberi 5 V atau 12 V ke pin GPIO.</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KIPAS 4-PIN</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Empat kabel, empat tugas</a:t>
            </a:r>
            <a:endParaRPr lang="en-US" sz="3200" dirty="0"/>
          </a:p>
        </p:txBody>
      </p:sp>
      <p:sp>
        <p:nvSpPr>
          <p:cNvPr id="4" name="Text 2"/>
          <p:cNvSpPr/>
          <p:nvPr/>
        </p:nvSpPr>
        <p:spPr>
          <a:xfrm>
            <a:off x="812800" y="1733451"/>
            <a:ext cx="457200" cy="457200"/>
          </a:xfrm>
          <a:prstGeom prst="roundRect">
            <a:avLst>
              <a:gd name="adj" fmla="val 16667"/>
            </a:avLst>
          </a:prstGeom>
          <a:solidFill>
            <a:srgbClr val="20262B"/>
          </a:solidFill>
          <a:ln/>
        </p:spPr>
        <p:txBody>
          <a:bodyPr wrap="square" lIns="0" tIns="0" rIns="0" bIns="0" rtlCol="0" anchor="ctr">
            <a:normAutofit/>
          </a:bodyPr>
          <a:lstStyle/>
          <a:p>
            <a:pPr algn="ctr" indent="0" marL="0">
              <a:lnSpc>
                <a:spcPts val="2240"/>
              </a:lnSpc>
              <a:buNone/>
            </a:pPr>
            <a:r>
              <a:rPr lang="en-US" sz="1600" b="1" dirty="0">
                <a:solidFill>
                  <a:srgbClr val="F4F6F3"/>
                </a:solidFill>
                <a:latin typeface="IBM Plex Sans" pitchFamily="34" charset="0"/>
                <a:ea typeface="IBM Plex Sans" pitchFamily="34" charset="-122"/>
                <a:cs typeface="IBM Plex Sans" pitchFamily="34" charset="-120"/>
              </a:rPr>
              <a:t>1</a:t>
            </a:r>
            <a:endParaRPr lang="en-US" sz="1600" dirty="0"/>
          </a:p>
        </p:txBody>
      </p:sp>
      <p:sp>
        <p:nvSpPr>
          <p:cNvPr id="5" name="Text 3"/>
          <p:cNvSpPr/>
          <p:nvPr/>
        </p:nvSpPr>
        <p:spPr>
          <a:xfrm>
            <a:off x="1397000" y="172204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A33"/>
                </a:solidFill>
                <a:latin typeface="IBM Plex Sans" pitchFamily="34" charset="0"/>
                <a:ea typeface="IBM Plex Sans" pitchFamily="34" charset="-122"/>
                <a:cs typeface="IBM Plex Sans" pitchFamily="34" charset="-120"/>
              </a:rPr>
              <a:t>GND</a:t>
            </a:r>
            <a:endParaRPr lang="en-US" sz="1500" dirty="0"/>
          </a:p>
        </p:txBody>
      </p:sp>
      <p:sp>
        <p:nvSpPr>
          <p:cNvPr id="6" name="Text 4"/>
          <p:cNvSpPr/>
          <p:nvPr/>
        </p:nvSpPr>
        <p:spPr>
          <a:xfrm>
            <a:off x="1397000" y="19887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kabel hitam</a:t>
            </a:r>
            <a:endParaRPr lang="en-US" sz="1200" dirty="0"/>
          </a:p>
        </p:txBody>
      </p:sp>
      <p:pic>
        <p:nvPicPr>
          <p:cNvPr id="7" name="Image 0" descr="connector">    </p:cNvPr>
          <p:cNvPicPr>
            <a:picLocks noChangeAspect="1"/>
          </p:cNvPicPr>
          <p:nvPr/>
        </p:nvPicPr>
        <p:blipFill>
          <a:blip r:embed="rId1"/>
          <a:srcRect l="0" r="0" t="0" b="0"/>
          <a:stretch/>
        </p:blipFill>
        <p:spPr>
          <a:xfrm>
            <a:off x="3429000" y="1911251"/>
            <a:ext cx="457200" cy="101600"/>
          </a:xfrm>
          <a:prstGeom prst="rect">
            <a:avLst/>
          </a:prstGeom>
        </p:spPr>
      </p:pic>
      <p:sp>
        <p:nvSpPr>
          <p:cNvPr id="8" name="Text 5"/>
          <p:cNvSpPr/>
          <p:nvPr/>
        </p:nvSpPr>
        <p:spPr>
          <a:xfrm>
            <a:off x="4016375" y="1732855"/>
            <a:ext cx="4210050" cy="458391"/>
          </a:xfrm>
          <a:prstGeom prst="roundRect">
            <a:avLst>
              <a:gd name="adj" fmla="val 18701"/>
            </a:avLst>
          </a:prstGeom>
          <a:solidFill>
            <a:srgbClr val="FFFFFF"/>
          </a:solidFill>
          <a:ln w="6350">
            <a:solidFill>
              <a:srgbClr val="DDE3E0"/>
            </a:solidFill>
            <a:prstDash val="solid"/>
          </a:ln>
        </p:spPr>
        <p:txBody>
          <a:bodyPr wrap="square" lIns="130467" tIns="79667" rIns="13500" bIns="54267" rtlCol="0" anchor="t">
            <a:normAutofit/>
          </a:bodyPr>
          <a:lstStyle/>
          <a:p>
            <a:pPr algn="l"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GND bersama (adaptor + ESP32)</a:t>
            </a:r>
            <a:endParaRPr lang="en-US" sz="1400" dirty="0"/>
          </a:p>
        </p:txBody>
      </p:sp>
      <p:sp>
        <p:nvSpPr>
          <p:cNvPr id="9" name="Text 6"/>
          <p:cNvSpPr/>
          <p:nvPr/>
        </p:nvSpPr>
        <p:spPr>
          <a:xfrm>
            <a:off x="812800" y="2315071"/>
            <a:ext cx="457200" cy="457200"/>
          </a:xfrm>
          <a:prstGeom prst="roundRect">
            <a:avLst>
              <a:gd name="adj" fmla="val 16667"/>
            </a:avLst>
          </a:prstGeom>
          <a:solidFill>
            <a:srgbClr val="E8C547"/>
          </a:solidFill>
          <a:ln/>
        </p:spPr>
        <p:txBody>
          <a:bodyPr wrap="square" lIns="0" tIns="0" rIns="0" bIns="0" rtlCol="0" anchor="ctr">
            <a:normAutofit/>
          </a:bodyPr>
          <a:lstStyle/>
          <a:p>
            <a:pPr algn="ctr" indent="0" marL="0">
              <a:lnSpc>
                <a:spcPts val="2240"/>
              </a:lnSpc>
              <a:buNone/>
            </a:pPr>
            <a:r>
              <a:rPr lang="en-US" sz="1600" b="1" dirty="0">
                <a:solidFill>
                  <a:srgbClr val="20262B"/>
                </a:solidFill>
                <a:latin typeface="IBM Plex Sans" pitchFamily="34" charset="0"/>
                <a:ea typeface="IBM Plex Sans" pitchFamily="34" charset="-122"/>
                <a:cs typeface="IBM Plex Sans" pitchFamily="34" charset="-120"/>
              </a:rPr>
              <a:t>2</a:t>
            </a:r>
            <a:endParaRPr lang="en-US" sz="1600" dirty="0"/>
          </a:p>
        </p:txBody>
      </p:sp>
      <p:sp>
        <p:nvSpPr>
          <p:cNvPr id="10" name="Text 7"/>
          <p:cNvSpPr/>
          <p:nvPr/>
        </p:nvSpPr>
        <p:spPr>
          <a:xfrm>
            <a:off x="1397000" y="230366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A33"/>
                </a:solidFill>
                <a:latin typeface="IBM Plex Sans" pitchFamily="34" charset="0"/>
                <a:ea typeface="IBM Plex Sans" pitchFamily="34" charset="-122"/>
                <a:cs typeface="IBM Plex Sans" pitchFamily="34" charset="-120"/>
              </a:rPr>
              <a:t>+12 V</a:t>
            </a:r>
            <a:endParaRPr lang="en-US" sz="1500" dirty="0"/>
          </a:p>
        </p:txBody>
      </p:sp>
      <p:sp>
        <p:nvSpPr>
          <p:cNvPr id="11" name="Text 8"/>
          <p:cNvSpPr/>
          <p:nvPr/>
        </p:nvSpPr>
        <p:spPr>
          <a:xfrm>
            <a:off x="1397000" y="257036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kabel kuning / merah</a:t>
            </a:r>
            <a:endParaRPr lang="en-US" sz="1200" dirty="0"/>
          </a:p>
        </p:txBody>
      </p:sp>
      <p:pic>
        <p:nvPicPr>
          <p:cNvPr id="12" name="Image 1" descr="connector">    </p:cNvPr>
          <p:cNvPicPr>
            <a:picLocks noChangeAspect="1"/>
          </p:cNvPicPr>
          <p:nvPr/>
        </p:nvPicPr>
        <p:blipFill>
          <a:blip r:embed="rId2"/>
          <a:srcRect l="0" r="0" t="0" b="0"/>
          <a:stretch/>
        </p:blipFill>
        <p:spPr>
          <a:xfrm>
            <a:off x="3429000" y="2492871"/>
            <a:ext cx="457200" cy="101600"/>
          </a:xfrm>
          <a:prstGeom prst="rect">
            <a:avLst/>
          </a:prstGeom>
        </p:spPr>
      </p:pic>
      <p:sp>
        <p:nvSpPr>
          <p:cNvPr id="13" name="Text 9"/>
          <p:cNvSpPr/>
          <p:nvPr/>
        </p:nvSpPr>
        <p:spPr>
          <a:xfrm>
            <a:off x="4016375" y="2314476"/>
            <a:ext cx="4210050" cy="458391"/>
          </a:xfrm>
          <a:prstGeom prst="roundRect">
            <a:avLst>
              <a:gd name="adj" fmla="val 18701"/>
            </a:avLst>
          </a:prstGeom>
          <a:solidFill>
            <a:srgbClr val="FFFFFF"/>
          </a:solidFill>
          <a:ln w="6350">
            <a:solidFill>
              <a:srgbClr val="DDE3E0"/>
            </a:solidFill>
            <a:prstDash val="solid"/>
          </a:ln>
        </p:spPr>
        <p:txBody>
          <a:bodyPr wrap="square" lIns="130467" tIns="79667" rIns="13500" bIns="54267" rtlCol="0" anchor="t">
            <a:normAutofit/>
          </a:bodyPr>
          <a:lstStyle/>
          <a:p>
            <a:pPr algn="l"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NO Relay1 · COM ← +12 V adaptor</a:t>
            </a:r>
            <a:endParaRPr lang="en-US" sz="1400" dirty="0"/>
          </a:p>
        </p:txBody>
      </p:sp>
      <p:sp>
        <p:nvSpPr>
          <p:cNvPr id="14" name="Text 10"/>
          <p:cNvSpPr/>
          <p:nvPr/>
        </p:nvSpPr>
        <p:spPr>
          <a:xfrm>
            <a:off x="812800" y="2896691"/>
            <a:ext cx="457200" cy="457200"/>
          </a:xfrm>
          <a:prstGeom prst="roundRect">
            <a:avLst>
              <a:gd name="adj" fmla="val 16667"/>
            </a:avLst>
          </a:prstGeom>
          <a:solidFill>
            <a:srgbClr val="1F9D63"/>
          </a:solidFill>
          <a:ln/>
        </p:spPr>
        <p:txBody>
          <a:bodyPr wrap="square" lIns="0" tIns="0" rIns="0" bIns="0" rtlCol="0" anchor="ctr">
            <a:normAutofit/>
          </a:bodyPr>
          <a:lstStyle/>
          <a:p>
            <a:pPr algn="ctr" indent="0" marL="0">
              <a:lnSpc>
                <a:spcPts val="2240"/>
              </a:lnSpc>
              <a:buNone/>
            </a:pPr>
            <a:r>
              <a:rPr lang="en-US" sz="1600" b="1" dirty="0">
                <a:solidFill>
                  <a:srgbClr val="F4F6F3"/>
                </a:solidFill>
                <a:latin typeface="IBM Plex Sans" pitchFamily="34" charset="0"/>
                <a:ea typeface="IBM Plex Sans" pitchFamily="34" charset="-122"/>
                <a:cs typeface="IBM Plex Sans" pitchFamily="34" charset="-120"/>
              </a:rPr>
              <a:t>3</a:t>
            </a:r>
            <a:endParaRPr lang="en-US" sz="1600" dirty="0"/>
          </a:p>
        </p:txBody>
      </p:sp>
      <p:sp>
        <p:nvSpPr>
          <p:cNvPr id="15" name="Text 11"/>
          <p:cNvSpPr/>
          <p:nvPr/>
        </p:nvSpPr>
        <p:spPr>
          <a:xfrm>
            <a:off x="1397000" y="288528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A33"/>
                </a:solidFill>
                <a:latin typeface="IBM Plex Sans" pitchFamily="34" charset="0"/>
                <a:ea typeface="IBM Plex Sans" pitchFamily="34" charset="-122"/>
                <a:cs typeface="IBM Plex Sans" pitchFamily="34" charset="-120"/>
              </a:rPr>
              <a:t>TACH (sense)</a:t>
            </a:r>
            <a:endParaRPr lang="en-US" sz="1500" dirty="0"/>
          </a:p>
        </p:txBody>
      </p:sp>
      <p:sp>
        <p:nvSpPr>
          <p:cNvPr id="16" name="Text 12"/>
          <p:cNvSpPr/>
          <p:nvPr/>
        </p:nvSpPr>
        <p:spPr>
          <a:xfrm>
            <a:off x="1397000" y="31519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kabel hijau</a:t>
            </a:r>
            <a:endParaRPr lang="en-US" sz="1200" dirty="0"/>
          </a:p>
        </p:txBody>
      </p:sp>
      <p:pic>
        <p:nvPicPr>
          <p:cNvPr id="17" name="Image 2" descr="connector">    </p:cNvPr>
          <p:cNvPicPr>
            <a:picLocks noChangeAspect="1"/>
          </p:cNvPicPr>
          <p:nvPr/>
        </p:nvPicPr>
        <p:blipFill>
          <a:blip r:embed="rId3"/>
          <a:srcRect l="0" r="0" t="0" b="0"/>
          <a:stretch/>
        </p:blipFill>
        <p:spPr>
          <a:xfrm>
            <a:off x="3429000" y="3074491"/>
            <a:ext cx="457200" cy="101600"/>
          </a:xfrm>
          <a:prstGeom prst="rect">
            <a:avLst/>
          </a:prstGeom>
        </p:spPr>
      </p:pic>
      <p:sp>
        <p:nvSpPr>
          <p:cNvPr id="18" name="Text 13"/>
          <p:cNvSpPr/>
          <p:nvPr/>
        </p:nvSpPr>
        <p:spPr>
          <a:xfrm>
            <a:off x="4016375" y="2896096"/>
            <a:ext cx="4210050" cy="458391"/>
          </a:xfrm>
          <a:prstGeom prst="roundRect">
            <a:avLst>
              <a:gd name="adj" fmla="val 18701"/>
            </a:avLst>
          </a:prstGeom>
          <a:solidFill>
            <a:srgbClr val="FFFFFF"/>
          </a:solidFill>
          <a:ln w="6350">
            <a:solidFill>
              <a:srgbClr val="DDE3E0"/>
            </a:solidFill>
            <a:prstDash val="solid"/>
          </a:ln>
        </p:spPr>
        <p:txBody>
          <a:bodyPr wrap="square" lIns="130467" tIns="79667" rIns="13500" bIns="54267" rtlCol="0" anchor="t">
            <a:normAutofit/>
          </a:bodyPr>
          <a:lstStyle/>
          <a:p>
            <a:pPr algn="l"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GPIO7 + resistor 10k ke 3V3</a:t>
            </a:r>
            <a:endParaRPr lang="en-US" sz="1400" dirty="0"/>
          </a:p>
        </p:txBody>
      </p:sp>
      <p:sp>
        <p:nvSpPr>
          <p:cNvPr id="19" name="Text 14"/>
          <p:cNvSpPr/>
          <p:nvPr/>
        </p:nvSpPr>
        <p:spPr>
          <a:xfrm>
            <a:off x="812800" y="3478312"/>
            <a:ext cx="457200" cy="457200"/>
          </a:xfrm>
          <a:prstGeom prst="roundRect">
            <a:avLst>
              <a:gd name="adj" fmla="val 16667"/>
            </a:avLst>
          </a:prstGeom>
          <a:solidFill>
            <a:srgbClr val="2563EB"/>
          </a:solidFill>
          <a:ln/>
        </p:spPr>
        <p:txBody>
          <a:bodyPr wrap="square" lIns="0" tIns="0" rIns="0" bIns="0" rtlCol="0" anchor="ctr">
            <a:normAutofit/>
          </a:bodyPr>
          <a:lstStyle/>
          <a:p>
            <a:pPr algn="ctr" indent="0" marL="0">
              <a:lnSpc>
                <a:spcPts val="2240"/>
              </a:lnSpc>
              <a:buNone/>
            </a:pPr>
            <a:r>
              <a:rPr lang="en-US" sz="1600" b="1" dirty="0">
                <a:solidFill>
                  <a:srgbClr val="F4F6F3"/>
                </a:solidFill>
                <a:latin typeface="IBM Plex Sans" pitchFamily="34" charset="0"/>
                <a:ea typeface="IBM Plex Sans" pitchFamily="34" charset="-122"/>
                <a:cs typeface="IBM Plex Sans" pitchFamily="34" charset="-120"/>
              </a:rPr>
              <a:t>4</a:t>
            </a:r>
            <a:endParaRPr lang="en-US" sz="1600" dirty="0"/>
          </a:p>
        </p:txBody>
      </p:sp>
      <p:sp>
        <p:nvSpPr>
          <p:cNvPr id="20" name="Text 15"/>
          <p:cNvSpPr/>
          <p:nvPr/>
        </p:nvSpPr>
        <p:spPr>
          <a:xfrm>
            <a:off x="1397000" y="346690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A33"/>
                </a:solidFill>
                <a:latin typeface="IBM Plex Sans" pitchFamily="34" charset="0"/>
                <a:ea typeface="IBM Plex Sans" pitchFamily="34" charset="-122"/>
                <a:cs typeface="IBM Plex Sans" pitchFamily="34" charset="-120"/>
              </a:rPr>
              <a:t>PWM (control)</a:t>
            </a:r>
            <a:endParaRPr lang="en-US" sz="1500" dirty="0"/>
          </a:p>
        </p:txBody>
      </p:sp>
      <p:sp>
        <p:nvSpPr>
          <p:cNvPr id="21" name="Text 16"/>
          <p:cNvSpPr/>
          <p:nvPr/>
        </p:nvSpPr>
        <p:spPr>
          <a:xfrm>
            <a:off x="1397000" y="373360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kabel biru</a:t>
            </a:r>
            <a:endParaRPr lang="en-US" sz="1200" dirty="0"/>
          </a:p>
        </p:txBody>
      </p:sp>
      <p:pic>
        <p:nvPicPr>
          <p:cNvPr id="22" name="Image 3" descr="connector">    </p:cNvPr>
          <p:cNvPicPr>
            <a:picLocks noChangeAspect="1"/>
          </p:cNvPicPr>
          <p:nvPr/>
        </p:nvPicPr>
        <p:blipFill>
          <a:blip r:embed="rId4"/>
          <a:srcRect l="0" r="0" t="0" b="0"/>
          <a:stretch/>
        </p:blipFill>
        <p:spPr>
          <a:xfrm>
            <a:off x="3429000" y="3656112"/>
            <a:ext cx="457200" cy="101600"/>
          </a:xfrm>
          <a:prstGeom prst="rect">
            <a:avLst/>
          </a:prstGeom>
        </p:spPr>
      </p:pic>
      <p:sp>
        <p:nvSpPr>
          <p:cNvPr id="23" name="Text 17"/>
          <p:cNvSpPr/>
          <p:nvPr/>
        </p:nvSpPr>
        <p:spPr>
          <a:xfrm>
            <a:off x="4016375" y="3477716"/>
            <a:ext cx="4210050" cy="458391"/>
          </a:xfrm>
          <a:prstGeom prst="roundRect">
            <a:avLst>
              <a:gd name="adj" fmla="val 18701"/>
            </a:avLst>
          </a:prstGeom>
          <a:solidFill>
            <a:srgbClr val="FFFFFF"/>
          </a:solidFill>
          <a:ln w="6350">
            <a:solidFill>
              <a:srgbClr val="DDE3E0"/>
            </a:solidFill>
            <a:prstDash val="solid"/>
          </a:ln>
        </p:spPr>
        <p:txBody>
          <a:bodyPr wrap="square" lIns="130467" tIns="79667" rIns="13500" bIns="54267" rtlCol="0" anchor="t">
            <a:normAutofit/>
          </a:bodyPr>
          <a:lstStyle/>
          <a:p>
            <a:pPr algn="l"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GPIO5 langsung (sinyal 3.3 V)</a:t>
            </a:r>
            <a:endParaRPr lang="en-US" sz="1400" dirty="0"/>
          </a:p>
        </p:txBody>
      </p:sp>
      <p:sp>
        <p:nvSpPr>
          <p:cNvPr id="24" name="Shape 18"/>
          <p:cNvSpPr/>
          <p:nvPr/>
        </p:nvSpPr>
        <p:spPr>
          <a:xfrm>
            <a:off x="8585200" y="1722041"/>
            <a:ext cx="2794000" cy="4119959"/>
          </a:xfrm>
          <a:prstGeom prst="roundRect">
            <a:avLst>
              <a:gd name="adj" fmla="val 4545"/>
            </a:avLst>
          </a:prstGeom>
          <a:solidFill>
            <a:srgbClr val="0F1B24"/>
          </a:solidFill>
          <a:ln/>
        </p:spPr>
      </p:sp>
      <p:sp>
        <p:nvSpPr>
          <p:cNvPr id="25" name="Text 19"/>
          <p:cNvSpPr/>
          <p:nvPr/>
        </p:nvSpPr>
        <p:spPr>
          <a:xfrm>
            <a:off x="8813800" y="1950641"/>
            <a:ext cx="24069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Ingat</a:t>
            </a:r>
            <a:endParaRPr lang="en-US" sz="1600" dirty="0"/>
          </a:p>
        </p:txBody>
      </p:sp>
      <p:sp>
        <p:nvSpPr>
          <p:cNvPr id="26" name="Text 20"/>
          <p:cNvSpPr/>
          <p:nvPr/>
        </p:nvSpPr>
        <p:spPr>
          <a:xfrm>
            <a:off x="8813800" y="2321421"/>
            <a:ext cx="2406904"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DC"/>
                </a:solidFill>
                <a:latin typeface="IBM Plex Sans" pitchFamily="34" charset="0"/>
                <a:ea typeface="IBM Plex Sans" pitchFamily="34" charset="-122"/>
                <a:cs typeface="IBM Plex Sans" pitchFamily="34" charset="-120"/>
              </a:rPr>
              <a:t>Warna kabel bisa beda antar merek. Patokan pasti adalah </a:t>
            </a:r>
            <a:r>
              <a:rPr lang="en-US" sz="1300" b="1" dirty="0">
                <a:solidFill>
                  <a:srgbClr val="C9D4DC"/>
                </a:solidFill>
                <a:latin typeface="IBM Plex Sans" pitchFamily="34" charset="0"/>
                <a:ea typeface="IBM Plex Sans" pitchFamily="34" charset="-122"/>
                <a:cs typeface="IBM Plex Sans" pitchFamily="34" charset="-120"/>
              </a:rPr>
              <a:t>urutan pin</a:t>
            </a:r>
            <a:r>
              <a:rPr lang="en-US" sz="1300" dirty="0">
                <a:solidFill>
                  <a:srgbClr val="C9D4DC"/>
                </a:solidFill>
                <a:latin typeface="IBM Plex Sans" pitchFamily="34" charset="0"/>
                <a:ea typeface="IBM Plex Sans" pitchFamily="34" charset="-122"/>
                <a:cs typeface="IBM Plex Sans" pitchFamily="34" charset="-120"/>
              </a:rPr>
              <a:t>: pin 1 ditandai segitiga di konektor.</a:t>
            </a:r>
            <a:endParaRPr lang="en-US" sz="1300" dirty="0"/>
          </a:p>
        </p:txBody>
      </p:sp>
      <p:sp>
        <p:nvSpPr>
          <p:cNvPr id="27" name="Text 21"/>
          <p:cNvSpPr/>
          <p:nvPr/>
        </p:nvSpPr>
        <p:spPr>
          <a:xfrm>
            <a:off x="8813800" y="3372743"/>
            <a:ext cx="2406904"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DC"/>
                </a:solidFill>
                <a:latin typeface="IBM Plex Sans" pitchFamily="34" charset="0"/>
                <a:ea typeface="IBM Plex Sans" pitchFamily="34" charset="-122"/>
                <a:cs typeface="IBM Plex Sans" pitchFamily="34" charset="-120"/>
              </a:rPr>
              <a:t>Kipas 4-pin punya driver motor sendiri, jadi </a:t>
            </a:r>
            <a:r>
              <a:rPr lang="en-US" sz="1300" b="1" dirty="0">
                <a:solidFill>
                  <a:srgbClr val="C9D4DC"/>
                </a:solidFill>
                <a:latin typeface="IBM Plex Sans" pitchFamily="34" charset="0"/>
                <a:ea typeface="IBM Plex Sans" pitchFamily="34" charset="-122"/>
                <a:cs typeface="IBM Plex Sans" pitchFamily="34" charset="-120"/>
              </a:rPr>
              <a:t>tidak perlu MOSFET</a:t>
            </a:r>
            <a:r>
              <a:rPr lang="en-US" sz="1300" dirty="0">
                <a:solidFill>
                  <a:srgbClr val="C9D4DC"/>
                </a:solidFill>
                <a:latin typeface="IBM Plex Sans" pitchFamily="34" charset="0"/>
                <a:ea typeface="IBM Plex Sans" pitchFamily="34" charset="-122"/>
                <a:cs typeface="IBM Plex Sans" pitchFamily="34" charset="-120"/>
              </a:rPr>
              <a:t>: GPIO hanya memberi sinyal.</a:t>
            </a:r>
            <a:endParaRPr lang="en-US" sz="1300" dirty="0"/>
          </a:p>
        </p:txBody>
      </p:sp>
      <p:sp>
        <p:nvSpPr>
          <p:cNvPr id="28" name="Text 22"/>
          <p:cNvSpPr/>
          <p:nvPr/>
        </p:nvSpPr>
        <p:spPr>
          <a:xfrm>
            <a:off x="8813800" y="4424065"/>
            <a:ext cx="24069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DC"/>
                </a:solidFill>
                <a:latin typeface="IBM Plex Sans" pitchFamily="34" charset="0"/>
                <a:ea typeface="IBM Plex Sans" pitchFamily="34" charset="-122"/>
                <a:cs typeface="IBM Plex Sans" pitchFamily="34" charset="-120"/>
              </a:rPr>
              <a:t>Kipas 2/3-pin: wajib MOSFET logic-level + dioda flyback.</a:t>
            </a:r>
            <a:endParaRPr lang="en-US" sz="1300" dirty="0"/>
          </a:p>
        </p:txBody>
      </p:sp>
      <p:sp>
        <p:nvSpPr>
          <p:cNvPr id="29"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KIPAS 4-PIN</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PWM: mengatur kecepatan dengan lebar pulsa</a:t>
            </a:r>
            <a:endParaRPr lang="en-US" sz="3200" dirty="0"/>
          </a:p>
        </p:txBody>
      </p:sp>
      <p:sp>
        <p:nvSpPr>
          <p:cNvPr id="4" name="Text 2"/>
          <p:cNvSpPr/>
          <p:nvPr/>
        </p:nvSpPr>
        <p:spPr>
          <a:xfrm>
            <a:off x="812800" y="1915120"/>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5A"/>
                </a:solidFill>
                <a:latin typeface="IBM Plex Sans" pitchFamily="34" charset="0"/>
                <a:ea typeface="IBM Plex Sans" pitchFamily="34" charset="-122"/>
                <a:cs typeface="IBM Plex Sans" pitchFamily="34" charset="-120"/>
              </a:rPr>
              <a:t>25%</a:t>
            </a:r>
            <a:endParaRPr lang="en-US" sz="1400" dirty="0"/>
          </a:p>
        </p:txBody>
      </p:sp>
      <p:pic>
        <p:nvPicPr>
          <p:cNvPr id="5" name="Image 0" descr="Gelombang PWM duty 25 persen">    </p:cNvPr>
          <p:cNvPicPr>
            <a:picLocks noChangeAspect="1"/>
          </p:cNvPicPr>
          <p:nvPr/>
        </p:nvPicPr>
        <p:blipFill>
          <a:blip r:embed="rId1"/>
          <a:srcRect l="0" r="0" t="0" b="0"/>
          <a:stretch/>
        </p:blipFill>
        <p:spPr>
          <a:xfrm>
            <a:off x="1727200" y="1722041"/>
            <a:ext cx="5080000" cy="635000"/>
          </a:xfrm>
          <a:prstGeom prst="rect">
            <a:avLst/>
          </a:prstGeom>
        </p:spPr>
      </p:pic>
      <p:sp>
        <p:nvSpPr>
          <p:cNvPr id="6" name="Text 3"/>
          <p:cNvSpPr/>
          <p:nvPr/>
        </p:nvSpPr>
        <p:spPr>
          <a:xfrm>
            <a:off x="812800" y="2677120"/>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5A"/>
                </a:solidFill>
                <a:latin typeface="IBM Plex Sans" pitchFamily="34" charset="0"/>
                <a:ea typeface="IBM Plex Sans" pitchFamily="34" charset="-122"/>
                <a:cs typeface="IBM Plex Sans" pitchFamily="34" charset="-120"/>
              </a:rPr>
              <a:t>50%</a:t>
            </a:r>
            <a:endParaRPr lang="en-US" sz="1400" dirty="0"/>
          </a:p>
        </p:txBody>
      </p:sp>
      <p:pic>
        <p:nvPicPr>
          <p:cNvPr id="7" name="Image 1" descr="Gelombang PWM duty 50 persen">    </p:cNvPr>
          <p:cNvPicPr>
            <a:picLocks noChangeAspect="1"/>
          </p:cNvPicPr>
          <p:nvPr/>
        </p:nvPicPr>
        <p:blipFill>
          <a:blip r:embed="rId2"/>
          <a:srcRect l="0" r="0" t="0" b="0"/>
          <a:stretch/>
        </p:blipFill>
        <p:spPr>
          <a:xfrm>
            <a:off x="1727200" y="2484041"/>
            <a:ext cx="5080000" cy="635000"/>
          </a:xfrm>
          <a:prstGeom prst="rect">
            <a:avLst/>
          </a:prstGeom>
        </p:spPr>
      </p:pic>
      <p:sp>
        <p:nvSpPr>
          <p:cNvPr id="8" name="Text 4"/>
          <p:cNvSpPr/>
          <p:nvPr/>
        </p:nvSpPr>
        <p:spPr>
          <a:xfrm>
            <a:off x="812800" y="3439120"/>
            <a:ext cx="812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5A"/>
                </a:solidFill>
                <a:latin typeface="IBM Plex Sans" pitchFamily="34" charset="0"/>
                <a:ea typeface="IBM Plex Sans" pitchFamily="34" charset="-122"/>
                <a:cs typeface="IBM Plex Sans" pitchFamily="34" charset="-120"/>
              </a:rPr>
              <a:t>75%</a:t>
            </a:r>
            <a:endParaRPr lang="en-US" sz="1400" dirty="0"/>
          </a:p>
        </p:txBody>
      </p:sp>
      <p:pic>
        <p:nvPicPr>
          <p:cNvPr id="9" name="Image 2" descr="Gelombang PWM duty 75 persen">    </p:cNvPr>
          <p:cNvPicPr>
            <a:picLocks noChangeAspect="1"/>
          </p:cNvPicPr>
          <p:nvPr/>
        </p:nvPicPr>
        <p:blipFill>
          <a:blip r:embed="rId3"/>
          <a:srcRect l="0" r="0" t="0" b="0"/>
          <a:stretch/>
        </p:blipFill>
        <p:spPr>
          <a:xfrm>
            <a:off x="1727200" y="3246041"/>
            <a:ext cx="5080000" cy="635000"/>
          </a:xfrm>
          <a:prstGeom prst="rect">
            <a:avLst/>
          </a:prstGeom>
        </p:spPr>
      </p:pic>
      <p:sp>
        <p:nvSpPr>
          <p:cNvPr id="10" name="Text 5"/>
          <p:cNvSpPr/>
          <p:nvPr/>
        </p:nvSpPr>
        <p:spPr>
          <a:xfrm>
            <a:off x="812800" y="4008041"/>
            <a:ext cx="6409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Satu periode = 40 µs (25 kHz). Duty = waktu HIGH ÷ periode.</a:t>
            </a:r>
            <a:endParaRPr lang="en-US" sz="1200" dirty="0"/>
          </a:p>
        </p:txBody>
      </p:sp>
      <p:sp>
        <p:nvSpPr>
          <p:cNvPr id="11" name="Shape 6"/>
          <p:cNvSpPr/>
          <p:nvPr/>
        </p:nvSpPr>
        <p:spPr>
          <a:xfrm>
            <a:off x="7394575" y="1725216"/>
            <a:ext cx="3981450" cy="966391"/>
          </a:xfrm>
          <a:prstGeom prst="roundRect">
            <a:avLst>
              <a:gd name="adj" fmla="val 10185"/>
            </a:avLst>
          </a:prstGeom>
          <a:solidFill>
            <a:srgbClr val="FFFFFF"/>
          </a:solidFill>
          <a:ln w="6350">
            <a:solidFill>
              <a:srgbClr val="DDE3E0"/>
            </a:solidFill>
            <a:prstDash val="solid"/>
          </a:ln>
        </p:spPr>
      </p:sp>
      <p:sp>
        <p:nvSpPr>
          <p:cNvPr id="12" name="Text 7"/>
          <p:cNvSpPr/>
          <p:nvPr/>
        </p:nvSpPr>
        <p:spPr>
          <a:xfrm>
            <a:off x="7575550" y="1880791"/>
            <a:ext cx="37280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Kenapa 25 kHz?</a:t>
            </a:r>
            <a:endParaRPr lang="en-US" sz="1500" dirty="0"/>
          </a:p>
        </p:txBody>
      </p:sp>
      <p:sp>
        <p:nvSpPr>
          <p:cNvPr id="13" name="Text 8"/>
          <p:cNvSpPr/>
          <p:nvPr/>
        </p:nvSpPr>
        <p:spPr>
          <a:xfrm>
            <a:off x="7575550" y="2109391"/>
            <a:ext cx="37280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Standar Intel untuk kipas 4-pin, dan di atas batas pendengaran, jadi tidak berdengung.</a:t>
            </a:r>
            <a:endParaRPr lang="en-US" sz="1200" dirty="0"/>
          </a:p>
        </p:txBody>
      </p:sp>
      <p:sp>
        <p:nvSpPr>
          <p:cNvPr id="14" name="Shape 9"/>
          <p:cNvSpPr/>
          <p:nvPr/>
        </p:nvSpPr>
        <p:spPr>
          <a:xfrm>
            <a:off x="7394575" y="2824956"/>
            <a:ext cx="3981450" cy="966391"/>
          </a:xfrm>
          <a:prstGeom prst="roundRect">
            <a:avLst>
              <a:gd name="adj" fmla="val 10185"/>
            </a:avLst>
          </a:prstGeom>
          <a:solidFill>
            <a:srgbClr val="FFFFFF"/>
          </a:solidFill>
          <a:ln w="6350">
            <a:solidFill>
              <a:srgbClr val="DDE3E0"/>
            </a:solidFill>
            <a:prstDash val="solid"/>
          </a:ln>
        </p:spPr>
      </p:sp>
      <p:sp>
        <p:nvSpPr>
          <p:cNvPr id="15" name="Text 10"/>
          <p:cNvSpPr/>
          <p:nvPr/>
        </p:nvSpPr>
        <p:spPr>
          <a:xfrm>
            <a:off x="7575550" y="2980531"/>
            <a:ext cx="37280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Di kode</a:t>
            </a:r>
            <a:endParaRPr lang="en-US" sz="1500" dirty="0"/>
          </a:p>
        </p:txBody>
      </p:sp>
      <p:sp>
        <p:nvSpPr>
          <p:cNvPr id="16" name="Text 11"/>
          <p:cNvSpPr/>
          <p:nvPr/>
        </p:nvSpPr>
        <p:spPr>
          <a:xfrm>
            <a:off x="7575550" y="3209131"/>
            <a:ext cx="37280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3"/>
                </a:solidFill>
                <a:latin typeface="JetBrains Mono" pitchFamily="49" charset="0"/>
                <a:ea typeface="JetBrains Mono" pitchFamily="49" charset="-122"/>
                <a:cs typeface="JetBrains Mono" pitchFamily="49" charset="-120"/>
              </a:rPr>
              <a:t>ledcSetup(0, 25000, 10)</a:t>
            </a:r>
            <a:endParaRPr lang="en-US" sz="1200" dirty="0"/>
          </a:p>
          <a:p>
            <a:pPr algn="l" indent="0" marL="0">
              <a:lnSpc>
                <a:spcPts val="1680"/>
              </a:lnSpc>
              <a:buNone/>
            </a:pPr>
            <a:r>
              <a:rPr lang="en-US" sz="1200" dirty="0">
                <a:solidFill>
                  <a:srgbClr val="1E2A33"/>
                </a:solidFill>
                <a:latin typeface="JetBrains Mono" pitchFamily="49" charset="0"/>
                <a:ea typeface="JetBrains Mono" pitchFamily="49" charset="-122"/>
                <a:cs typeface="JetBrains Mono" pitchFamily="49" charset="-120"/>
              </a:rPr>
              <a:t>ledcWrite(0, 0…1023)</a:t>
            </a:r>
            <a:endParaRPr lang="en-US" sz="1200" dirty="0"/>
          </a:p>
        </p:txBody>
      </p:sp>
      <p:sp>
        <p:nvSpPr>
          <p:cNvPr id="17" name="Shape 12"/>
          <p:cNvSpPr/>
          <p:nvPr/>
        </p:nvSpPr>
        <p:spPr>
          <a:xfrm>
            <a:off x="7394575" y="3924697"/>
            <a:ext cx="3981450" cy="966391"/>
          </a:xfrm>
          <a:prstGeom prst="roundRect">
            <a:avLst>
              <a:gd name="adj" fmla="val 10185"/>
            </a:avLst>
          </a:prstGeom>
          <a:solidFill>
            <a:srgbClr val="FFFFFF"/>
          </a:solidFill>
          <a:ln w="6350">
            <a:solidFill>
              <a:srgbClr val="DDE3E0"/>
            </a:solidFill>
            <a:prstDash val="solid"/>
          </a:ln>
        </p:spPr>
      </p:sp>
      <p:sp>
        <p:nvSpPr>
          <p:cNvPr id="18" name="Text 13"/>
          <p:cNvSpPr/>
          <p:nvPr/>
        </p:nvSpPr>
        <p:spPr>
          <a:xfrm>
            <a:off x="7575550" y="4080272"/>
            <a:ext cx="37280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Kick-start</a:t>
            </a:r>
            <a:endParaRPr lang="en-US" sz="1500" dirty="0"/>
          </a:p>
        </p:txBody>
      </p:sp>
      <p:sp>
        <p:nvSpPr>
          <p:cNvPr id="19" name="Text 14"/>
          <p:cNvSpPr/>
          <p:nvPr/>
        </p:nvSpPr>
        <p:spPr>
          <a:xfrm>
            <a:off x="7575550" y="4308872"/>
            <a:ext cx="37280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Dari diam, kipas didorong 100% selama 300 ms agar pasti mulai berputar.</a:t>
            </a:r>
            <a:endParaRPr lang="en-US" sz="1200" dirty="0"/>
          </a:p>
        </p:txBody>
      </p:sp>
      <p:sp>
        <p:nvSpPr>
          <p:cNvPr id="20"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KIPAS 4-PIN</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Tachometer: menghitung putaran</a:t>
            </a:r>
            <a:endParaRPr lang="en-US" sz="3200" dirty="0"/>
          </a:p>
        </p:txBody>
      </p:sp>
      <p:sp>
        <p:nvSpPr>
          <p:cNvPr id="4" name="Shape 2"/>
          <p:cNvSpPr/>
          <p:nvPr/>
        </p:nvSpPr>
        <p:spPr>
          <a:xfrm>
            <a:off x="815975" y="1725216"/>
            <a:ext cx="4819650" cy="2406650"/>
          </a:xfrm>
          <a:prstGeom prst="roundRect">
            <a:avLst>
              <a:gd name="adj" fmla="val 5145"/>
            </a:avLst>
          </a:prstGeom>
          <a:solidFill>
            <a:srgbClr val="FFFFFF"/>
          </a:solidFill>
          <a:ln w="6350">
            <a:solidFill>
              <a:srgbClr val="DDE3E0"/>
            </a:solidFill>
            <a:prstDash val="solid"/>
          </a:ln>
        </p:spPr>
      </p:sp>
      <p:sp>
        <p:nvSpPr>
          <p:cNvPr id="5" name="Text 3"/>
          <p:cNvSpPr/>
          <p:nvPr/>
        </p:nvSpPr>
        <p:spPr>
          <a:xfrm>
            <a:off x="1066800" y="1925241"/>
            <a:ext cx="1447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3V3</a:t>
            </a:r>
            <a:endParaRPr lang="en-US" sz="1300" dirty="0"/>
          </a:p>
        </p:txBody>
      </p:sp>
      <p:sp>
        <p:nvSpPr>
          <p:cNvPr id="6" name="Shape 4"/>
          <p:cNvSpPr/>
          <p:nvPr/>
        </p:nvSpPr>
        <p:spPr>
          <a:xfrm>
            <a:off x="1193800" y="2230041"/>
            <a:ext cx="25400" cy="381000"/>
          </a:xfrm>
          <a:prstGeom prst="rect">
            <a:avLst/>
          </a:prstGeom>
          <a:solidFill>
            <a:srgbClr val="1E2A33"/>
          </a:solidFill>
          <a:ln/>
        </p:spPr>
      </p:sp>
      <p:sp>
        <p:nvSpPr>
          <p:cNvPr id="7" name="Shape 5"/>
          <p:cNvSpPr/>
          <p:nvPr/>
        </p:nvSpPr>
        <p:spPr>
          <a:xfrm>
            <a:off x="1076325" y="2620566"/>
            <a:ext cx="260350" cy="552450"/>
          </a:xfrm>
          <a:prstGeom prst="roundRect">
            <a:avLst>
              <a:gd name="adj" fmla="val 10976"/>
            </a:avLst>
          </a:prstGeom>
          <a:solidFill>
            <a:srgbClr val="F4F6F3"/>
          </a:solidFill>
          <a:ln w="19050">
            <a:solidFill>
              <a:srgbClr val="1E2A33"/>
            </a:solidFill>
            <a:prstDash val="solid"/>
          </a:ln>
        </p:spPr>
      </p:sp>
      <p:sp>
        <p:nvSpPr>
          <p:cNvPr id="8" name="Text 6"/>
          <p:cNvSpPr/>
          <p:nvPr/>
        </p:nvSpPr>
        <p:spPr>
          <a:xfrm>
            <a:off x="1473200" y="2750741"/>
            <a:ext cx="1320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10 kΩ</a:t>
            </a:r>
            <a:endParaRPr lang="en-US" sz="1300" dirty="0"/>
          </a:p>
        </p:txBody>
      </p:sp>
      <p:sp>
        <p:nvSpPr>
          <p:cNvPr id="9" name="Shape 7"/>
          <p:cNvSpPr/>
          <p:nvPr/>
        </p:nvSpPr>
        <p:spPr>
          <a:xfrm>
            <a:off x="1193800" y="3182541"/>
            <a:ext cx="25400" cy="381000"/>
          </a:xfrm>
          <a:prstGeom prst="rect">
            <a:avLst/>
          </a:prstGeom>
          <a:solidFill>
            <a:srgbClr val="1E2A33"/>
          </a:solidFill>
          <a:ln/>
        </p:spPr>
      </p:sp>
      <p:sp>
        <p:nvSpPr>
          <p:cNvPr id="10" name="Shape 8"/>
          <p:cNvSpPr/>
          <p:nvPr/>
        </p:nvSpPr>
        <p:spPr>
          <a:xfrm>
            <a:off x="1193800" y="3550841"/>
            <a:ext cx="3556000" cy="25400"/>
          </a:xfrm>
          <a:prstGeom prst="rect">
            <a:avLst/>
          </a:prstGeom>
          <a:solidFill>
            <a:srgbClr val="1F9D63"/>
          </a:solidFill>
          <a:ln/>
        </p:spPr>
      </p:sp>
      <p:sp>
        <p:nvSpPr>
          <p:cNvPr id="11" name="Shape 9"/>
          <p:cNvSpPr/>
          <p:nvPr/>
        </p:nvSpPr>
        <p:spPr>
          <a:xfrm>
            <a:off x="2717800" y="2992041"/>
            <a:ext cx="25400" cy="571500"/>
          </a:xfrm>
          <a:prstGeom prst="rect">
            <a:avLst/>
          </a:prstGeom>
          <a:solidFill>
            <a:srgbClr val="1E2A33"/>
          </a:solidFill>
          <a:ln/>
        </p:spPr>
      </p:sp>
      <p:sp>
        <p:nvSpPr>
          <p:cNvPr id="12" name="Text 10"/>
          <p:cNvSpPr/>
          <p:nvPr/>
        </p:nvSpPr>
        <p:spPr>
          <a:xfrm>
            <a:off x="2400300" y="2674541"/>
            <a:ext cx="660400" cy="330200"/>
          </a:xfrm>
          <a:prstGeom prst="roundRect">
            <a:avLst>
              <a:gd name="adj" fmla="val 19231"/>
            </a:avLst>
          </a:prstGeom>
          <a:solidFill>
            <a:srgbClr val="2563EB"/>
          </a:solidFill>
          <a:ln/>
        </p:spPr>
        <p:txBody>
          <a:bodyPr wrap="square" lIns="0" tIns="0" rIns="0" bIns="0" rtlCol="0" anchor="ctr">
            <a:normAutofit/>
          </a:bodyPr>
          <a:lstStyle/>
          <a:p>
            <a:pPr algn="ctr" indent="0" marL="0">
              <a:lnSpc>
                <a:spcPts val="1680"/>
              </a:lnSpc>
              <a:buNone/>
            </a:pPr>
            <a:r>
              <a:rPr lang="en-US" sz="1200" b="1" dirty="0">
                <a:solidFill>
                  <a:srgbClr val="F4F6F3"/>
                </a:solidFill>
                <a:latin typeface="IBM Plex Sans" pitchFamily="34" charset="0"/>
                <a:ea typeface="IBM Plex Sans" pitchFamily="34" charset="-122"/>
                <a:cs typeface="IBM Plex Sans" pitchFamily="34" charset="-120"/>
              </a:rPr>
              <a:t>GPIO7</a:t>
            </a:r>
            <a:endParaRPr lang="en-US" sz="1200" dirty="0"/>
          </a:p>
        </p:txBody>
      </p:sp>
      <p:sp>
        <p:nvSpPr>
          <p:cNvPr id="13" name="Text 11"/>
          <p:cNvSpPr/>
          <p:nvPr/>
        </p:nvSpPr>
        <p:spPr>
          <a:xfrm>
            <a:off x="4749800" y="3246041"/>
            <a:ext cx="698500" cy="635000"/>
          </a:xfrm>
          <a:prstGeom prst="roundRect">
            <a:avLst>
              <a:gd name="adj" fmla="val 12000"/>
            </a:avLst>
          </a:prstGeom>
          <a:solidFill>
            <a:srgbClr val="20262B"/>
          </a:solidFill>
          <a:ln/>
        </p:spPr>
        <p:txBody>
          <a:bodyPr wrap="square" lIns="0" tIns="0" rIns="0" bIns="0" rtlCol="0" anchor="ctr">
            <a:normAutofit/>
          </a:bodyPr>
          <a:lstStyle/>
          <a:p>
            <a:pPr algn="ctr" indent="0" marL="0">
              <a:lnSpc>
                <a:spcPts val="1680"/>
              </a:lnSpc>
              <a:buNone/>
            </a:pPr>
            <a:r>
              <a:rPr lang="en-US" sz="1200" b="1" dirty="0">
                <a:solidFill>
                  <a:srgbClr val="F4F6F3"/>
                </a:solidFill>
                <a:latin typeface="IBM Plex Sans" pitchFamily="34" charset="0"/>
                <a:ea typeface="IBM Plex Sans" pitchFamily="34" charset="-122"/>
                <a:cs typeface="IBM Plex Sans" pitchFamily="34" charset="-120"/>
              </a:rPr>
              <a:t>TACH</a:t>
            </a:r>
            <a:endParaRPr lang="en-US" sz="1200" dirty="0"/>
          </a:p>
        </p:txBody>
      </p:sp>
      <p:sp>
        <p:nvSpPr>
          <p:cNvPr id="14" name="Text 12"/>
          <p:cNvSpPr/>
          <p:nvPr/>
        </p:nvSpPr>
        <p:spPr>
          <a:xfrm>
            <a:off x="3352800" y="369054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pin 3 kipas</a:t>
            </a:r>
            <a:endParaRPr lang="en-US" sz="1200" dirty="0"/>
          </a:p>
        </p:txBody>
      </p:sp>
      <p:sp>
        <p:nvSpPr>
          <p:cNvPr id="15" name="Text 13"/>
          <p:cNvSpPr/>
          <p:nvPr/>
        </p:nvSpPr>
        <p:spPr>
          <a:xfrm>
            <a:off x="812800" y="4287441"/>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Kipas menarik TACH ke GND 2× tiap putaran (open-collector). Resistor menariknya kembali ke 3.3 V, sehingga GPIO melihat pulsa kotak.</a:t>
            </a:r>
            <a:endParaRPr lang="en-US" sz="1200" dirty="0"/>
          </a:p>
        </p:txBody>
      </p:sp>
      <p:sp>
        <p:nvSpPr>
          <p:cNvPr id="16" name="Shape 14"/>
          <p:cNvSpPr/>
          <p:nvPr/>
        </p:nvSpPr>
        <p:spPr>
          <a:xfrm>
            <a:off x="5994400" y="1722041"/>
            <a:ext cx="5384800" cy="1328341"/>
          </a:xfrm>
          <a:prstGeom prst="roundRect">
            <a:avLst>
              <a:gd name="adj" fmla="val 9561"/>
            </a:avLst>
          </a:prstGeom>
          <a:solidFill>
            <a:srgbClr val="0F1B24"/>
          </a:solidFill>
          <a:ln/>
        </p:spPr>
      </p:sp>
      <p:sp>
        <p:nvSpPr>
          <p:cNvPr id="17" name="Text 15"/>
          <p:cNvSpPr/>
          <p:nvPr/>
        </p:nvSpPr>
        <p:spPr>
          <a:xfrm>
            <a:off x="6197600" y="19252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RUMUS (tiap 1 detik)</a:t>
            </a:r>
            <a:endParaRPr lang="en-US" sz="1200" dirty="0"/>
          </a:p>
        </p:txBody>
      </p:sp>
      <p:sp>
        <p:nvSpPr>
          <p:cNvPr id="18" name="Text 16"/>
          <p:cNvSpPr/>
          <p:nvPr/>
        </p:nvSpPr>
        <p:spPr>
          <a:xfrm>
            <a:off x="6197600" y="2227461"/>
            <a:ext cx="512775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4F6F3"/>
                </a:solidFill>
                <a:latin typeface="IBM Plex Sans" pitchFamily="34" charset="0"/>
                <a:ea typeface="IBM Plex Sans" pitchFamily="34" charset="-122"/>
                <a:cs typeface="IBM Plex Sans" pitchFamily="34" charset="-120"/>
              </a:rPr>
              <a:t>rpm = pulsa × 60 ÷ (2 × detik)</a:t>
            </a:r>
            <a:endParaRPr lang="en-US" sz="2000" dirty="0"/>
          </a:p>
        </p:txBody>
      </p:sp>
      <p:sp>
        <p:nvSpPr>
          <p:cNvPr id="19" name="Text 17"/>
          <p:cNvSpPr/>
          <p:nvPr/>
        </p:nvSpPr>
        <p:spPr>
          <a:xfrm>
            <a:off x="6197600" y="2633861"/>
            <a:ext cx="5127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Contoh: 48 pulsa dalam 1 s → 48 × 60 ÷ 2 = 1440 rpm</a:t>
            </a:r>
            <a:endParaRPr lang="en-US" sz="1200" dirty="0"/>
          </a:p>
        </p:txBody>
      </p:sp>
      <p:sp>
        <p:nvSpPr>
          <p:cNvPr id="20" name="Shape 18"/>
          <p:cNvSpPr/>
          <p:nvPr/>
        </p:nvSpPr>
        <p:spPr>
          <a:xfrm>
            <a:off x="5997575" y="3180556"/>
            <a:ext cx="5378450" cy="753070"/>
          </a:xfrm>
          <a:prstGeom prst="roundRect">
            <a:avLst>
              <a:gd name="adj" fmla="val 13070"/>
            </a:avLst>
          </a:prstGeom>
          <a:solidFill>
            <a:srgbClr val="FFFFFF"/>
          </a:solidFill>
          <a:ln w="6350">
            <a:solidFill>
              <a:srgbClr val="DDE3E0"/>
            </a:solidFill>
            <a:prstDash val="solid"/>
          </a:ln>
        </p:spPr>
      </p:sp>
      <p:sp>
        <p:nvSpPr>
          <p:cNvPr id="21" name="Text 19"/>
          <p:cNvSpPr/>
          <p:nvPr/>
        </p:nvSpPr>
        <p:spPr>
          <a:xfrm>
            <a:off x="6178550" y="3336131"/>
            <a:ext cx="51669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Filter glitch</a:t>
            </a:r>
            <a:endParaRPr lang="en-US" sz="1500" dirty="0"/>
          </a:p>
        </p:txBody>
      </p:sp>
      <p:sp>
        <p:nvSpPr>
          <p:cNvPr id="22" name="Text 20"/>
          <p:cNvSpPr/>
          <p:nvPr/>
        </p:nvSpPr>
        <p:spPr>
          <a:xfrm>
            <a:off x="6178550" y="356473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Interrupt sisi turun; pulsa yang jaraknya &lt; 2 ms diabaikan (noise PWM).</a:t>
            </a:r>
            <a:endParaRPr lang="en-US" sz="1200" dirty="0"/>
          </a:p>
        </p:txBody>
      </p:sp>
      <p:sp>
        <p:nvSpPr>
          <p:cNvPr id="23" name="Shape 21"/>
          <p:cNvSpPr/>
          <p:nvPr/>
        </p:nvSpPr>
        <p:spPr>
          <a:xfrm>
            <a:off x="5997575" y="4066977"/>
            <a:ext cx="5378450" cy="966391"/>
          </a:xfrm>
          <a:prstGeom prst="roundRect">
            <a:avLst>
              <a:gd name="adj" fmla="val 10185"/>
            </a:avLst>
          </a:prstGeom>
          <a:solidFill>
            <a:srgbClr val="FFFFFF"/>
          </a:solidFill>
          <a:ln w="6350">
            <a:solidFill>
              <a:srgbClr val="DDE3E0"/>
            </a:solidFill>
            <a:prstDash val="solid"/>
          </a:ln>
        </p:spPr>
      </p:sp>
      <p:sp>
        <p:nvSpPr>
          <p:cNvPr id="24" name="Text 22"/>
          <p:cNvSpPr/>
          <p:nvPr/>
        </p:nvSpPr>
        <p:spPr>
          <a:xfrm>
            <a:off x="6178550" y="4222552"/>
            <a:ext cx="51669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8530C"/>
                </a:solidFill>
                <a:latin typeface="IBM Plex Sans" pitchFamily="34" charset="0"/>
                <a:ea typeface="IBM Plex Sans" pitchFamily="34" charset="-122"/>
                <a:cs typeface="IBM Plex Sans" pitchFamily="34" charset="-120"/>
              </a:rPr>
              <a:t>Deteksi macet</a:t>
            </a:r>
            <a:endParaRPr lang="en-US" sz="1500" dirty="0"/>
          </a:p>
        </p:txBody>
      </p:sp>
      <p:sp>
        <p:nvSpPr>
          <p:cNvPr id="25" name="Text 23"/>
          <p:cNvSpPr/>
          <p:nvPr/>
        </p:nvSpPr>
        <p:spPr>
          <a:xfrm>
            <a:off x="6178550" y="4451152"/>
            <a:ext cx="51669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Relay ON, duty ≥ 20% tapi rpm 0 selama 3 s → “MACET” di OLED, web &amp; LED.</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KIPAS 4-PIN</a:t>
            </a:r>
            <a:endParaRPr lang="en-US" sz="1200" dirty="0"/>
          </a:p>
        </p:txBody>
      </p:sp>
      <p:sp>
        <p:nvSpPr>
          <p:cNvPr id="3" name="Text 1"/>
          <p:cNvSpPr/>
          <p:nvPr>
            <p:ph type="title"/>
          </p:nvPr>
        </p:nvSpPr>
        <p:spPr>
          <a:xfrm>
            <a:off x="812800" y="100072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Relay: saklar daya untuk benar-benar mematikan kipas</a:t>
            </a:r>
            <a:endParaRPr lang="en-US" sz="3200" dirty="0"/>
          </a:p>
        </p:txBody>
      </p:sp>
      <p:sp>
        <p:nvSpPr>
          <p:cNvPr id="4" name="Shape 2"/>
          <p:cNvSpPr/>
          <p:nvPr/>
        </p:nvSpPr>
        <p:spPr>
          <a:xfrm>
            <a:off x="812800" y="1722041"/>
            <a:ext cx="4445000" cy="1432322"/>
          </a:xfrm>
          <a:prstGeom prst="roundRect">
            <a:avLst>
              <a:gd name="adj" fmla="val 8867"/>
            </a:avLst>
          </a:prstGeom>
          <a:solidFill>
            <a:srgbClr val="0F1B24"/>
          </a:solidFill>
          <a:ln/>
        </p:spPr>
      </p:sp>
      <p:sp>
        <p:nvSpPr>
          <p:cNvPr id="5" name="Text 3"/>
          <p:cNvSpPr/>
          <p:nvPr/>
        </p:nvSpPr>
        <p:spPr>
          <a:xfrm>
            <a:off x="1016000" y="1925241"/>
            <a:ext cx="415975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Masalahnya</a:t>
            </a:r>
            <a:endParaRPr lang="en-US" sz="1600" dirty="0"/>
          </a:p>
        </p:txBody>
      </p:sp>
      <p:sp>
        <p:nvSpPr>
          <p:cNvPr id="6" name="Text 4"/>
          <p:cNvSpPr/>
          <p:nvPr/>
        </p:nvSpPr>
        <p:spPr>
          <a:xfrm>
            <a:off x="1016000" y="2257921"/>
            <a:ext cx="415975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DC"/>
                </a:solidFill>
                <a:latin typeface="IBM Plex Sans" pitchFamily="34" charset="0"/>
                <a:ea typeface="IBM Plex Sans" pitchFamily="34" charset="-122"/>
                <a:cs typeface="IBM Plex Sans" pitchFamily="34" charset="-120"/>
              </a:rPr>
              <a:t>Banyak kipas 4-pin tetap berputar ±20–30% walau PWM 0%. Tanpa memutus daya, kipas tidak pernah diam.</a:t>
            </a:r>
            <a:endParaRPr lang="en-US" sz="1300" dirty="0"/>
          </a:p>
        </p:txBody>
      </p:sp>
      <p:sp>
        <p:nvSpPr>
          <p:cNvPr id="7" name="Shape 5"/>
          <p:cNvSpPr/>
          <p:nvPr/>
        </p:nvSpPr>
        <p:spPr>
          <a:xfrm>
            <a:off x="815975" y="3284538"/>
            <a:ext cx="4438650" cy="1669752"/>
          </a:xfrm>
          <a:prstGeom prst="roundRect">
            <a:avLst>
              <a:gd name="adj" fmla="val 7416"/>
            </a:avLst>
          </a:prstGeom>
          <a:solidFill>
            <a:srgbClr val="FFFFFF"/>
          </a:solidFill>
          <a:ln w="6350">
            <a:solidFill>
              <a:srgbClr val="DDE3E0"/>
            </a:solidFill>
            <a:prstDash val="solid"/>
          </a:ln>
        </p:spPr>
      </p:sp>
      <p:sp>
        <p:nvSpPr>
          <p:cNvPr id="8" name="Text 6"/>
          <p:cNvSpPr/>
          <p:nvPr/>
        </p:nvSpPr>
        <p:spPr>
          <a:xfrm>
            <a:off x="1022350" y="3490913"/>
            <a:ext cx="414667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33"/>
                </a:solidFill>
                <a:latin typeface="IBM Plex Sans" pitchFamily="34" charset="0"/>
                <a:ea typeface="IBM Plex Sans" pitchFamily="34" charset="-122"/>
                <a:cs typeface="IBM Plex Sans" pitchFamily="34" charset="-120"/>
              </a:rPr>
              <a:t>Sambungan Relay1</a:t>
            </a:r>
            <a:endParaRPr lang="en-US" sz="1600" dirty="0"/>
          </a:p>
        </p:txBody>
      </p:sp>
      <p:sp>
        <p:nvSpPr>
          <p:cNvPr id="9" name="Text 7"/>
          <p:cNvSpPr/>
          <p:nvPr/>
        </p:nvSpPr>
        <p:spPr>
          <a:xfrm>
            <a:off x="1022350" y="3823593"/>
            <a:ext cx="4146677"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+12 V adaptor → </a:t>
            </a:r>
            <a:r>
              <a:rPr lang="en-US" sz="1300" b="1" dirty="0">
                <a:solidFill>
                  <a:srgbClr val="4A5568"/>
                </a:solidFill>
                <a:latin typeface="IBM Plex Sans" pitchFamily="34" charset="0"/>
                <a:ea typeface="IBM Plex Sans" pitchFamily="34" charset="-122"/>
                <a:cs typeface="IBM Plex Sans" pitchFamily="34" charset="-120"/>
              </a:rPr>
              <a:t>COM</a:t>
            </a:r>
            <a:endParaRPr lang="en-US" sz="1300" dirty="0"/>
          </a:p>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a:t>
            </a:r>
            <a:r>
              <a:rPr lang="en-US" sz="1300" dirty="0">
                <a:solidFill>
                  <a:srgbClr val="4A5568"/>
                </a:solidFill>
                <a:latin typeface="IBM Plex Sans" pitchFamily="34" charset="0"/>
                <a:ea typeface="IBM Plex Sans" pitchFamily="34" charset="-122"/>
                <a:cs typeface="IBM Plex Sans" pitchFamily="34" charset="-120"/>
              </a:rPr>
              <a:t> → pin 2 kipas (+12 V)</a:t>
            </a:r>
            <a:endParaRPr lang="en-US" sz="1300" dirty="0"/>
          </a:p>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Koil relay dikendalikan GPIO47 (driver sudah ada di shield)</a:t>
            </a:r>
            <a:endParaRPr lang="en-US" sz="1300" dirty="0"/>
          </a:p>
        </p:txBody>
      </p:sp>
      <p:sp>
        <p:nvSpPr>
          <p:cNvPr id="10" name="Text 8"/>
          <p:cNvSpPr/>
          <p:nvPr/>
        </p:nvSpPr>
        <p:spPr>
          <a:xfrm>
            <a:off x="5562600" y="172204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JetBrains Mono" pitchFamily="49" charset="0"/>
                <a:ea typeface="JetBrains Mono" pitchFamily="49" charset="-122"/>
                <a:cs typeface="JetBrains Mono" pitchFamily="49" charset="-120"/>
              </a:rPr>
              <a:t>ALUR LOGIKA (fan_task.cpp)</a:t>
            </a:r>
            <a:endParaRPr lang="en-US" sz="1200" dirty="0"/>
          </a:p>
        </p:txBody>
      </p:sp>
      <p:sp>
        <p:nvSpPr>
          <p:cNvPr id="11" name="Shape 9"/>
          <p:cNvSpPr/>
          <p:nvPr/>
        </p:nvSpPr>
        <p:spPr>
          <a:xfrm>
            <a:off x="5565775" y="2052836"/>
            <a:ext cx="5810250" cy="722511"/>
          </a:xfrm>
          <a:prstGeom prst="roundRect">
            <a:avLst>
              <a:gd name="adj" fmla="val 10107"/>
            </a:avLst>
          </a:prstGeom>
          <a:solidFill>
            <a:srgbClr val="FFFFFF"/>
          </a:solidFill>
          <a:ln w="6350">
            <a:solidFill>
              <a:srgbClr val="DDE3E0"/>
            </a:solidFill>
            <a:prstDash val="solid"/>
          </a:ln>
        </p:spPr>
      </p:sp>
      <p:sp>
        <p:nvSpPr>
          <p:cNvPr id="12" name="Text 10"/>
          <p:cNvSpPr/>
          <p:nvPr/>
        </p:nvSpPr>
        <p:spPr>
          <a:xfrm>
            <a:off x="5746750" y="2183011"/>
            <a:ext cx="56117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Duty &gt; 0%</a:t>
            </a:r>
            <a:endParaRPr lang="en-US" sz="1400" dirty="0"/>
          </a:p>
        </p:txBody>
      </p:sp>
      <p:sp>
        <p:nvSpPr>
          <p:cNvPr id="13" name="Text 11"/>
          <p:cNvSpPr/>
          <p:nvPr/>
        </p:nvSpPr>
        <p:spPr>
          <a:xfrm>
            <a:off x="5746750" y="2431852"/>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Relay ON seketika, lalu kick 100% 300 ms</a:t>
            </a:r>
            <a:endParaRPr lang="en-US" sz="1200" dirty="0"/>
          </a:p>
        </p:txBody>
      </p:sp>
      <p:sp>
        <p:nvSpPr>
          <p:cNvPr id="14" name="Shape 12"/>
          <p:cNvSpPr/>
          <p:nvPr/>
        </p:nvSpPr>
        <p:spPr>
          <a:xfrm>
            <a:off x="5565775" y="2895997"/>
            <a:ext cx="5810250" cy="722511"/>
          </a:xfrm>
          <a:prstGeom prst="roundRect">
            <a:avLst>
              <a:gd name="adj" fmla="val 10107"/>
            </a:avLst>
          </a:prstGeom>
          <a:solidFill>
            <a:srgbClr val="FFFFFF"/>
          </a:solidFill>
          <a:ln w="6350">
            <a:solidFill>
              <a:srgbClr val="DDE3E0"/>
            </a:solidFill>
            <a:prstDash val="solid"/>
          </a:ln>
        </p:spPr>
      </p:sp>
      <p:sp>
        <p:nvSpPr>
          <p:cNvPr id="15" name="Text 13"/>
          <p:cNvSpPr/>
          <p:nvPr/>
        </p:nvSpPr>
        <p:spPr>
          <a:xfrm>
            <a:off x="5746750" y="3026172"/>
            <a:ext cx="56117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Duty turun ke 0%</a:t>
            </a:r>
            <a:endParaRPr lang="en-US" sz="1400" dirty="0"/>
          </a:p>
        </p:txBody>
      </p:sp>
      <p:sp>
        <p:nvSpPr>
          <p:cNvPr id="16" name="Text 14"/>
          <p:cNvSpPr/>
          <p:nvPr/>
        </p:nvSpPr>
        <p:spPr>
          <a:xfrm>
            <a:off x="5746750" y="3275013"/>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Tunggu 5 s (FAN_RELAY_OFF_MS), relay tetap ON</a:t>
            </a:r>
            <a:endParaRPr lang="en-US" sz="1200" dirty="0"/>
          </a:p>
        </p:txBody>
      </p:sp>
      <p:sp>
        <p:nvSpPr>
          <p:cNvPr id="17" name="Shape 15"/>
          <p:cNvSpPr/>
          <p:nvPr/>
        </p:nvSpPr>
        <p:spPr>
          <a:xfrm>
            <a:off x="5565775" y="3739158"/>
            <a:ext cx="5810250" cy="722511"/>
          </a:xfrm>
          <a:prstGeom prst="roundRect">
            <a:avLst>
              <a:gd name="adj" fmla="val 10107"/>
            </a:avLst>
          </a:prstGeom>
          <a:solidFill>
            <a:srgbClr val="FFFFFF"/>
          </a:solidFill>
          <a:ln w="6350">
            <a:solidFill>
              <a:srgbClr val="DDE3E0"/>
            </a:solidFill>
            <a:prstDash val="solid"/>
          </a:ln>
        </p:spPr>
      </p:sp>
      <p:sp>
        <p:nvSpPr>
          <p:cNvPr id="18" name="Text 16"/>
          <p:cNvSpPr/>
          <p:nvPr/>
        </p:nvSpPr>
        <p:spPr>
          <a:xfrm>
            <a:off x="5746750" y="3869333"/>
            <a:ext cx="56117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0% selama 5 s</a:t>
            </a:r>
            <a:endParaRPr lang="en-US" sz="1400" dirty="0"/>
          </a:p>
        </p:txBody>
      </p:sp>
      <p:sp>
        <p:nvSpPr>
          <p:cNvPr id="19" name="Text 17"/>
          <p:cNvSpPr/>
          <p:nvPr/>
        </p:nvSpPr>
        <p:spPr>
          <a:xfrm>
            <a:off x="5746750" y="4118173"/>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Relay OFF, PWM dipaksa 0 → kipas benar-benar berhenti</a:t>
            </a:r>
            <a:endParaRPr lang="en-US" sz="1200" dirty="0"/>
          </a:p>
        </p:txBody>
      </p:sp>
      <p:sp>
        <p:nvSpPr>
          <p:cNvPr id="20" name="Text 18"/>
          <p:cNvSpPr/>
          <p:nvPr/>
        </p:nvSpPr>
        <p:spPr>
          <a:xfrm>
            <a:off x="5562600" y="4579144"/>
            <a:ext cx="59910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Jeda 5 s mencegah relay klik-klik saat duty naik-turun di sekitar 0. Relay terbalik? set </a:t>
            </a:r>
            <a:r>
              <a:rPr lang="en-US" sz="1200" b="1" dirty="0">
                <a:solidFill>
                  <a:srgbClr val="4A5568"/>
                </a:solidFill>
                <a:latin typeface="IBM Plex Sans" pitchFamily="34" charset="0"/>
                <a:ea typeface="IBM Plex Sans" pitchFamily="34" charset="-122"/>
                <a:cs typeface="IBM Plex Sans" pitchFamily="34" charset="-120"/>
              </a:rPr>
              <a:t>RELAY_ACTIVE_HIGH 0</a:t>
            </a:r>
            <a:r>
              <a:rPr lang="en-US" sz="1200" dirty="0">
                <a:solidFill>
                  <a:srgbClr val="4A5568"/>
                </a:solidFill>
                <a:latin typeface="IBM Plex Sans" pitchFamily="34" charset="0"/>
                <a:ea typeface="IBM Plex Sans" pitchFamily="34" charset="-122"/>
                <a:cs typeface="IBM Plex Sans" pitchFamily="34" charset="-120"/>
              </a:rPr>
              <a:t>.</a:t>
            </a:r>
            <a:endParaRPr lang="en-US" sz="12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SENSOR</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Cara sensor dibaca</a:t>
            </a:r>
            <a:endParaRPr lang="en-US" sz="3200" dirty="0"/>
          </a:p>
        </p:txBody>
      </p:sp>
      <p:sp>
        <p:nvSpPr>
          <p:cNvPr id="4" name="Shape 2"/>
          <p:cNvSpPr/>
          <p:nvPr/>
        </p:nvSpPr>
        <p:spPr>
          <a:xfrm>
            <a:off x="815975" y="1725216"/>
            <a:ext cx="5175250" cy="2479873"/>
          </a:xfrm>
          <a:prstGeom prst="roundRect">
            <a:avLst>
              <a:gd name="adj" fmla="val 4993"/>
            </a:avLst>
          </a:prstGeom>
          <a:solidFill>
            <a:srgbClr val="FFFFFF"/>
          </a:solidFill>
          <a:ln w="6350">
            <a:solidFill>
              <a:srgbClr val="DDE3E0"/>
            </a:solidFill>
            <a:prstDash val="solid"/>
          </a:ln>
        </p:spPr>
      </p:sp>
      <p:sp>
        <p:nvSpPr>
          <p:cNvPr id="5" name="Text 3"/>
          <p:cNvSpPr/>
          <p:nvPr/>
        </p:nvSpPr>
        <p:spPr>
          <a:xfrm>
            <a:off x="1022350" y="193159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A33"/>
                </a:solidFill>
                <a:latin typeface="IBM Plex Sans" pitchFamily="34" charset="0"/>
                <a:ea typeface="IBM Plex Sans" pitchFamily="34" charset="-122"/>
                <a:cs typeface="IBM Plex Sans" pitchFamily="34" charset="-120"/>
              </a:rPr>
              <a:t>SDS011 · UART1 9600</a:t>
            </a:r>
            <a:endParaRPr lang="en-US" sz="1800" dirty="0"/>
          </a:p>
        </p:txBody>
      </p:sp>
      <p:sp>
        <p:nvSpPr>
          <p:cNvPr id="6" name="Text 4"/>
          <p:cNvSpPr/>
          <p:nvPr/>
        </p:nvSpPr>
        <p:spPr>
          <a:xfrm>
            <a:off x="1022350" y="2307431"/>
            <a:ext cx="4762500" cy="416520"/>
          </a:xfrm>
          <a:prstGeom prst="roundRect">
            <a:avLst>
              <a:gd name="adj" fmla="val 15245"/>
            </a:avLst>
          </a:prstGeom>
          <a:solidFill>
            <a:srgbClr val="0F1B24"/>
          </a:solidFill>
          <a:ln/>
        </p:spPr>
        <p:txBody>
          <a:bodyPr wrap="square" lIns="108401" tIns="83001" rIns="0" bIns="57601"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AA C0 25L 25H 10L 10H ID ID CS AB</a:t>
            </a:r>
            <a:endParaRPr lang="en-US" sz="1200" dirty="0"/>
          </a:p>
        </p:txBody>
      </p:sp>
      <p:sp>
        <p:nvSpPr>
          <p:cNvPr id="7" name="Text 5"/>
          <p:cNvSpPr/>
          <p:nvPr/>
        </p:nvSpPr>
        <p:spPr>
          <a:xfrm>
            <a:off x="1022350" y="2825552"/>
            <a:ext cx="49053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PM = (H × 256 + L) ÷ 10 µg/m³</a:t>
            </a:r>
            <a:endParaRPr lang="en-US" sz="1300" dirty="0"/>
          </a:p>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CS = jumlah byte data &amp; 0xFF</a:t>
            </a:r>
            <a:endParaRPr lang="en-US" sz="1300" dirty="0"/>
          </a:p>
        </p:txBody>
      </p:sp>
      <p:sp>
        <p:nvSpPr>
          <p:cNvPr id="8" name="Text 6"/>
          <p:cNvSpPr/>
          <p:nvPr/>
        </p:nvSpPr>
        <p:spPr>
          <a:xfrm>
            <a:off x="1022350" y="3389313"/>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Rata-rata bergerak 5 sampel → nilai stabil untuk kipas</a:t>
            </a:r>
            <a:endParaRPr lang="en-US" sz="1300" dirty="0"/>
          </a:p>
        </p:txBody>
      </p:sp>
      <p:sp>
        <p:nvSpPr>
          <p:cNvPr id="9" name="Text 7"/>
          <p:cNvSpPr/>
          <p:nvPr/>
        </p:nvSpPr>
        <p:spPr>
          <a:xfrm>
            <a:off x="1022350" y="3721993"/>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Tanpa frame 5 s → “sensor error”, kipas ke duty aman 50%</a:t>
            </a:r>
            <a:endParaRPr lang="en-US" sz="1300" dirty="0"/>
          </a:p>
        </p:txBody>
      </p:sp>
      <p:sp>
        <p:nvSpPr>
          <p:cNvPr id="10" name="Shape 8"/>
          <p:cNvSpPr/>
          <p:nvPr/>
        </p:nvSpPr>
        <p:spPr>
          <a:xfrm>
            <a:off x="6200775" y="1725216"/>
            <a:ext cx="5175250" cy="2479873"/>
          </a:xfrm>
          <a:prstGeom prst="roundRect">
            <a:avLst>
              <a:gd name="adj" fmla="val 4993"/>
            </a:avLst>
          </a:prstGeom>
          <a:solidFill>
            <a:srgbClr val="FFFFFF"/>
          </a:solidFill>
          <a:ln w="6350">
            <a:solidFill>
              <a:srgbClr val="DDE3E0"/>
            </a:solidFill>
            <a:prstDash val="solid"/>
          </a:ln>
        </p:spPr>
      </p:sp>
      <p:sp>
        <p:nvSpPr>
          <p:cNvPr id="11" name="Text 9"/>
          <p:cNvSpPr/>
          <p:nvPr/>
        </p:nvSpPr>
        <p:spPr>
          <a:xfrm>
            <a:off x="6407150" y="193159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A33"/>
                </a:solidFill>
                <a:latin typeface="IBM Plex Sans" pitchFamily="34" charset="0"/>
                <a:ea typeface="IBM Plex Sans" pitchFamily="34" charset="-122"/>
                <a:cs typeface="IBM Plex Sans" pitchFamily="34" charset="-120"/>
              </a:rPr>
              <a:t>ENS160 + AHT21 · I2C</a:t>
            </a:r>
            <a:endParaRPr lang="en-US" sz="1800" dirty="0"/>
          </a:p>
        </p:txBody>
      </p:sp>
      <p:sp>
        <p:nvSpPr>
          <p:cNvPr id="12" name="Text 10"/>
          <p:cNvSpPr/>
          <p:nvPr/>
        </p:nvSpPr>
        <p:spPr>
          <a:xfrm>
            <a:off x="6407150" y="2307431"/>
            <a:ext cx="49053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AHT21 → suhu &amp; RH tiap 1 s, dikirim ke ENS160 sebagai kompensasi</a:t>
            </a:r>
            <a:endParaRPr lang="en-US" sz="1300" dirty="0"/>
          </a:p>
        </p:txBody>
      </p:sp>
      <p:sp>
        <p:nvSpPr>
          <p:cNvPr id="13" name="Text 11"/>
          <p:cNvSpPr/>
          <p:nvPr/>
        </p:nvSpPr>
        <p:spPr>
          <a:xfrm>
            <a:off x="6407150" y="2871192"/>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ENS160 → eCO₂ (ppm), TVOC (ppb), AQI 1–5</a:t>
            </a:r>
            <a:endParaRPr lang="en-US" sz="1300" dirty="0"/>
          </a:p>
        </p:txBody>
      </p:sp>
      <p:sp>
        <p:nvSpPr>
          <p:cNvPr id="14" name="Text 12"/>
          <p:cNvSpPr/>
          <p:nvPr/>
        </p:nvSpPr>
        <p:spPr>
          <a:xfrm>
            <a:off x="6407150" y="3203873"/>
            <a:ext cx="49053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Pemanasan ±3 menit tiap dinyalakan; 1 jam pertama nilai belum stabil</a:t>
            </a:r>
            <a:endParaRPr lang="en-US" sz="1300" dirty="0"/>
          </a:p>
        </p:txBody>
      </p:sp>
      <p:sp>
        <p:nvSpPr>
          <p:cNvPr id="15" name="Text 13"/>
          <p:cNvSpPr/>
          <p:nvPr/>
        </p:nvSpPr>
        <p:spPr>
          <a:xfrm>
            <a:off x="6407150" y="3767634"/>
            <a:ext cx="490537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30C"/>
                </a:solidFill>
                <a:latin typeface="IBM Plex Sans" pitchFamily="34" charset="0"/>
                <a:ea typeface="IBM Plex Sans" pitchFamily="34" charset="-122"/>
                <a:cs typeface="IBM Plex Sans" pitchFamily="34" charset="-120"/>
              </a:rPr>
              <a:t>eCO₂ = estimasi dari gas VOC, bukan CO₂ terukur (NDIR)</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02 · SENSOR</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Kategori, kecepatan kipas &amp; warna LED</a:t>
            </a:r>
            <a:endParaRPr lang="en-US" sz="3200" dirty="0"/>
          </a:p>
        </p:txBody>
      </p:sp>
      <p:sp>
        <p:nvSpPr>
          <p:cNvPr id="4" name="Text 2"/>
          <p:cNvSpPr/>
          <p:nvPr/>
        </p:nvSpPr>
        <p:spPr>
          <a:xfrm>
            <a:off x="812800" y="172204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JetBrains Mono" pitchFamily="49" charset="0"/>
                <a:ea typeface="JetBrains Mono" pitchFamily="49" charset="-122"/>
                <a:cs typeface="JetBrains Mono" pitchFamily="49" charset="-120"/>
              </a:rPr>
              <a:t>PM2.5 → KIPAS (mode Otomatis)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049661"/>
          <a:ext cx="5143500" cy="1929805"/>
        </p:xfrm>
        <a:graphic>
          <a:graphicData uri="http://schemas.openxmlformats.org/drawingml/2006/table">
            <a:tbl>
              <a:tblPr/>
              <a:tblGrid>
                <a:gridCol w="2057400"/>
                <a:gridCol w="1954530"/>
                <a:gridCol w="1131570"/>
              </a:tblGrid>
              <a:tr h="385961">
                <a:tc>
                  <a:txBody>
                    <a:bodyPr/>
                    <a:lstStyle/>
                    <a:p>
                      <a:pPr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PM2.5 µg/m³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Kategori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Kipas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&lt; 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Aman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15 – 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Cenderung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20 – 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Bahaya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Sgt bahaya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bl>
          </a:graphicData>
        </a:graphic>
      </p:graphicFrame>
      <p:sp>
        <p:nvSpPr>
          <p:cNvPr id="6" name="Text 3"/>
          <p:cNvSpPr/>
          <p:nvPr/>
        </p:nvSpPr>
        <p:spPr>
          <a:xfrm>
            <a:off x="812800" y="4081066"/>
            <a:ext cx="53108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Histeresis 1 µg/m³: kategori turun hanya jika PM2.5 &lt; batas − 1, agar kipas tidak naik-turun.</a:t>
            </a:r>
            <a:endParaRPr lang="en-US" sz="1200" dirty="0"/>
          </a:p>
        </p:txBody>
      </p:sp>
      <p:sp>
        <p:nvSpPr>
          <p:cNvPr id="7" name="Text 4"/>
          <p:cNvSpPr/>
          <p:nvPr/>
        </p:nvSpPr>
        <p:spPr>
          <a:xfrm>
            <a:off x="6223000" y="172204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JetBrains Mono" pitchFamily="49" charset="0"/>
                <a:ea typeface="JetBrains Mono" pitchFamily="49" charset="-122"/>
                <a:cs typeface="JetBrains Mono" pitchFamily="49" charset="-120"/>
              </a:rPr>
              <a:t>eCO₂ → SARAN VENTILASI</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35700" y="2049661"/>
          <a:ext cx="5143500" cy="1929805"/>
        </p:xfrm>
        <a:graphic>
          <a:graphicData uri="http://schemas.openxmlformats.org/drawingml/2006/table">
            <a:tbl>
              <a:tblPr/>
              <a:tblGrid>
                <a:gridCol w="2057400"/>
                <a:gridCol w="3086100"/>
              </a:tblGrid>
              <a:tr h="385961">
                <a:tc>
                  <a:txBody>
                    <a:bodyPr/>
                    <a:lstStyle/>
                    <a:p>
                      <a:pPr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eCO₂ ppm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960"/>
                        </a:lnSpc>
                        <a:buNone/>
                      </a:pPr>
                      <a:r>
                        <a:rPr lang="en-US" sz="1400" b="1" dirty="0">
                          <a:solidFill>
                            <a:srgbClr val="1E2A33"/>
                          </a:solidFill>
                          <a:latin typeface="IBM Plex Sans" pitchFamily="34" charset="0"/>
                          <a:ea typeface="IBM Plex Sans" pitchFamily="34" charset="-122"/>
                          <a:cs typeface="IBM Plex Sans" pitchFamily="34" charset="-120"/>
                        </a:rPr>
                        <a:t>Arti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&lt; 800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Baik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800 – 1000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Sedang, pertimbangkan ventilasi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1000 – 1500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Buruk, buka jendela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 1500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960"/>
                        </a:lnSpc>
                        <a:buNone/>
                      </a:pPr>
                      <a:r>
                        <a:rPr lang="en-US" sz="1400" dirty="0">
                          <a:solidFill>
                            <a:srgbClr val="1E2A33"/>
                          </a:solidFill>
                          <a:latin typeface="IBM Plex Sans" pitchFamily="34" charset="0"/>
                          <a:ea typeface="IBM Plex Sans" pitchFamily="34" charset="-122"/>
                          <a:cs typeface="IBM Plex Sans" pitchFamily="34" charset="-120"/>
                        </a:rPr>
                        <a:t>Sangat buruk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bl>
          </a:graphicData>
        </a:graphic>
      </p:graphicFrame>
      <p:sp>
        <p:nvSpPr>
          <p:cNvPr id="9" name="Text 5"/>
          <p:cNvSpPr/>
          <p:nvPr/>
        </p:nvSpPr>
        <p:spPr>
          <a:xfrm>
            <a:off x="6223000" y="4081066"/>
            <a:ext cx="53108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LED RGB memakai level terburuk dari keduanya. eCO₂ tidak mengubah kipas: filter tidak menyerap CO₂.</a:t>
            </a:r>
            <a:endParaRPr lang="en-US" sz="12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SOFTWARE</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PlatformIO: struktur project &amp; build</a:t>
            </a:r>
            <a:endParaRPr lang="en-US" sz="3200" dirty="0"/>
          </a:p>
        </p:txBody>
      </p:sp>
      <p:sp>
        <p:nvSpPr>
          <p:cNvPr id="4" name="Text 2"/>
          <p:cNvSpPr/>
          <p:nvPr/>
        </p:nvSpPr>
        <p:spPr>
          <a:xfrm>
            <a:off x="812800" y="1722041"/>
            <a:ext cx="4826000" cy="2531666"/>
          </a:xfrm>
          <a:prstGeom prst="roundRect">
            <a:avLst>
              <a:gd name="adj" fmla="val 5016"/>
            </a:avLst>
          </a:prstGeom>
          <a:solidFill>
            <a:srgbClr val="0F1B24"/>
          </a:solidFill>
          <a:ln/>
        </p:spPr>
        <p:txBody>
          <a:bodyPr wrap="square" lIns="191403" tIns="166003" rIns="60339" bIns="140603" rtlCol="0" anchor="t">
            <a:normAutofit/>
          </a:bodyPr>
          <a:lstStyle/>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cair-purifier/</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platformio.ini </a:t>
            </a:r>
            <a:r>
              <a:rPr lang="en-US" sz="1200" dirty="0">
                <a:solidFill>
                  <a:srgbClr val="3DD6A3"/>
                </a:solidFill>
                <a:latin typeface="JetBrains Mono" pitchFamily="49" charset="0"/>
                <a:ea typeface="JetBrains Mono" pitchFamily="49" charset="-122"/>
                <a:cs typeface="JetBrains Mono" pitchFamily="49" charset="-120"/>
              </a:rPr>
              <a:t>board, library, partisi</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include/config.h </a:t>
            </a:r>
            <a:r>
              <a:rPr lang="en-US" sz="1200" dirty="0">
                <a:solidFill>
                  <a:srgbClr val="3DD6A3"/>
                </a:solidFill>
                <a:latin typeface="JetBrains Mono" pitchFamily="49" charset="0"/>
                <a:ea typeface="JetBrains Mono" pitchFamily="49" charset="-122"/>
                <a:cs typeface="JetBrains Mono" pitchFamily="49" charset="-120"/>
              </a:rPr>
              <a:t>pin &amp; default</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include/app.h </a:t>
            </a:r>
            <a:r>
              <a:rPr lang="en-US" sz="1200" dirty="0">
                <a:solidFill>
                  <a:srgbClr val="3DD6A3"/>
                </a:solidFill>
                <a:latin typeface="JetBrains Mono" pitchFamily="49" charset="0"/>
                <a:ea typeface="JetBrains Mono" pitchFamily="49" charset="-122"/>
                <a:cs typeface="JetBrains Mono" pitchFamily="49" charset="-120"/>
              </a:rPr>
              <a:t>data bersama</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src/main.cpp </a:t>
            </a:r>
            <a:r>
              <a:rPr lang="en-US" sz="1200" dirty="0">
                <a:solidFill>
                  <a:srgbClr val="3DD6A3"/>
                </a:solidFill>
                <a:latin typeface="JetBrains Mono" pitchFamily="49" charset="0"/>
                <a:ea typeface="JetBrains Mono" pitchFamily="49" charset="-122"/>
                <a:cs typeface="JetBrains Mono" pitchFamily="49" charset="-120"/>
              </a:rPr>
              <a:t>setup + buat task</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src/*_task.cpp </a:t>
            </a:r>
            <a:r>
              <a:rPr lang="en-US" sz="1200" dirty="0">
                <a:solidFill>
                  <a:srgbClr val="3DD6A3"/>
                </a:solidFill>
                <a:latin typeface="JetBrains Mono" pitchFamily="49" charset="0"/>
                <a:ea typeface="JetBrains Mono" pitchFamily="49" charset="-122"/>
                <a:cs typeface="JetBrains Mono" pitchFamily="49" charset="-120"/>
              </a:rPr>
              <a:t>1 file = 1 task</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web/index.html </a:t>
            </a:r>
            <a:r>
              <a:rPr lang="en-US" sz="1200" dirty="0">
                <a:solidFill>
                  <a:srgbClr val="3DD6A3"/>
                </a:solidFill>
                <a:latin typeface="JetBrains Mono" pitchFamily="49" charset="0"/>
                <a:ea typeface="JetBrains Mono" pitchFamily="49" charset="-122"/>
                <a:cs typeface="JetBrains Mono" pitchFamily="49" charset="-120"/>
              </a:rPr>
              <a:t>tampilan web</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tools/embed_web.py</a:t>
            </a:r>
            <a:endParaRPr lang="en-US" sz="1200" dirty="0"/>
          </a:p>
          <a:p>
            <a:pPr algn="l" indent="0" marL="0">
              <a:lnSpc>
                <a:spcPts val="1860"/>
              </a:lnSpc>
              <a:buNone/>
            </a:pPr>
            <a:r>
              <a:rPr lang="en-US" sz="1200" dirty="0">
                <a:solidFill>
                  <a:srgbClr val="C9D4DC"/>
                </a:solidFill>
                <a:latin typeface="JetBrains Mono" pitchFamily="49" charset="0"/>
                <a:ea typeface="JetBrains Mono" pitchFamily="49" charset="-122"/>
                <a:cs typeface="JetBrains Mono" pitchFamily="49" charset="-120"/>
              </a:rPr>
              <a:t>└ tools/sds011_sim.py</a:t>
            </a:r>
            <a:endParaRPr lang="en-US" sz="1200" dirty="0"/>
          </a:p>
        </p:txBody>
      </p:sp>
      <p:sp>
        <p:nvSpPr>
          <p:cNvPr id="5" name="Text 3"/>
          <p:cNvSpPr/>
          <p:nvPr/>
        </p:nvSpPr>
        <p:spPr>
          <a:xfrm>
            <a:off x="5892800" y="172204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7A5A"/>
          </a:solidFill>
          <a:ln/>
        </p:spPr>
        <p:txBody>
          <a:bodyPr wrap="square" lIns="0" tIns="0" rIns="0" bIns="0" rtlCol="0" anchor="t">
            <a:normAutofit/>
          </a:bodyPr>
          <a:lstStyle/>
          <a:p>
            <a:pPr algn="ctr" indent="0" marL="0">
              <a:lnSpc>
                <a:spcPts val="2600"/>
              </a:lnSpc>
              <a:buNone/>
            </a:pPr>
            <a:r>
              <a:rPr lang="en-US" sz="1300" b="1" dirty="0">
                <a:solidFill>
                  <a:srgbClr val="F4F6F3"/>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6350000" y="1722041"/>
            <a:ext cx="51800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Pasang VS Code + ekstensi </a:t>
            </a:r>
            <a:r>
              <a:rPr lang="en-US" sz="1300" b="1" dirty="0">
                <a:solidFill>
                  <a:srgbClr val="1E2A33"/>
                </a:solidFill>
                <a:latin typeface="IBM Plex Sans" pitchFamily="34" charset="0"/>
                <a:ea typeface="IBM Plex Sans" pitchFamily="34" charset="-122"/>
                <a:cs typeface="IBM Plex Sans" pitchFamily="34" charset="-120"/>
              </a:rPr>
              <a:t>PlatformIO IDE</a:t>
            </a:r>
            <a:r>
              <a:rPr lang="en-US" sz="1300" dirty="0">
                <a:solidFill>
                  <a:srgbClr val="1E2A33"/>
                </a:solidFill>
                <a:latin typeface="IBM Plex Sans" pitchFamily="34" charset="0"/>
                <a:ea typeface="IBM Plex Sans" pitchFamily="34" charset="-122"/>
                <a:cs typeface="IBM Plex Sans" pitchFamily="34" charset="-120"/>
              </a:rPr>
              <a:t>, buka folder project</a:t>
            </a:r>
            <a:endParaRPr lang="en-US" sz="1300" dirty="0"/>
          </a:p>
        </p:txBody>
      </p:sp>
      <p:sp>
        <p:nvSpPr>
          <p:cNvPr id="7" name="Text 5"/>
          <p:cNvSpPr/>
          <p:nvPr/>
        </p:nvSpPr>
        <p:spPr>
          <a:xfrm>
            <a:off x="5892800" y="215384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7A5A"/>
          </a:solidFill>
          <a:ln/>
        </p:spPr>
        <p:txBody>
          <a:bodyPr wrap="square" lIns="0" tIns="0" rIns="0" bIns="0" rtlCol="0" anchor="t">
            <a:normAutofit/>
          </a:bodyPr>
          <a:lstStyle/>
          <a:p>
            <a:pPr algn="ctr" indent="0" marL="0">
              <a:lnSpc>
                <a:spcPts val="2600"/>
              </a:lnSpc>
              <a:buNone/>
            </a:pPr>
            <a:r>
              <a:rPr lang="en-US" sz="1300" b="1" dirty="0">
                <a:solidFill>
                  <a:srgbClr val="F4F6F3"/>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6350000" y="2153841"/>
            <a:ext cx="51800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Build: </a:t>
            </a:r>
            <a:r>
              <a:rPr lang="en-US" sz="1300" dirty="0">
                <a:solidFill>
                  <a:srgbClr val="0B7A5A"/>
                </a:solidFill>
                <a:latin typeface="IBM Plex Sans" pitchFamily="34" charset="0"/>
                <a:ea typeface="IBM Plex Sans" pitchFamily="34" charset="-122"/>
                <a:cs typeface="IBM Plex Sans" pitchFamily="34" charset="-120"/>
              </a:rPr>
              <a:t>pio run</a:t>
            </a:r>
            <a:r>
              <a:rPr lang="en-US" sz="1300" dirty="0">
                <a:solidFill>
                  <a:srgbClr val="1E2A33"/>
                </a:solidFill>
                <a:latin typeface="IBM Plex Sans" pitchFamily="34" charset="0"/>
                <a:ea typeface="IBM Plex Sans" pitchFamily="34" charset="-122"/>
                <a:cs typeface="IBM Plex Sans" pitchFamily="34" charset="-120"/>
              </a:rPr>
              <a:t> (library diunduh otomatis)</a:t>
            </a:r>
            <a:endParaRPr lang="en-US" sz="1300" dirty="0"/>
          </a:p>
        </p:txBody>
      </p:sp>
      <p:sp>
        <p:nvSpPr>
          <p:cNvPr id="9" name="Text 7"/>
          <p:cNvSpPr/>
          <p:nvPr/>
        </p:nvSpPr>
        <p:spPr>
          <a:xfrm>
            <a:off x="5892800" y="258564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7A5A"/>
          </a:solidFill>
          <a:ln/>
        </p:spPr>
        <p:txBody>
          <a:bodyPr wrap="square" lIns="0" tIns="0" rIns="0" bIns="0" rtlCol="0" anchor="t">
            <a:normAutofit/>
          </a:bodyPr>
          <a:lstStyle/>
          <a:p>
            <a:pPr algn="ctr" indent="0" marL="0">
              <a:lnSpc>
                <a:spcPts val="2600"/>
              </a:lnSpc>
              <a:buNone/>
            </a:pPr>
            <a:r>
              <a:rPr lang="en-US" sz="1300" b="1" dirty="0">
                <a:solidFill>
                  <a:srgbClr val="F4F6F3"/>
                </a:solidFill>
                <a:latin typeface="IBM Plex Sans" pitchFamily="34" charset="0"/>
                <a:ea typeface="IBM Plex Sans" pitchFamily="34" charset="-122"/>
                <a:cs typeface="IBM Plex Sans" pitchFamily="34" charset="-120"/>
              </a:rPr>
              <a:t>3</a:t>
            </a:r>
            <a:endParaRPr lang="en-US" sz="1300" dirty="0"/>
          </a:p>
        </p:txBody>
      </p:sp>
      <p:sp>
        <p:nvSpPr>
          <p:cNvPr id="10" name="Text 8"/>
          <p:cNvSpPr/>
          <p:nvPr/>
        </p:nvSpPr>
        <p:spPr>
          <a:xfrm>
            <a:off x="6350000" y="2585641"/>
            <a:ext cx="51800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Upload: </a:t>
            </a:r>
            <a:r>
              <a:rPr lang="en-US" sz="1300" dirty="0">
                <a:solidFill>
                  <a:srgbClr val="0B7A5A"/>
                </a:solidFill>
                <a:latin typeface="IBM Plex Sans" pitchFamily="34" charset="0"/>
                <a:ea typeface="IBM Plex Sans" pitchFamily="34" charset="-122"/>
                <a:cs typeface="IBM Plex Sans" pitchFamily="34" charset="-120"/>
              </a:rPr>
              <a:t>pio run -t upload --upload-port COM5</a:t>
            </a:r>
            <a:endParaRPr lang="en-US" sz="1300" dirty="0"/>
          </a:p>
        </p:txBody>
      </p:sp>
      <p:sp>
        <p:nvSpPr>
          <p:cNvPr id="11" name="Text 9"/>
          <p:cNvSpPr/>
          <p:nvPr/>
        </p:nvSpPr>
        <p:spPr>
          <a:xfrm>
            <a:off x="5892800" y="301744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0B7A5A"/>
          </a:solidFill>
          <a:ln/>
        </p:spPr>
        <p:txBody>
          <a:bodyPr wrap="square" lIns="0" tIns="0" rIns="0" bIns="0" rtlCol="0" anchor="t">
            <a:normAutofit/>
          </a:bodyPr>
          <a:lstStyle/>
          <a:p>
            <a:pPr algn="ctr" indent="0" marL="0">
              <a:lnSpc>
                <a:spcPts val="2600"/>
              </a:lnSpc>
              <a:buNone/>
            </a:pPr>
            <a:r>
              <a:rPr lang="en-US" sz="1300" b="1" dirty="0">
                <a:solidFill>
                  <a:srgbClr val="F4F6F3"/>
                </a:solidFill>
                <a:latin typeface="IBM Plex Sans" pitchFamily="34" charset="0"/>
                <a:ea typeface="IBM Plex Sans" pitchFamily="34" charset="-122"/>
                <a:cs typeface="IBM Plex Sans" pitchFamily="34" charset="-120"/>
              </a:rPr>
              <a:t>4</a:t>
            </a:r>
            <a:endParaRPr lang="en-US" sz="1300" dirty="0"/>
          </a:p>
        </p:txBody>
      </p:sp>
      <p:sp>
        <p:nvSpPr>
          <p:cNvPr id="12" name="Text 10"/>
          <p:cNvSpPr/>
          <p:nvPr/>
        </p:nvSpPr>
        <p:spPr>
          <a:xfrm>
            <a:off x="6350000" y="3017441"/>
            <a:ext cx="51800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Monitor: </a:t>
            </a:r>
            <a:r>
              <a:rPr lang="en-US" sz="1300" dirty="0">
                <a:solidFill>
                  <a:srgbClr val="0B7A5A"/>
                </a:solidFill>
                <a:latin typeface="IBM Plex Sans" pitchFamily="34" charset="0"/>
                <a:ea typeface="IBM Plex Sans" pitchFamily="34" charset="-122"/>
                <a:cs typeface="IBM Plex Sans" pitchFamily="34" charset="-120"/>
              </a:rPr>
              <a:t>pio device monitor -p COM5</a:t>
            </a:r>
            <a:r>
              <a:rPr lang="en-US" sz="1300" dirty="0">
                <a:solidFill>
                  <a:srgbClr val="1E2A33"/>
                </a:solidFill>
                <a:latin typeface="IBM Plex Sans" pitchFamily="34" charset="0"/>
                <a:ea typeface="IBM Plex Sans" pitchFamily="34" charset="-122"/>
                <a:cs typeface="IBM Plex Sans" pitchFamily="34" charset="-120"/>
              </a:rPr>
              <a:t> (115200)</a:t>
            </a:r>
            <a:endParaRPr lang="en-US" sz="1300" dirty="0"/>
          </a:p>
        </p:txBody>
      </p:sp>
      <p:sp>
        <p:nvSpPr>
          <p:cNvPr id="13" name="Text 11"/>
          <p:cNvSpPr/>
          <p:nvPr/>
        </p:nvSpPr>
        <p:spPr>
          <a:xfrm>
            <a:off x="5895975" y="3452416"/>
            <a:ext cx="5480050" cy="661591"/>
          </a:xfrm>
          <a:prstGeom prst="roundRect">
            <a:avLst>
              <a:gd name="adj" fmla="val 11038"/>
            </a:avLst>
          </a:prstGeom>
          <a:solidFill>
            <a:srgbClr val="FFFFFF"/>
          </a:solidFill>
          <a:ln w="6350">
            <a:solidFill>
              <a:srgbClr val="DDE3E0"/>
            </a:solidFill>
            <a:prstDash val="solid"/>
          </a:ln>
        </p:spPr>
        <p:txBody>
          <a:bodyPr wrap="square" lIns="134187" tIns="96087" rIns="0" bIns="70687"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Error “No module named intelhex”</a:t>
            </a:r>
            <a:r>
              <a:rPr lang="en-US" sz="1200" dirty="0">
                <a:solidFill>
                  <a:srgbClr val="4A5568"/>
                </a:solidFill>
                <a:latin typeface="IBM Plex Sans" pitchFamily="34" charset="0"/>
                <a:ea typeface="IBM Plex Sans" pitchFamily="34" charset="-122"/>
                <a:cs typeface="IBM Plex Sans" pitchFamily="34" charset="-120"/>
              </a:rPr>
              <a:t>: jalankan</a:t>
            </a:r>
            <a:endParaRPr lang="en-US" sz="1200" dirty="0"/>
          </a:p>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…\.platformio\penv\Scripts\python -m pip install intelhex</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FREERTOS</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Tujuh task, masing-masing satu tugas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7378700" cy="2874169"/>
        </p:xfrm>
        <a:graphic>
          <a:graphicData uri="http://schemas.openxmlformats.org/drawingml/2006/table">
            <a:tbl>
              <a:tblPr/>
              <a:tblGrid>
                <a:gridCol w="1475740"/>
                <a:gridCol w="959231"/>
                <a:gridCol w="959231"/>
                <a:gridCol w="1180592"/>
                <a:gridCol w="2803906"/>
              </a:tblGrid>
              <a:tr h="359271">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Prio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Siklus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Tugas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fan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100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PWM, relay, rpm, LED, tombol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sensor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20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baca frame SDS011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env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ENS160 + AHT21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console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20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perintah &amp; log UART0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remotexy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20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app 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web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WiFi, HTTP, riwayat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59271">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display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250 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OLED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Shape 2"/>
          <p:cNvSpPr/>
          <p:nvPr/>
        </p:nvSpPr>
        <p:spPr>
          <a:xfrm>
            <a:off x="8458200" y="1722041"/>
            <a:ext cx="2921000" cy="1300361"/>
          </a:xfrm>
          <a:prstGeom prst="roundRect">
            <a:avLst>
              <a:gd name="adj" fmla="val 9767"/>
            </a:avLst>
          </a:prstGeom>
          <a:solidFill>
            <a:srgbClr val="0F1B24"/>
          </a:solidFill>
          <a:ln/>
        </p:spPr>
      </p:sp>
      <p:sp>
        <p:nvSpPr>
          <p:cNvPr id="6" name="Text 3"/>
          <p:cNvSpPr/>
          <p:nvPr/>
        </p:nvSpPr>
        <p:spPr>
          <a:xfrm>
            <a:off x="8661400" y="1899841"/>
            <a:ext cx="25900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DD6A3"/>
                </a:solidFill>
                <a:latin typeface="IBM Plex Sans" pitchFamily="34" charset="0"/>
                <a:ea typeface="IBM Plex Sans" pitchFamily="34" charset="-122"/>
                <a:cs typeface="IBM Plex Sans" pitchFamily="34" charset="-120"/>
              </a:rPr>
              <a:t>Kenapa pakai task?</a:t>
            </a:r>
            <a:endParaRPr lang="en-US" sz="1500" dirty="0"/>
          </a:p>
        </p:txBody>
      </p:sp>
      <p:sp>
        <p:nvSpPr>
          <p:cNvPr id="7" name="Text 4"/>
          <p:cNvSpPr/>
          <p:nvPr/>
        </p:nvSpPr>
        <p:spPr>
          <a:xfrm>
            <a:off x="8661400" y="2204641"/>
            <a:ext cx="259003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Tiap bagian punya loop sendiri. Web yang lambat tidak menghambat kipas.</a:t>
            </a:r>
            <a:endParaRPr lang="en-US" sz="1200" dirty="0"/>
          </a:p>
        </p:txBody>
      </p:sp>
      <p:sp>
        <p:nvSpPr>
          <p:cNvPr id="8" name="Shape 5"/>
          <p:cNvSpPr/>
          <p:nvPr/>
        </p:nvSpPr>
        <p:spPr>
          <a:xfrm>
            <a:off x="8461375" y="3152577"/>
            <a:ext cx="2914650" cy="1306711"/>
          </a:xfrm>
          <a:prstGeom prst="roundRect">
            <a:avLst>
              <a:gd name="adj" fmla="val 9476"/>
            </a:avLst>
          </a:prstGeom>
          <a:solidFill>
            <a:srgbClr val="FFFFFF"/>
          </a:solidFill>
          <a:ln w="6350">
            <a:solidFill>
              <a:srgbClr val="DDE3E0"/>
            </a:solidFill>
            <a:prstDash val="solid"/>
          </a:ln>
        </p:spPr>
      </p:sp>
      <p:sp>
        <p:nvSpPr>
          <p:cNvPr id="9" name="Text 6"/>
          <p:cNvSpPr/>
          <p:nvPr/>
        </p:nvSpPr>
        <p:spPr>
          <a:xfrm>
            <a:off x="8667750" y="3333552"/>
            <a:ext cx="25769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Prioritas</a:t>
            </a:r>
            <a:endParaRPr lang="en-US" sz="1500" dirty="0"/>
          </a:p>
        </p:txBody>
      </p:sp>
      <p:sp>
        <p:nvSpPr>
          <p:cNvPr id="10" name="Text 7"/>
          <p:cNvSpPr/>
          <p:nvPr/>
        </p:nvSpPr>
        <p:spPr>
          <a:xfrm>
            <a:off x="8667750" y="3638352"/>
            <a:ext cx="257695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Angka besar didahulukan. Kipas paling tinggi karena menyangkut keselamatan.</a:t>
            </a:r>
            <a:endParaRPr lang="en-US" sz="1200" dirty="0"/>
          </a:p>
        </p:txBody>
      </p:sp>
      <p:sp>
        <p:nvSpPr>
          <p:cNvPr id="11" name="Shape 8"/>
          <p:cNvSpPr/>
          <p:nvPr/>
        </p:nvSpPr>
        <p:spPr>
          <a:xfrm>
            <a:off x="8461375" y="4592638"/>
            <a:ext cx="2914650" cy="1093391"/>
          </a:xfrm>
          <a:prstGeom prst="roundRect">
            <a:avLst>
              <a:gd name="adj" fmla="val 11325"/>
            </a:avLst>
          </a:prstGeom>
          <a:solidFill>
            <a:srgbClr val="FFFFFF"/>
          </a:solidFill>
          <a:ln w="6350">
            <a:solidFill>
              <a:srgbClr val="DDE3E0"/>
            </a:solidFill>
            <a:prstDash val="solid"/>
          </a:ln>
        </p:spPr>
      </p:sp>
      <p:sp>
        <p:nvSpPr>
          <p:cNvPr id="12" name="Text 9"/>
          <p:cNvSpPr/>
          <p:nvPr/>
        </p:nvSpPr>
        <p:spPr>
          <a:xfrm>
            <a:off x="8667750" y="4773613"/>
            <a:ext cx="25769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vTaskDelay()</a:t>
            </a:r>
            <a:endParaRPr lang="en-US" sz="1500" dirty="0"/>
          </a:p>
        </p:txBody>
      </p:sp>
      <p:sp>
        <p:nvSpPr>
          <p:cNvPr id="13" name="Text 10"/>
          <p:cNvSpPr/>
          <p:nvPr/>
        </p:nvSpPr>
        <p:spPr>
          <a:xfrm>
            <a:off x="8667750" y="5078413"/>
            <a:ext cx="25769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Bukan delay() biasa: task tidur dan CPU dipakai task lain.</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FREERTOS</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Berbagi data dengan aman</a:t>
            </a:r>
            <a:endParaRPr lang="en-US" sz="3200" dirty="0"/>
          </a:p>
        </p:txBody>
      </p:sp>
      <p:sp>
        <p:nvSpPr>
          <p:cNvPr id="4" name="Shape 2"/>
          <p:cNvSpPr/>
          <p:nvPr/>
        </p:nvSpPr>
        <p:spPr>
          <a:xfrm>
            <a:off x="815975" y="1725216"/>
            <a:ext cx="3397250" cy="2388691"/>
          </a:xfrm>
          <a:prstGeom prst="roundRect">
            <a:avLst>
              <a:gd name="adj" fmla="val 5184"/>
            </a:avLst>
          </a:prstGeom>
          <a:solidFill>
            <a:srgbClr val="FFFFFF"/>
          </a:solidFill>
          <a:ln w="6350">
            <a:solidFill>
              <a:srgbClr val="DDE3E0"/>
            </a:solidFill>
            <a:prstDash val="solid"/>
          </a:ln>
        </p:spPr>
      </p:sp>
      <p:pic>
        <p:nvPicPr>
          <p:cNvPr id="5" name="Image 0" descr="Lock">    </p:cNvPr>
          <p:cNvPicPr>
            <a:picLocks noChangeAspect="1"/>
          </p:cNvPicPr>
          <p:nvPr/>
        </p:nvPicPr>
        <p:blipFill>
          <a:blip r:embed="rId1"/>
          <a:srcRect l="0" r="0" t="0" b="0"/>
          <a:stretch/>
        </p:blipFill>
        <p:spPr>
          <a:xfrm>
            <a:off x="1022350" y="1931591"/>
            <a:ext cx="355600" cy="355600"/>
          </a:xfrm>
          <a:prstGeom prst="rect">
            <a:avLst/>
          </a:prstGeom>
        </p:spPr>
      </p:pic>
      <p:sp>
        <p:nvSpPr>
          <p:cNvPr id="6" name="Text 3"/>
          <p:cNvSpPr/>
          <p:nvPr/>
        </p:nvSpPr>
        <p:spPr>
          <a:xfrm>
            <a:off x="1022350" y="238879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A33"/>
                </a:solidFill>
                <a:latin typeface="IBM Plex Sans" pitchFamily="34" charset="0"/>
                <a:ea typeface="IBM Plex Sans" pitchFamily="34" charset="-122"/>
                <a:cs typeface="IBM Plex Sans" pitchFamily="34" charset="-120"/>
              </a:rPr>
              <a:t>Mutex · Lock</a:t>
            </a:r>
            <a:endParaRPr lang="en-US" sz="1700" dirty="0"/>
          </a:p>
        </p:txBody>
      </p:sp>
      <p:sp>
        <p:nvSpPr>
          <p:cNvPr id="7" name="Text 4"/>
          <p:cNvSpPr/>
          <p:nvPr/>
        </p:nvSpPr>
        <p:spPr>
          <a:xfrm>
            <a:off x="1022350" y="2749451"/>
            <a:ext cx="30740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Satu kunci untuk g_cfg, g_sensor, g_fan, g_env. Data disalin cepat, lalu kunci dilepas.</a:t>
            </a:r>
            <a:endParaRPr lang="en-US" sz="1200" dirty="0"/>
          </a:p>
        </p:txBody>
      </p:sp>
      <p:sp>
        <p:nvSpPr>
          <p:cNvPr id="8" name="Text 5"/>
          <p:cNvSpPr/>
          <p:nvPr/>
        </p:nvSpPr>
        <p:spPr>
          <a:xfrm>
            <a:off x="1022350" y="3491012"/>
            <a:ext cx="2984500" cy="416520"/>
          </a:xfrm>
          <a:prstGeom prst="roundRect">
            <a:avLst>
              <a:gd name="adj" fmla="val 15245"/>
            </a:avLst>
          </a:prstGeom>
          <a:solidFill>
            <a:srgbClr val="0F1B24"/>
          </a:solidFill>
          <a:ln/>
        </p:spPr>
        <p:txBody>
          <a:bodyPr wrap="square" lIns="83001" tIns="83001" rIns="0" bIns="57601"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 Lock l; s = g_cfg; }</a:t>
            </a:r>
            <a:endParaRPr lang="en-US" sz="1200" dirty="0"/>
          </a:p>
        </p:txBody>
      </p:sp>
      <p:sp>
        <p:nvSpPr>
          <p:cNvPr id="9" name="Shape 6"/>
          <p:cNvSpPr/>
          <p:nvPr/>
        </p:nvSpPr>
        <p:spPr>
          <a:xfrm>
            <a:off x="4397375" y="1725216"/>
            <a:ext cx="3397250" cy="2388691"/>
          </a:xfrm>
          <a:prstGeom prst="roundRect">
            <a:avLst>
              <a:gd name="adj" fmla="val 5184"/>
            </a:avLst>
          </a:prstGeom>
          <a:solidFill>
            <a:srgbClr val="FFFFFF"/>
          </a:solidFill>
          <a:ln w="6350">
            <a:solidFill>
              <a:srgbClr val="DDE3E0"/>
            </a:solidFill>
            <a:prstDash val="solid"/>
          </a:ln>
        </p:spPr>
      </p:sp>
      <p:pic>
        <p:nvPicPr>
          <p:cNvPr id="10" name="Image 1" descr="Link">    </p:cNvPr>
          <p:cNvPicPr>
            <a:picLocks noChangeAspect="1"/>
          </p:cNvPicPr>
          <p:nvPr/>
        </p:nvPicPr>
        <p:blipFill>
          <a:blip r:embed="rId2"/>
          <a:srcRect l="0" r="0" t="0" b="0"/>
          <a:stretch/>
        </p:blipFill>
        <p:spPr>
          <a:xfrm>
            <a:off x="4603750" y="1931591"/>
            <a:ext cx="355600" cy="355600"/>
          </a:xfrm>
          <a:prstGeom prst="rect">
            <a:avLst/>
          </a:prstGeom>
        </p:spPr>
      </p:pic>
      <p:sp>
        <p:nvSpPr>
          <p:cNvPr id="11" name="Text 7"/>
          <p:cNvSpPr/>
          <p:nvPr/>
        </p:nvSpPr>
        <p:spPr>
          <a:xfrm>
            <a:off x="4603750" y="238879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A33"/>
                </a:solidFill>
                <a:latin typeface="IBM Plex Sans" pitchFamily="34" charset="0"/>
                <a:ea typeface="IBM Plex Sans" pitchFamily="34" charset="-122"/>
                <a:cs typeface="IBM Plex Sans" pitchFamily="34" charset="-120"/>
              </a:rPr>
              <a:t>I2CLock</a:t>
            </a:r>
            <a:endParaRPr lang="en-US" sz="1700" dirty="0"/>
          </a:p>
        </p:txBody>
      </p:sp>
      <p:sp>
        <p:nvSpPr>
          <p:cNvPr id="12" name="Text 8"/>
          <p:cNvSpPr/>
          <p:nvPr/>
        </p:nvSpPr>
        <p:spPr>
          <a:xfrm>
            <a:off x="4603750" y="2749451"/>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Kunci khusus bus I2C, agar OLED dan ENS160/AHT21 tidak bicara bersamaan.</a:t>
            </a:r>
            <a:endParaRPr lang="en-US" sz="1200" dirty="0"/>
          </a:p>
        </p:txBody>
      </p:sp>
      <p:sp>
        <p:nvSpPr>
          <p:cNvPr id="13" name="Text 9"/>
          <p:cNvSpPr/>
          <p:nvPr/>
        </p:nvSpPr>
        <p:spPr>
          <a:xfrm>
            <a:off x="4603750" y="3277691"/>
            <a:ext cx="2984500" cy="629841"/>
          </a:xfrm>
          <a:prstGeom prst="roundRect">
            <a:avLst>
              <a:gd name="adj" fmla="val 10082"/>
            </a:avLst>
          </a:prstGeom>
          <a:solidFill>
            <a:srgbClr val="0F1B24"/>
          </a:solidFill>
          <a:ln/>
        </p:spPr>
        <p:txBody>
          <a:bodyPr wrap="square" lIns="83001" tIns="83001" rIns="0" bIns="57601"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 I2CLock l;</a:t>
            </a:r>
            <a:endParaRPr lang="en-US" sz="1200" dirty="0"/>
          </a:p>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oled.display(); }</a:t>
            </a:r>
            <a:endParaRPr lang="en-US" sz="1200" dirty="0"/>
          </a:p>
        </p:txBody>
      </p:sp>
      <p:sp>
        <p:nvSpPr>
          <p:cNvPr id="14" name="Shape 10"/>
          <p:cNvSpPr/>
          <p:nvPr/>
        </p:nvSpPr>
        <p:spPr>
          <a:xfrm>
            <a:off x="7978775" y="1725216"/>
            <a:ext cx="3397250" cy="2388691"/>
          </a:xfrm>
          <a:prstGeom prst="roundRect">
            <a:avLst>
              <a:gd name="adj" fmla="val 5184"/>
            </a:avLst>
          </a:prstGeom>
          <a:solidFill>
            <a:srgbClr val="FFFFFF"/>
          </a:solidFill>
          <a:ln w="6350">
            <a:solidFill>
              <a:srgbClr val="DDE3E0"/>
            </a:solidFill>
            <a:prstDash val="solid"/>
          </a:ln>
        </p:spPr>
      </p:sp>
      <p:pic>
        <p:nvPicPr>
          <p:cNvPr id="15" name="Image 2" descr="PaperPlane">    </p:cNvPr>
          <p:cNvPicPr>
            <a:picLocks noChangeAspect="1"/>
          </p:cNvPicPr>
          <p:nvPr/>
        </p:nvPicPr>
        <p:blipFill>
          <a:blip r:embed="rId3"/>
          <a:srcRect l="0" r="0" t="0" b="0"/>
          <a:stretch/>
        </p:blipFill>
        <p:spPr>
          <a:xfrm>
            <a:off x="8185150" y="1931591"/>
            <a:ext cx="355600" cy="355600"/>
          </a:xfrm>
          <a:prstGeom prst="rect">
            <a:avLst/>
          </a:prstGeom>
        </p:spPr>
      </p:pic>
      <p:sp>
        <p:nvSpPr>
          <p:cNvPr id="16" name="Text 11"/>
          <p:cNvSpPr/>
          <p:nvPr/>
        </p:nvSpPr>
        <p:spPr>
          <a:xfrm>
            <a:off x="8185150" y="238879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A33"/>
                </a:solidFill>
                <a:latin typeface="IBM Plex Sans" pitchFamily="34" charset="0"/>
                <a:ea typeface="IBM Plex Sans" pitchFamily="34" charset="-122"/>
                <a:cs typeface="IBM Plex Sans" pitchFamily="34" charset="-120"/>
              </a:rPr>
              <a:t>Queue</a:t>
            </a:r>
            <a:endParaRPr lang="en-US" sz="1700" dirty="0"/>
          </a:p>
        </p:txBody>
      </p:sp>
      <p:sp>
        <p:nvSpPr>
          <p:cNvPr id="17" name="Text 12"/>
          <p:cNvSpPr/>
          <p:nvPr/>
        </p:nvSpPr>
        <p:spPr>
          <a:xfrm>
            <a:off x="8185150" y="2749451"/>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Console mengirim perintah (sleep, wake, query) ke task sensor lewat antrian g_sdsQ.</a:t>
            </a:r>
            <a:endParaRPr lang="en-US" sz="1200" dirty="0"/>
          </a:p>
        </p:txBody>
      </p:sp>
      <p:sp>
        <p:nvSpPr>
          <p:cNvPr id="18" name="Text 13"/>
          <p:cNvSpPr/>
          <p:nvPr/>
        </p:nvSpPr>
        <p:spPr>
          <a:xfrm>
            <a:off x="8185150" y="3277691"/>
            <a:ext cx="2984500" cy="416520"/>
          </a:xfrm>
          <a:prstGeom prst="roundRect">
            <a:avLst>
              <a:gd name="adj" fmla="val 15245"/>
            </a:avLst>
          </a:prstGeom>
          <a:solidFill>
            <a:srgbClr val="0F1B24"/>
          </a:solidFill>
          <a:ln/>
        </p:spPr>
        <p:txBody>
          <a:bodyPr wrap="square" lIns="83001" tIns="83001" rIns="0" bIns="57601"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xQueueSend(g_sdsQ, …)</a:t>
            </a:r>
            <a:endParaRPr lang="en-US" sz="1200" dirty="0"/>
          </a:p>
        </p:txBody>
      </p:sp>
      <p:sp>
        <p:nvSpPr>
          <p:cNvPr id="19" name="Text 14"/>
          <p:cNvSpPr/>
          <p:nvPr/>
        </p:nvSpPr>
        <p:spPr>
          <a:xfrm>
            <a:off x="812800" y="437108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Setting disimpan ke </a:t>
            </a:r>
            <a:r>
              <a:rPr lang="en-US" sz="1300" b="1" dirty="0">
                <a:solidFill>
                  <a:srgbClr val="4A5568"/>
                </a:solidFill>
                <a:latin typeface="IBM Plex Sans" pitchFamily="34" charset="0"/>
                <a:ea typeface="IBM Plex Sans" pitchFamily="34" charset="-122"/>
                <a:cs typeface="IBM Plex Sans" pitchFamily="34" charset="-120"/>
              </a:rPr>
              <a:t>NVS</a:t>
            </a:r>
            <a:r>
              <a:rPr lang="en-US" sz="1300" dirty="0">
                <a:solidFill>
                  <a:srgbClr val="4A5568"/>
                </a:solidFill>
                <a:latin typeface="IBM Plex Sans" pitchFamily="34" charset="0"/>
                <a:ea typeface="IBM Plex Sans" pitchFamily="34" charset="-122"/>
                <a:cs typeface="IBM Plex Sans" pitchFamily="34" charset="-120"/>
              </a:rPr>
              <a:t> (flash) 3 s setelah perubahan terakhir dari app/web, sehingga flash tidak cepat aus.</a:t>
            </a:r>
            <a:endParaRPr lang="en-US" sz="1300" dirty="0"/>
          </a:p>
        </p:txBody>
      </p:sp>
      <p:sp>
        <p:nvSpPr>
          <p:cNvPr id="20"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LOGIKA KIPAS</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Dari angka PM2.5 ke sinyal PWM</a:t>
            </a:r>
            <a:endParaRPr lang="en-US" sz="3200" dirty="0"/>
          </a:p>
        </p:txBody>
      </p:sp>
      <p:sp>
        <p:nvSpPr>
          <p:cNvPr id="4" name="Shape 2"/>
          <p:cNvSpPr/>
          <p:nvPr/>
        </p:nvSpPr>
        <p:spPr>
          <a:xfrm>
            <a:off x="815975" y="1725216"/>
            <a:ext cx="1903710" cy="943471"/>
          </a:xfrm>
          <a:prstGeom prst="roundRect">
            <a:avLst>
              <a:gd name="adj" fmla="val 10432"/>
            </a:avLst>
          </a:prstGeom>
          <a:solidFill>
            <a:srgbClr val="FFFFFF"/>
          </a:solidFill>
          <a:ln w="6350">
            <a:solidFill>
              <a:srgbClr val="DDE3E0"/>
            </a:solidFill>
            <a:prstDash val="solid"/>
          </a:ln>
        </p:spPr>
      </p:sp>
      <p:sp>
        <p:nvSpPr>
          <p:cNvPr id="5" name="Text 3"/>
          <p:cNvSpPr/>
          <p:nvPr/>
        </p:nvSpPr>
        <p:spPr>
          <a:xfrm>
            <a:off x="958850" y="18680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A"/>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58850" y="2081411"/>
            <a:ext cx="16687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Rata-rata PM2.5</a:t>
            </a:r>
            <a:endParaRPr lang="en-US" sz="1300" dirty="0"/>
          </a:p>
        </p:txBody>
      </p:sp>
      <p:sp>
        <p:nvSpPr>
          <p:cNvPr id="7" name="Text 5"/>
          <p:cNvSpPr/>
          <p:nvPr/>
        </p:nvSpPr>
        <p:spPr>
          <a:xfrm>
            <a:off x="958850" y="23124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5 sampel</a:t>
            </a:r>
            <a:endParaRPr lang="en-US" sz="1200" dirty="0"/>
          </a:p>
        </p:txBody>
      </p:sp>
      <p:pic>
        <p:nvPicPr>
          <p:cNvPr id="8" name="Image 0" descr="connector">    </p:cNvPr>
          <p:cNvPicPr>
            <a:picLocks noChangeAspect="1"/>
          </p:cNvPicPr>
          <p:nvPr/>
        </p:nvPicPr>
        <p:blipFill>
          <a:blip r:embed="rId1"/>
          <a:srcRect l="0" r="0" t="0" b="0"/>
          <a:stretch/>
        </p:blipFill>
        <p:spPr>
          <a:xfrm>
            <a:off x="2722860" y="2146102"/>
            <a:ext cx="254000" cy="101600"/>
          </a:xfrm>
          <a:prstGeom prst="rect">
            <a:avLst/>
          </a:prstGeom>
        </p:spPr>
      </p:pic>
      <p:sp>
        <p:nvSpPr>
          <p:cNvPr id="9" name="Shape 6"/>
          <p:cNvSpPr/>
          <p:nvPr/>
        </p:nvSpPr>
        <p:spPr>
          <a:xfrm>
            <a:off x="2980035" y="1725216"/>
            <a:ext cx="1903809" cy="943471"/>
          </a:xfrm>
          <a:prstGeom prst="roundRect">
            <a:avLst>
              <a:gd name="adj" fmla="val 10432"/>
            </a:avLst>
          </a:prstGeom>
          <a:solidFill>
            <a:srgbClr val="FFFFFF"/>
          </a:solidFill>
          <a:ln w="6350">
            <a:solidFill>
              <a:srgbClr val="DDE3E0"/>
            </a:solidFill>
            <a:prstDash val="solid"/>
          </a:ln>
        </p:spPr>
      </p:sp>
      <p:sp>
        <p:nvSpPr>
          <p:cNvPr id="10" name="Text 7"/>
          <p:cNvSpPr/>
          <p:nvPr/>
        </p:nvSpPr>
        <p:spPr>
          <a:xfrm>
            <a:off x="3122910" y="1868091"/>
            <a:ext cx="16688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A"/>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3122910" y="2081411"/>
            <a:ext cx="16688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Kategori</a:t>
            </a:r>
            <a:endParaRPr lang="en-US" sz="1300" dirty="0"/>
          </a:p>
        </p:txBody>
      </p:sp>
      <p:sp>
        <p:nvSpPr>
          <p:cNvPr id="12" name="Text 9"/>
          <p:cNvSpPr/>
          <p:nvPr/>
        </p:nvSpPr>
        <p:spPr>
          <a:xfrm>
            <a:off x="3122910" y="2312491"/>
            <a:ext cx="16688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histeresis</a:t>
            </a:r>
            <a:endParaRPr lang="en-US" sz="1200" dirty="0"/>
          </a:p>
        </p:txBody>
      </p:sp>
      <p:pic>
        <p:nvPicPr>
          <p:cNvPr id="13" name="Image 1" descr="connector">    </p:cNvPr>
          <p:cNvPicPr>
            <a:picLocks noChangeAspect="1"/>
          </p:cNvPicPr>
          <p:nvPr/>
        </p:nvPicPr>
        <p:blipFill>
          <a:blip r:embed="rId2"/>
          <a:srcRect l="0" r="0" t="0" b="0"/>
          <a:stretch/>
        </p:blipFill>
        <p:spPr>
          <a:xfrm>
            <a:off x="4887020" y="2146102"/>
            <a:ext cx="254000" cy="101600"/>
          </a:xfrm>
          <a:prstGeom prst="rect">
            <a:avLst/>
          </a:prstGeom>
        </p:spPr>
      </p:pic>
      <p:sp>
        <p:nvSpPr>
          <p:cNvPr id="14" name="Shape 10"/>
          <p:cNvSpPr/>
          <p:nvPr/>
        </p:nvSpPr>
        <p:spPr>
          <a:xfrm>
            <a:off x="5144195" y="1725216"/>
            <a:ext cx="1903710" cy="943471"/>
          </a:xfrm>
          <a:prstGeom prst="roundRect">
            <a:avLst>
              <a:gd name="adj" fmla="val 10432"/>
            </a:avLst>
          </a:prstGeom>
          <a:solidFill>
            <a:srgbClr val="FFFFFF"/>
          </a:solidFill>
          <a:ln w="6350">
            <a:solidFill>
              <a:srgbClr val="DDE3E0"/>
            </a:solidFill>
            <a:prstDash val="solid"/>
          </a:ln>
        </p:spPr>
      </p:sp>
      <p:sp>
        <p:nvSpPr>
          <p:cNvPr id="15" name="Text 11"/>
          <p:cNvSpPr/>
          <p:nvPr/>
        </p:nvSpPr>
        <p:spPr>
          <a:xfrm>
            <a:off x="5287070" y="18680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A"/>
                </a:solidFill>
                <a:latin typeface="IBM Plex Sans" pitchFamily="34" charset="0"/>
                <a:ea typeface="IBM Plex Sans" pitchFamily="34" charset="-122"/>
                <a:cs typeface="IBM Plex Sans" pitchFamily="34" charset="-120"/>
              </a:rPr>
              <a:t>3</a:t>
            </a:r>
            <a:endParaRPr lang="en-US" sz="1200" dirty="0"/>
          </a:p>
        </p:txBody>
      </p:sp>
      <p:sp>
        <p:nvSpPr>
          <p:cNvPr id="16" name="Text 12"/>
          <p:cNvSpPr/>
          <p:nvPr/>
        </p:nvSpPr>
        <p:spPr>
          <a:xfrm>
            <a:off x="5287070" y="2081411"/>
            <a:ext cx="16687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Target duty</a:t>
            </a:r>
            <a:endParaRPr lang="en-US" sz="1300" dirty="0"/>
          </a:p>
        </p:txBody>
      </p:sp>
      <p:sp>
        <p:nvSpPr>
          <p:cNvPr id="17" name="Text 13"/>
          <p:cNvSpPr/>
          <p:nvPr/>
        </p:nvSpPr>
        <p:spPr>
          <a:xfrm>
            <a:off x="5287070" y="23124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sesuai mode</a:t>
            </a:r>
            <a:endParaRPr lang="en-US" sz="1200" dirty="0"/>
          </a:p>
        </p:txBody>
      </p:sp>
      <p:pic>
        <p:nvPicPr>
          <p:cNvPr id="18" name="Image 2" descr="connector">    </p:cNvPr>
          <p:cNvPicPr>
            <a:picLocks noChangeAspect="1"/>
          </p:cNvPicPr>
          <p:nvPr/>
        </p:nvPicPr>
        <p:blipFill>
          <a:blip r:embed="rId3"/>
          <a:srcRect l="0" r="0" t="0" b="0"/>
          <a:stretch/>
        </p:blipFill>
        <p:spPr>
          <a:xfrm>
            <a:off x="7051080" y="2146102"/>
            <a:ext cx="254000" cy="101600"/>
          </a:xfrm>
          <a:prstGeom prst="rect">
            <a:avLst/>
          </a:prstGeom>
        </p:spPr>
      </p:pic>
      <p:sp>
        <p:nvSpPr>
          <p:cNvPr id="19" name="Shape 14"/>
          <p:cNvSpPr/>
          <p:nvPr/>
        </p:nvSpPr>
        <p:spPr>
          <a:xfrm>
            <a:off x="7308255" y="1725216"/>
            <a:ext cx="1903710" cy="943471"/>
          </a:xfrm>
          <a:prstGeom prst="roundRect">
            <a:avLst>
              <a:gd name="adj" fmla="val 10432"/>
            </a:avLst>
          </a:prstGeom>
          <a:solidFill>
            <a:srgbClr val="FFFFFF"/>
          </a:solidFill>
          <a:ln w="6350">
            <a:solidFill>
              <a:srgbClr val="DDE3E0"/>
            </a:solidFill>
            <a:prstDash val="solid"/>
          </a:ln>
        </p:spPr>
      </p:sp>
      <p:sp>
        <p:nvSpPr>
          <p:cNvPr id="20" name="Text 15"/>
          <p:cNvSpPr/>
          <p:nvPr/>
        </p:nvSpPr>
        <p:spPr>
          <a:xfrm>
            <a:off x="7451130" y="18680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A"/>
                </a:solidFill>
                <a:latin typeface="IBM Plex Sans" pitchFamily="34" charset="0"/>
                <a:ea typeface="IBM Plex Sans" pitchFamily="34" charset="-122"/>
                <a:cs typeface="IBM Plex Sans" pitchFamily="34" charset="-120"/>
              </a:rPr>
              <a:t>4</a:t>
            </a:r>
            <a:endParaRPr lang="en-US" sz="1200" dirty="0"/>
          </a:p>
        </p:txBody>
      </p:sp>
      <p:sp>
        <p:nvSpPr>
          <p:cNvPr id="21" name="Text 16"/>
          <p:cNvSpPr/>
          <p:nvPr/>
        </p:nvSpPr>
        <p:spPr>
          <a:xfrm>
            <a:off x="7451130" y="2081411"/>
            <a:ext cx="16687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Slew</a:t>
            </a:r>
            <a:endParaRPr lang="en-US" sz="1300" dirty="0"/>
          </a:p>
        </p:txBody>
      </p:sp>
      <p:sp>
        <p:nvSpPr>
          <p:cNvPr id="22" name="Text 17"/>
          <p:cNvSpPr/>
          <p:nvPr/>
        </p:nvSpPr>
        <p:spPr>
          <a:xfrm>
            <a:off x="7451130" y="23124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maks 25%/s</a:t>
            </a:r>
            <a:endParaRPr lang="en-US" sz="1200" dirty="0"/>
          </a:p>
        </p:txBody>
      </p:sp>
      <p:pic>
        <p:nvPicPr>
          <p:cNvPr id="23" name="Image 3" descr="connector">    </p:cNvPr>
          <p:cNvPicPr>
            <a:picLocks noChangeAspect="1"/>
          </p:cNvPicPr>
          <p:nvPr/>
        </p:nvPicPr>
        <p:blipFill>
          <a:blip r:embed="rId4"/>
          <a:srcRect l="0" r="0" t="0" b="0"/>
          <a:stretch/>
        </p:blipFill>
        <p:spPr>
          <a:xfrm>
            <a:off x="9215140" y="2146102"/>
            <a:ext cx="254000" cy="101600"/>
          </a:xfrm>
          <a:prstGeom prst="rect">
            <a:avLst/>
          </a:prstGeom>
        </p:spPr>
      </p:pic>
      <p:sp>
        <p:nvSpPr>
          <p:cNvPr id="24" name="Shape 18"/>
          <p:cNvSpPr/>
          <p:nvPr/>
        </p:nvSpPr>
        <p:spPr>
          <a:xfrm>
            <a:off x="9472315" y="1725216"/>
            <a:ext cx="1903710" cy="943471"/>
          </a:xfrm>
          <a:prstGeom prst="roundRect">
            <a:avLst>
              <a:gd name="adj" fmla="val 10432"/>
            </a:avLst>
          </a:prstGeom>
          <a:solidFill>
            <a:srgbClr val="FFFFFF"/>
          </a:solidFill>
          <a:ln w="6350">
            <a:solidFill>
              <a:srgbClr val="DDE3E0"/>
            </a:solidFill>
            <a:prstDash val="solid"/>
          </a:ln>
        </p:spPr>
      </p:sp>
      <p:sp>
        <p:nvSpPr>
          <p:cNvPr id="25" name="Text 19"/>
          <p:cNvSpPr/>
          <p:nvPr/>
        </p:nvSpPr>
        <p:spPr>
          <a:xfrm>
            <a:off x="9615190" y="18680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A"/>
                </a:solidFill>
                <a:latin typeface="IBM Plex Sans" pitchFamily="34" charset="0"/>
                <a:ea typeface="IBM Plex Sans" pitchFamily="34" charset="-122"/>
                <a:cs typeface="IBM Plex Sans" pitchFamily="34" charset="-120"/>
              </a:rPr>
              <a:t>5</a:t>
            </a:r>
            <a:endParaRPr lang="en-US" sz="1200" dirty="0"/>
          </a:p>
        </p:txBody>
      </p:sp>
      <p:sp>
        <p:nvSpPr>
          <p:cNvPr id="26" name="Text 20"/>
          <p:cNvSpPr/>
          <p:nvPr/>
        </p:nvSpPr>
        <p:spPr>
          <a:xfrm>
            <a:off x="9615190" y="2081411"/>
            <a:ext cx="16687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33"/>
                </a:solidFill>
                <a:latin typeface="IBM Plex Sans" pitchFamily="34" charset="0"/>
                <a:ea typeface="IBM Plex Sans" pitchFamily="34" charset="-122"/>
                <a:cs typeface="IBM Plex Sans" pitchFamily="34" charset="-120"/>
              </a:rPr>
              <a:t>Relay + kick</a:t>
            </a:r>
            <a:endParaRPr lang="en-US" sz="1300" dirty="0"/>
          </a:p>
        </p:txBody>
      </p:sp>
      <p:sp>
        <p:nvSpPr>
          <p:cNvPr id="27" name="Text 21"/>
          <p:cNvSpPr/>
          <p:nvPr/>
        </p:nvSpPr>
        <p:spPr>
          <a:xfrm>
            <a:off x="9615190" y="2312491"/>
            <a:ext cx="166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lalu PWM</a:t>
            </a:r>
            <a:endParaRPr lang="en-US" sz="1200" dirty="0"/>
          </a:p>
        </p:txBody>
      </p:sp>
      <p:sp>
        <p:nvSpPr>
          <p:cNvPr id="28" name="Shape 22"/>
          <p:cNvSpPr/>
          <p:nvPr/>
        </p:nvSpPr>
        <p:spPr>
          <a:xfrm>
            <a:off x="812800" y="2925862"/>
            <a:ext cx="3403600" cy="1142901"/>
          </a:xfrm>
          <a:prstGeom prst="roundRect">
            <a:avLst>
              <a:gd name="adj" fmla="val 11112"/>
            </a:avLst>
          </a:prstGeom>
          <a:solidFill>
            <a:srgbClr val="0F1B24"/>
          </a:solidFill>
          <a:ln/>
        </p:spPr>
      </p:sp>
      <p:sp>
        <p:nvSpPr>
          <p:cNvPr id="29" name="Text 23"/>
          <p:cNvSpPr/>
          <p:nvPr/>
        </p:nvSpPr>
        <p:spPr>
          <a:xfrm>
            <a:off x="1003300" y="3116362"/>
            <a:ext cx="311327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DD6A3"/>
                </a:solidFill>
                <a:latin typeface="IBM Plex Sans" pitchFamily="34" charset="0"/>
                <a:ea typeface="IBM Plex Sans" pitchFamily="34" charset="-122"/>
                <a:cs typeface="IBM Plex Sans" pitchFamily="34" charset="-120"/>
              </a:rPr>
              <a:t>Otomatis</a:t>
            </a:r>
            <a:endParaRPr lang="en-US" sz="1700" dirty="0"/>
          </a:p>
        </p:txBody>
      </p:sp>
      <p:sp>
        <p:nvSpPr>
          <p:cNvPr id="30" name="Text 24"/>
          <p:cNvSpPr/>
          <p:nvPr/>
        </p:nvSpPr>
        <p:spPr>
          <a:xfrm>
            <a:off x="1003300" y="3451622"/>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Duty mengikuti kategori. Sensor PM mati → duty aman 50%.</a:t>
            </a:r>
            <a:endParaRPr lang="en-US" sz="1200" dirty="0"/>
          </a:p>
        </p:txBody>
      </p:sp>
      <p:sp>
        <p:nvSpPr>
          <p:cNvPr id="31" name="Shape 25"/>
          <p:cNvSpPr/>
          <p:nvPr/>
        </p:nvSpPr>
        <p:spPr>
          <a:xfrm>
            <a:off x="4394200" y="2925862"/>
            <a:ext cx="3403600" cy="1142901"/>
          </a:xfrm>
          <a:prstGeom prst="roundRect">
            <a:avLst>
              <a:gd name="adj" fmla="val 11112"/>
            </a:avLst>
          </a:prstGeom>
          <a:solidFill>
            <a:srgbClr val="0F1B24"/>
          </a:solidFill>
          <a:ln/>
        </p:spPr>
      </p:sp>
      <p:sp>
        <p:nvSpPr>
          <p:cNvPr id="32" name="Text 26"/>
          <p:cNvSpPr/>
          <p:nvPr/>
        </p:nvSpPr>
        <p:spPr>
          <a:xfrm>
            <a:off x="4584700" y="3116362"/>
            <a:ext cx="311327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DD6A3"/>
                </a:solidFill>
                <a:latin typeface="IBM Plex Sans" pitchFamily="34" charset="0"/>
                <a:ea typeface="IBM Plex Sans" pitchFamily="34" charset="-122"/>
                <a:cs typeface="IBM Plex Sans" pitchFamily="34" charset="-120"/>
              </a:rPr>
              <a:t>Manual</a:t>
            </a:r>
            <a:endParaRPr lang="en-US" sz="1700" dirty="0"/>
          </a:p>
        </p:txBody>
      </p:sp>
      <p:sp>
        <p:nvSpPr>
          <p:cNvPr id="33" name="Text 27"/>
          <p:cNvSpPr/>
          <p:nvPr/>
        </p:nvSpPr>
        <p:spPr>
          <a:xfrm>
            <a:off x="4584700" y="3451622"/>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Duty tetap dari app (+/−), slider web, atau console “fixed”.</a:t>
            </a:r>
            <a:endParaRPr lang="en-US" sz="1200" dirty="0"/>
          </a:p>
        </p:txBody>
      </p:sp>
      <p:sp>
        <p:nvSpPr>
          <p:cNvPr id="34" name="Shape 28"/>
          <p:cNvSpPr/>
          <p:nvPr/>
        </p:nvSpPr>
        <p:spPr>
          <a:xfrm>
            <a:off x="7975600" y="2925862"/>
            <a:ext cx="3403600" cy="1142901"/>
          </a:xfrm>
          <a:prstGeom prst="roundRect">
            <a:avLst>
              <a:gd name="adj" fmla="val 11112"/>
            </a:avLst>
          </a:prstGeom>
          <a:solidFill>
            <a:srgbClr val="0F1B24"/>
          </a:solidFill>
          <a:ln/>
        </p:spPr>
      </p:sp>
      <p:sp>
        <p:nvSpPr>
          <p:cNvPr id="35" name="Text 29"/>
          <p:cNvSpPr/>
          <p:nvPr/>
        </p:nvSpPr>
        <p:spPr>
          <a:xfrm>
            <a:off x="8166100" y="3116362"/>
            <a:ext cx="311327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DD6A3"/>
                </a:solidFill>
                <a:latin typeface="IBM Plex Sans" pitchFamily="34" charset="0"/>
                <a:ea typeface="IBM Plex Sans" pitchFamily="34" charset="-122"/>
                <a:cs typeface="IBM Plex Sans" pitchFamily="34" charset="-120"/>
              </a:rPr>
              <a:t>Potensio</a:t>
            </a:r>
            <a:endParaRPr lang="en-US" sz="1700" dirty="0"/>
          </a:p>
        </p:txBody>
      </p:sp>
      <p:sp>
        <p:nvSpPr>
          <p:cNvPr id="36" name="Text 30"/>
          <p:cNvSpPr/>
          <p:nvPr/>
        </p:nvSpPr>
        <p:spPr>
          <a:xfrm>
            <a:off x="8166100" y="3451622"/>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Putar potensio di alat, 0–100% (di bawah 3% = mati).</a:t>
            </a:r>
            <a:endParaRPr lang="en-US" sz="1200" dirty="0"/>
          </a:p>
        </p:txBody>
      </p:sp>
      <p:sp>
        <p:nvSpPr>
          <p:cNvPr id="37" name="Text 31"/>
          <p:cNvSpPr/>
          <p:nvPr/>
        </p:nvSpPr>
        <p:spPr>
          <a:xfrm>
            <a:off x="812800" y="432276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Ganti mode: tombol BOOT di board (berputar Otomatis → Potensio → Manual), switch di app, atau tombol di web.</a:t>
            </a:r>
            <a:endParaRPr lang="en-US" sz="1300" dirty="0"/>
          </a:p>
        </p:txBody>
      </p:sp>
      <p:sp>
        <p:nvSpPr>
          <p:cNvPr id="38"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INDIKATOR LOKAL</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Membaca OLED dan LED RGB</a:t>
            </a:r>
            <a:endParaRPr lang="en-US" sz="3200" dirty="0"/>
          </a:p>
        </p:txBody>
      </p:sp>
      <p:sp>
        <p:nvSpPr>
          <p:cNvPr id="4" name="Text 2"/>
          <p:cNvSpPr/>
          <p:nvPr/>
        </p:nvSpPr>
        <p:spPr>
          <a:xfrm>
            <a:off x="844550" y="1753791"/>
            <a:ext cx="5143500" cy="1752600"/>
          </a:xfrm>
          <a:prstGeom prst="roundRect">
            <a:avLst>
              <a:gd name="adj" fmla="val 3986"/>
            </a:avLst>
          </a:prstGeom>
          <a:solidFill>
            <a:srgbClr val="0A0F14"/>
          </a:solidFill>
          <a:ln w="63500">
            <a:solidFill>
              <a:srgbClr val="20262B"/>
            </a:solidFill>
            <a:prstDash val="solid"/>
          </a:ln>
        </p:spPr>
        <p:txBody>
          <a:bodyPr wrap="none" lIns="214492" tIns="189092" rIns="74284" bIns="163692" rtlCol="0" anchor="t">
            <a:normAutofit/>
          </a:bodyPr>
          <a:lstStyle/>
          <a:p>
            <a:pPr algn="l" indent="0" marL="0">
              <a:lnSpc>
                <a:spcPts val="2100"/>
              </a:lnSpc>
              <a:buNone/>
            </a:pPr>
            <a:r>
              <a:rPr lang="en-US" sz="1400" dirty="0">
                <a:solidFill>
                  <a:srgbClr val="7FD8F7"/>
                </a:solidFill>
                <a:latin typeface="JetBrains Mono" pitchFamily="49" charset="0"/>
                <a:ea typeface="JetBrains Mono" pitchFamily="49" charset="-122"/>
                <a:cs typeface="JetBrains Mono" pitchFamily="49" charset="-120"/>
              </a:rPr>
              <a:t>CAIR AUTO W B OK</a:t>
            </a:r>
            <a:endParaRPr lang="en-US" sz="1400" dirty="0"/>
          </a:p>
          <a:p>
            <a:pPr algn="l" indent="0" marL="0">
              <a:lnSpc>
                <a:spcPts val="2100"/>
              </a:lnSpc>
              <a:buNone/>
            </a:pPr>
            <a:r>
              <a:rPr lang="en-US" sz="1400" dirty="0">
                <a:solidFill>
                  <a:srgbClr val="7FD8F7"/>
                </a:solidFill>
                <a:latin typeface="JetBrains Mono" pitchFamily="49" charset="0"/>
                <a:ea typeface="JetBrains Mono" pitchFamily="49" charset="-122"/>
                <a:cs typeface="JetBrains Mono" pitchFamily="49" charset="-120"/>
              </a:rPr>
              <a:t>PM2.5 </a:t>
            </a:r>
            <a:r>
              <a:rPr lang="en-US" sz="1400" b="1" dirty="0">
                <a:solidFill>
                  <a:srgbClr val="7FD8F7"/>
                </a:solidFill>
                <a:latin typeface="JetBrains Mono" pitchFamily="49" charset="0"/>
                <a:ea typeface="JetBrains Mono" pitchFamily="49" charset="-122"/>
                <a:cs typeface="JetBrains Mono" pitchFamily="49" charset="-120"/>
              </a:rPr>
              <a:t>22.4</a:t>
            </a:r>
            <a:endParaRPr lang="en-US" sz="1400" dirty="0"/>
          </a:p>
          <a:p>
            <a:pPr algn="l" indent="0" marL="0">
              <a:lnSpc>
                <a:spcPts val="2100"/>
              </a:lnSpc>
              <a:buNone/>
            </a:pPr>
            <a:r>
              <a:rPr lang="en-US" sz="1400" dirty="0">
                <a:solidFill>
                  <a:srgbClr val="7FD8F7"/>
                </a:solidFill>
                <a:latin typeface="JetBrains Mono" pitchFamily="49" charset="0"/>
                <a:ea typeface="JetBrains Mono" pitchFamily="49" charset="-122"/>
                <a:cs typeface="JetBrains Mono" pitchFamily="49" charset="-120"/>
              </a:rPr>
              <a:t>PM10 34.1 CO2 1180</a:t>
            </a:r>
            <a:endParaRPr lang="en-US" sz="1400" dirty="0"/>
          </a:p>
          <a:p>
            <a:pPr algn="l" indent="0" marL="0">
              <a:lnSpc>
                <a:spcPts val="2100"/>
              </a:lnSpc>
              <a:buNone/>
            </a:pPr>
            <a:r>
              <a:rPr lang="en-US" sz="1400" dirty="0">
                <a:solidFill>
                  <a:srgbClr val="7FD8F7"/>
                </a:solidFill>
                <a:latin typeface="JetBrains Mono" pitchFamily="49" charset="0"/>
                <a:ea typeface="JetBrains Mono" pitchFamily="49" charset="-122"/>
                <a:cs typeface="JetBrains Mono" pitchFamily="49" charset="-120"/>
              </a:rPr>
              <a:t>BAHAYA 29.4C 72%</a:t>
            </a:r>
            <a:endParaRPr lang="en-US" sz="1400" dirty="0"/>
          </a:p>
          <a:p>
            <a:pPr algn="l" indent="0" marL="0">
              <a:lnSpc>
                <a:spcPts val="2100"/>
              </a:lnSpc>
              <a:buNone/>
            </a:pPr>
            <a:r>
              <a:rPr lang="en-US" sz="1400" dirty="0">
                <a:solidFill>
                  <a:srgbClr val="7FD8F7"/>
                </a:solidFill>
                <a:latin typeface="JetBrains Mono" pitchFamily="49" charset="0"/>
                <a:ea typeface="JetBrains Mono" pitchFamily="49" charset="-122"/>
                <a:cs typeface="JetBrains Mono" pitchFamily="49" charset="-120"/>
              </a:rPr>
              <a:t>FAN 75% 1460rpm ▮▮▮░</a:t>
            </a:r>
            <a:endParaRPr lang="en-US" sz="1400" dirty="0"/>
          </a:p>
        </p:txBody>
      </p:sp>
      <p:sp>
        <p:nvSpPr>
          <p:cNvPr id="5" name="Text 3"/>
          <p:cNvSpPr/>
          <p:nvPr/>
        </p:nvSpPr>
        <p:spPr>
          <a:xfrm>
            <a:off x="812800" y="3639741"/>
            <a:ext cx="53632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W</a:t>
            </a:r>
            <a:r>
              <a:rPr lang="en-US" sz="1200" dirty="0">
                <a:solidFill>
                  <a:srgbClr val="4A5568"/>
                </a:solidFill>
                <a:latin typeface="IBM Plex Sans" pitchFamily="34" charset="0"/>
                <a:ea typeface="IBM Plex Sans" pitchFamily="34" charset="-122"/>
                <a:cs typeface="IBM Plex Sans" pitchFamily="34" charset="-120"/>
              </a:rPr>
              <a:t> = WiFi router terhubung · </a:t>
            </a:r>
            <a:r>
              <a:rPr lang="en-US" sz="1200" b="1" dirty="0">
                <a:solidFill>
                  <a:srgbClr val="4A5568"/>
                </a:solidFill>
                <a:latin typeface="IBM Plex Sans" pitchFamily="34" charset="0"/>
                <a:ea typeface="IBM Plex Sans" pitchFamily="34" charset="-122"/>
                <a:cs typeface="IBM Plex Sans" pitchFamily="34" charset="-120"/>
              </a:rPr>
              <a:t>B</a:t>
            </a:r>
            <a:r>
              <a:rPr lang="en-US" sz="1200" dirty="0">
                <a:solidFill>
                  <a:srgbClr val="4A5568"/>
                </a:solidFill>
                <a:latin typeface="IBM Plex Sans" pitchFamily="34" charset="0"/>
                <a:ea typeface="IBM Plex Sans" pitchFamily="34" charset="-122"/>
                <a:cs typeface="IBM Plex Sans" pitchFamily="34" charset="-120"/>
              </a:rPr>
              <a:t> = app BLE terhubung · </a:t>
            </a:r>
            <a:r>
              <a:rPr lang="en-US" sz="1200" b="1" dirty="0">
                <a:solidFill>
                  <a:srgbClr val="4A5568"/>
                </a:solidFill>
                <a:latin typeface="IBM Plex Sans" pitchFamily="34" charset="0"/>
                <a:ea typeface="IBM Plex Sans" pitchFamily="34" charset="-122"/>
                <a:cs typeface="IBM Plex Sans" pitchFamily="34" charset="-120"/>
              </a:rPr>
              <a:t>OK</a:t>
            </a:r>
            <a:r>
              <a:rPr lang="en-US" sz="1200" dirty="0">
                <a:solidFill>
                  <a:srgbClr val="4A5568"/>
                </a:solidFill>
                <a:latin typeface="IBM Plex Sans" pitchFamily="34" charset="0"/>
                <a:ea typeface="IBM Plex Sans" pitchFamily="34" charset="-122"/>
                <a:cs typeface="IBM Plex Sans" pitchFamily="34" charset="-120"/>
              </a:rPr>
              <a:t> = data SDS011 segar (Q = query mode, -- = error)</a:t>
            </a:r>
            <a:endParaRPr lang="en-US" sz="1200" dirty="0"/>
          </a:p>
        </p:txBody>
      </p:sp>
      <p:sp>
        <p:nvSpPr>
          <p:cNvPr id="6" name="Text 4"/>
          <p:cNvSpPr/>
          <p:nvPr/>
        </p:nvSpPr>
        <p:spPr>
          <a:xfrm>
            <a:off x="6375400" y="1722041"/>
            <a:ext cx="51539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JetBrains Mono" pitchFamily="49" charset="0"/>
                <a:ea typeface="JetBrains Mono" pitchFamily="49" charset="-122"/>
                <a:cs typeface="JetBrains Mono" pitchFamily="49" charset="-120"/>
              </a:rPr>
              <a:t>LED RGB ONBOARD (GPIO48)</a:t>
            </a:r>
            <a:endParaRPr lang="en-US" sz="1200" dirty="0"/>
          </a:p>
        </p:txBody>
      </p:sp>
      <p:sp>
        <p:nvSpPr>
          <p:cNvPr id="7" name="Shape 5"/>
          <p:cNvSpPr/>
          <p:nvPr/>
        </p:nvSpPr>
        <p:spPr>
          <a:xfrm>
            <a:off x="6375400" y="2024261"/>
            <a:ext cx="254000" cy="254000"/>
          </a:xfrm>
          <a:prstGeom prst="roundRect">
            <a:avLst>
              <a:gd name="adj" fmla="val 50000"/>
            </a:avLst>
          </a:prstGeom>
          <a:solidFill>
            <a:srgbClr val="1F9D63"/>
          </a:solidFill>
          <a:ln/>
        </p:spPr>
      </p:sp>
      <p:sp>
        <p:nvSpPr>
          <p:cNvPr id="8" name="Text 6"/>
          <p:cNvSpPr/>
          <p:nvPr/>
        </p:nvSpPr>
        <p:spPr>
          <a:xfrm>
            <a:off x="6743700" y="2035671"/>
            <a:ext cx="149447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Hijau: udara baik</a:t>
            </a:r>
            <a:endParaRPr lang="en-US" sz="1300" dirty="0"/>
          </a:p>
        </p:txBody>
      </p:sp>
      <p:sp>
        <p:nvSpPr>
          <p:cNvPr id="9" name="Shape 7"/>
          <p:cNvSpPr/>
          <p:nvPr/>
        </p:nvSpPr>
        <p:spPr>
          <a:xfrm>
            <a:off x="6375400" y="2367161"/>
            <a:ext cx="254000" cy="254000"/>
          </a:xfrm>
          <a:prstGeom prst="roundRect">
            <a:avLst>
              <a:gd name="adj" fmla="val 50000"/>
            </a:avLst>
          </a:prstGeom>
          <a:solidFill>
            <a:srgbClr val="E8C547"/>
          </a:solidFill>
          <a:ln/>
        </p:spPr>
      </p:sp>
      <p:sp>
        <p:nvSpPr>
          <p:cNvPr id="10" name="Text 8"/>
          <p:cNvSpPr/>
          <p:nvPr/>
        </p:nvSpPr>
        <p:spPr>
          <a:xfrm>
            <a:off x="6743700" y="2378571"/>
            <a:ext cx="16337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Kuning: mulai naik</a:t>
            </a:r>
            <a:endParaRPr lang="en-US" sz="1300" dirty="0"/>
          </a:p>
        </p:txBody>
      </p:sp>
      <p:sp>
        <p:nvSpPr>
          <p:cNvPr id="11" name="Shape 9"/>
          <p:cNvSpPr/>
          <p:nvPr/>
        </p:nvSpPr>
        <p:spPr>
          <a:xfrm>
            <a:off x="6375400" y="2710061"/>
            <a:ext cx="254000" cy="254000"/>
          </a:xfrm>
          <a:prstGeom prst="roundRect">
            <a:avLst>
              <a:gd name="adj" fmla="val 50000"/>
            </a:avLst>
          </a:prstGeom>
          <a:solidFill>
            <a:srgbClr val="EA6F17"/>
          </a:solidFill>
          <a:ln/>
        </p:spPr>
      </p:sp>
      <p:sp>
        <p:nvSpPr>
          <p:cNvPr id="12" name="Text 10"/>
          <p:cNvSpPr/>
          <p:nvPr/>
        </p:nvSpPr>
        <p:spPr>
          <a:xfrm>
            <a:off x="6743700" y="2721471"/>
            <a:ext cx="221051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Oranye: bahaya / pengap</a:t>
            </a:r>
            <a:endParaRPr lang="en-US" sz="1300" dirty="0"/>
          </a:p>
        </p:txBody>
      </p:sp>
      <p:sp>
        <p:nvSpPr>
          <p:cNvPr id="13" name="Shape 11"/>
          <p:cNvSpPr/>
          <p:nvPr/>
        </p:nvSpPr>
        <p:spPr>
          <a:xfrm>
            <a:off x="6375400" y="3052961"/>
            <a:ext cx="254000" cy="254000"/>
          </a:xfrm>
          <a:prstGeom prst="roundRect">
            <a:avLst>
              <a:gd name="adj" fmla="val 50000"/>
            </a:avLst>
          </a:prstGeom>
          <a:solidFill>
            <a:srgbClr val="D63434"/>
          </a:solidFill>
          <a:ln/>
        </p:spPr>
      </p:sp>
      <p:sp>
        <p:nvSpPr>
          <p:cNvPr id="14" name="Text 12"/>
          <p:cNvSpPr/>
          <p:nvPr/>
        </p:nvSpPr>
        <p:spPr>
          <a:xfrm>
            <a:off x="6743700" y="3064371"/>
            <a:ext cx="277772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Merah berkedip: sangat bahaya</a:t>
            </a:r>
            <a:endParaRPr lang="en-US" sz="1300" dirty="0"/>
          </a:p>
        </p:txBody>
      </p:sp>
      <p:sp>
        <p:nvSpPr>
          <p:cNvPr id="15" name="Shape 13"/>
          <p:cNvSpPr/>
          <p:nvPr/>
        </p:nvSpPr>
        <p:spPr>
          <a:xfrm>
            <a:off x="6375400" y="3395861"/>
            <a:ext cx="254000" cy="254000"/>
          </a:xfrm>
          <a:prstGeom prst="roundRect">
            <a:avLst>
              <a:gd name="adj" fmla="val 50000"/>
            </a:avLst>
          </a:prstGeom>
          <a:solidFill>
            <a:srgbClr val="9B5DE5"/>
          </a:solidFill>
          <a:ln/>
        </p:spPr>
      </p:sp>
      <p:sp>
        <p:nvSpPr>
          <p:cNvPr id="16" name="Text 14"/>
          <p:cNvSpPr/>
          <p:nvPr/>
        </p:nvSpPr>
        <p:spPr>
          <a:xfrm>
            <a:off x="6743700" y="3407271"/>
            <a:ext cx="280939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Ungu berkedip: sensor PM error</a:t>
            </a:r>
            <a:endParaRPr lang="en-US" sz="1300" dirty="0"/>
          </a:p>
        </p:txBody>
      </p:sp>
      <p:sp>
        <p:nvSpPr>
          <p:cNvPr id="17" name="Shape 15"/>
          <p:cNvSpPr/>
          <p:nvPr/>
        </p:nvSpPr>
        <p:spPr>
          <a:xfrm>
            <a:off x="6375400" y="3738761"/>
            <a:ext cx="254000" cy="254000"/>
          </a:xfrm>
          <a:prstGeom prst="roundRect">
            <a:avLst>
              <a:gd name="adj" fmla="val 50000"/>
            </a:avLst>
          </a:prstGeom>
          <a:gradFill rotWithShape="1">
            <a:gsLst>
              <a:gs pos="50000">
                <a:srgbClr val="D63434"/>
              </a:gs>
              <a:gs pos="50000">
                <a:srgbClr val="2563EB"/>
              </a:gs>
            </a:gsLst>
            <a:lin ang="0" scaled="0"/>
          </a:gradFill>
          <a:ln/>
        </p:spPr>
      </p:sp>
      <p:sp>
        <p:nvSpPr>
          <p:cNvPr id="18" name="Text 16"/>
          <p:cNvSpPr/>
          <p:nvPr/>
        </p:nvSpPr>
        <p:spPr>
          <a:xfrm>
            <a:off x="6743700" y="3750171"/>
            <a:ext cx="271093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3"/>
                </a:solidFill>
                <a:latin typeface="IBM Plex Sans" pitchFamily="34" charset="0"/>
                <a:ea typeface="IBM Plex Sans" pitchFamily="34" charset="-122"/>
                <a:cs typeface="IBM Plex Sans" pitchFamily="34" charset="-120"/>
              </a:rPr>
              <a:t>Merah-biru cepat: kipas macet</a:t>
            </a:r>
            <a:endParaRPr lang="en-US" sz="1300" dirty="0"/>
          </a:p>
        </p:txBody>
      </p:sp>
      <p:sp>
        <p:nvSpPr>
          <p:cNvPr id="19" name="Text 17"/>
          <p:cNvSpPr/>
          <p:nvPr/>
        </p:nvSpPr>
        <p:spPr>
          <a:xfrm>
            <a:off x="6375400" y="4081661"/>
            <a:ext cx="515391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LED tidak menyala? jembatani pad solder “RGB” di board, atau ganti PIN_RGB ke 38.</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03 · DIAGNOSA</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Membaca log saat boot (serial monitor)</a:t>
            </a:r>
            <a:endParaRPr lang="en-US" sz="3200" dirty="0"/>
          </a:p>
        </p:txBody>
      </p:sp>
      <p:sp>
        <p:nvSpPr>
          <p:cNvPr id="4" name="Text 2"/>
          <p:cNvSpPr/>
          <p:nvPr/>
        </p:nvSpPr>
        <p:spPr>
          <a:xfrm>
            <a:off x="812800" y="1722041"/>
            <a:ext cx="6604000" cy="2870200"/>
          </a:xfrm>
          <a:prstGeom prst="roundRect">
            <a:avLst>
              <a:gd name="adj" fmla="val 4425"/>
            </a:avLst>
          </a:prstGeom>
          <a:solidFill>
            <a:srgbClr val="0F1B24"/>
          </a:solidFill>
          <a:ln/>
        </p:spPr>
        <p:txBody>
          <a:bodyPr wrap="none" lIns="166003" tIns="140603" rIns="0" bIns="115203" rtlCol="0" anchor="t">
            <a:normAutofit/>
          </a:bodyPr>
          <a:lstStyle/>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[ 52] [sys] reset : POWERON</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[ 60] [i2c] device di 0x38 (AHT21)</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[ 61] [i2c] device di 0x3C (OLED)</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[ 62] [i2c] device di 0x53 (ENS160)</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[ 70] [task] fan core=1 prio=4 -&gt; OK</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[ 420] [env] ENS160 di 0x53, mode standard OK</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[ 610] [wifi] AP "CAIR-3F2A" aktif</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[ 980] [rxy] BLE aktif, nama "CAIR"</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[1320] [sds] menunggu frame data...</a:t>
            </a:r>
            <a:endParaRPr lang="en-US" sz="1200" dirty="0"/>
          </a:p>
          <a:p>
            <a:pPr algn="l" indent="0" marL="0">
              <a:lnSpc>
                <a:spcPts val="1800"/>
              </a:lnSpc>
              <a:buNone/>
            </a:pPr>
            <a:r>
              <a:rPr lang="en-US" sz="1200" dirty="0">
                <a:solidFill>
                  <a:srgbClr val="3DD6A3"/>
                </a:solidFill>
                <a:latin typeface="JetBrains Mono" pitchFamily="49" charset="0"/>
                <a:ea typeface="JetBrains Mono" pitchFamily="49" charset="-122"/>
                <a:cs typeface="JetBrains Mono" pitchFamily="49" charset="-120"/>
              </a:rPr>
              <a:t>[2100] [sds] ONLINE, PM2.5=12.3 PM10=17.1</a:t>
            </a:r>
            <a:endParaRPr lang="en-US" sz="1200" dirty="0"/>
          </a:p>
          <a:p>
            <a:pPr algn="l" indent="0" marL="0">
              <a:lnSpc>
                <a:spcPts val="1800"/>
              </a:lnSpc>
              <a:buNone/>
            </a:pPr>
            <a:r>
              <a:rPr lang="en-US" sz="1200" dirty="0">
                <a:solidFill>
                  <a:srgbClr val="3DD6A3"/>
                </a:solidFill>
                <a:latin typeface="JetBrains Mono" pitchFamily="49" charset="0"/>
                <a:ea typeface="JetBrains Mono" pitchFamily="49" charset="-122"/>
                <a:cs typeface="JetBrains Mono" pitchFamily="49" charset="-120"/>
              </a:rPr>
              <a:t>[4500] [wifi] TERHUBUNG ip=192.168.1.37</a:t>
            </a:r>
            <a:endParaRPr lang="en-US" sz="1200" dirty="0"/>
          </a:p>
        </p:txBody>
      </p:sp>
      <p:sp>
        <p:nvSpPr>
          <p:cNvPr id="5" name="Shape 3"/>
          <p:cNvSpPr/>
          <p:nvPr/>
        </p:nvSpPr>
        <p:spPr>
          <a:xfrm>
            <a:off x="7673975" y="1725216"/>
            <a:ext cx="3702050" cy="925711"/>
          </a:xfrm>
          <a:prstGeom prst="roundRect">
            <a:avLst>
              <a:gd name="adj" fmla="val 10632"/>
            </a:avLst>
          </a:prstGeom>
          <a:solidFill>
            <a:srgbClr val="FFFFFF"/>
          </a:solidFill>
          <a:ln w="6350">
            <a:solidFill>
              <a:srgbClr val="DDE3E0"/>
            </a:solidFill>
            <a:prstDash val="solid"/>
          </a:ln>
        </p:spPr>
      </p:sp>
      <p:sp>
        <p:nvSpPr>
          <p:cNvPr id="6" name="Text 4"/>
          <p:cNvSpPr/>
          <p:nvPr/>
        </p:nvSpPr>
        <p:spPr>
          <a:xfrm>
            <a:off x="7842250" y="1868091"/>
            <a:ext cx="346646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A33"/>
                </a:solidFill>
                <a:latin typeface="IBM Plex Sans" pitchFamily="34" charset="0"/>
                <a:ea typeface="IBM Plex Sans" pitchFamily="34" charset="-122"/>
                <a:cs typeface="IBM Plex Sans" pitchFamily="34" charset="-120"/>
              </a:rPr>
              <a:t>[i2c]</a:t>
            </a:r>
            <a:endParaRPr lang="en-US" sz="1400" dirty="0"/>
          </a:p>
        </p:txBody>
      </p:sp>
      <p:sp>
        <p:nvSpPr>
          <p:cNvPr id="7" name="Text 5"/>
          <p:cNvSpPr/>
          <p:nvPr/>
        </p:nvSpPr>
        <p:spPr>
          <a:xfrm>
            <a:off x="7842250" y="2081411"/>
            <a:ext cx="34664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 alamat harus muncul. Kurang satu → cek kabel I2C.</a:t>
            </a:r>
            <a:endParaRPr lang="en-US" sz="1200" dirty="0"/>
          </a:p>
        </p:txBody>
      </p:sp>
      <p:sp>
        <p:nvSpPr>
          <p:cNvPr id="8" name="Shape 6"/>
          <p:cNvSpPr/>
          <p:nvPr/>
        </p:nvSpPr>
        <p:spPr>
          <a:xfrm>
            <a:off x="7673975" y="2771577"/>
            <a:ext cx="3702050" cy="925711"/>
          </a:xfrm>
          <a:prstGeom prst="roundRect">
            <a:avLst>
              <a:gd name="adj" fmla="val 10632"/>
            </a:avLst>
          </a:prstGeom>
          <a:solidFill>
            <a:srgbClr val="FFFFFF"/>
          </a:solidFill>
          <a:ln w="6350">
            <a:solidFill>
              <a:srgbClr val="DDE3E0"/>
            </a:solidFill>
            <a:prstDash val="solid"/>
          </a:ln>
        </p:spPr>
      </p:sp>
      <p:sp>
        <p:nvSpPr>
          <p:cNvPr id="9" name="Text 7"/>
          <p:cNvSpPr/>
          <p:nvPr/>
        </p:nvSpPr>
        <p:spPr>
          <a:xfrm>
            <a:off x="7842250" y="2914452"/>
            <a:ext cx="346646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A33"/>
                </a:solidFill>
                <a:latin typeface="IBM Plex Sans" pitchFamily="34" charset="0"/>
                <a:ea typeface="IBM Plex Sans" pitchFamily="34" charset="-122"/>
                <a:cs typeface="IBM Plex Sans" pitchFamily="34" charset="-120"/>
              </a:rPr>
              <a:t>[sds]</a:t>
            </a:r>
            <a:endParaRPr lang="en-US" sz="1400" dirty="0"/>
          </a:p>
        </p:txBody>
      </p:sp>
      <p:sp>
        <p:nvSpPr>
          <p:cNvPr id="10" name="Text 8"/>
          <p:cNvSpPr/>
          <p:nvPr/>
        </p:nvSpPr>
        <p:spPr>
          <a:xfrm>
            <a:off x="7842250" y="3127772"/>
            <a:ext cx="34664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Tetap “menunggu” → TX/RX tertukar atau GND lepas.</a:t>
            </a:r>
            <a:endParaRPr lang="en-US" sz="1200" dirty="0"/>
          </a:p>
        </p:txBody>
      </p:sp>
      <p:sp>
        <p:nvSpPr>
          <p:cNvPr id="11" name="Shape 9"/>
          <p:cNvSpPr/>
          <p:nvPr/>
        </p:nvSpPr>
        <p:spPr>
          <a:xfrm>
            <a:off x="7673975" y="3817938"/>
            <a:ext cx="3702050" cy="712391"/>
          </a:xfrm>
          <a:prstGeom prst="roundRect">
            <a:avLst>
              <a:gd name="adj" fmla="val 13816"/>
            </a:avLst>
          </a:prstGeom>
          <a:solidFill>
            <a:srgbClr val="FFFFFF"/>
          </a:solidFill>
          <a:ln w="6350">
            <a:solidFill>
              <a:srgbClr val="DDE3E0"/>
            </a:solidFill>
            <a:prstDash val="solid"/>
          </a:ln>
        </p:spPr>
      </p:sp>
      <p:sp>
        <p:nvSpPr>
          <p:cNvPr id="12" name="Text 10"/>
          <p:cNvSpPr/>
          <p:nvPr/>
        </p:nvSpPr>
        <p:spPr>
          <a:xfrm>
            <a:off x="7842250" y="3960813"/>
            <a:ext cx="346646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A33"/>
                </a:solidFill>
                <a:latin typeface="IBM Plex Sans" pitchFamily="34" charset="0"/>
                <a:ea typeface="IBM Plex Sans" pitchFamily="34" charset="-122"/>
                <a:cs typeface="IBM Plex Sans" pitchFamily="34" charset="-120"/>
              </a:rPr>
              <a:t>[wifi]</a:t>
            </a:r>
            <a:endParaRPr lang="en-US" sz="1400" dirty="0"/>
          </a:p>
        </p:txBody>
      </p:sp>
      <p:sp>
        <p:nvSpPr>
          <p:cNvPr id="13" name="Text 11"/>
          <p:cNvSpPr/>
          <p:nvPr/>
        </p:nvSpPr>
        <p:spPr>
          <a:xfrm>
            <a:off x="7842250" y="4174133"/>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IP di sini = alamat dashboard web.</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04 · KONEKTIVITAS</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RemoteXY lewat Bluetooth 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6997700" cy="2768600"/>
        </p:xfrm>
        <a:graphic>
          <a:graphicData uri="http://schemas.openxmlformats.org/drawingml/2006/table">
            <a:tbl>
              <a:tblPr/>
              <a:tblGrid>
                <a:gridCol w="2799080"/>
                <a:gridCol w="4198620"/>
              </a:tblGrid>
              <a:tr h="346075">
                <a:tc>
                  <a:txBody>
                    <a:bodyPr/>
                    <a:lstStyle/>
                    <a:p>
                      <a:pPr indent="0" marL="0">
                        <a:lnSpc>
                          <a:spcPts val="1750"/>
                        </a:lnSpc>
                        <a:buNone/>
                      </a:pPr>
                      <a:r>
                        <a:rPr lang="en-US" sz="1250" b="1" dirty="0">
                          <a:solidFill>
                            <a:srgbClr val="1E2A33"/>
                          </a:solidFill>
                          <a:latin typeface="IBM Plex Sans" pitchFamily="34" charset="0"/>
                          <a:ea typeface="IBM Plex Sans" pitchFamily="34" charset="-122"/>
                          <a:cs typeface="IBM Plex Sans" pitchFamily="34" charset="-120"/>
                        </a:rPr>
                        <a:t>Variabel GUI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750"/>
                        </a:lnSpc>
                        <a:buNone/>
                      </a:pPr>
                      <a:r>
                        <a:rPr lang="en-US" sz="1250" b="1" dirty="0">
                          <a:solidFill>
                            <a:srgbClr val="1E2A33"/>
                          </a:solidFill>
                          <a:latin typeface="IBM Plex Sans" pitchFamily="34" charset="0"/>
                          <a:ea typeface="IBM Plex Sans" pitchFamily="34" charset="-122"/>
                          <a:cs typeface="IBM Plex Sans" pitchFamily="34" charset="-120"/>
                        </a:rPr>
                        <a:t>Isi / fungsi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switch_fanmode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ON = Otomatis, OFF = Manual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button_fanadd / sub</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±5% (hanya saat Manual)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circularBar_01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PM2.5, 100% = 50 µg/m³</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value_pm25 / pm10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µg/m³ dari SDS011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value_status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AMAN … SGT BAHAYA / NO SENSOR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value_fanspeed / fanrpm</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duty % dan rpm tachometer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value_temp / rh / CO2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AHT21 dan ENS160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Shape 2"/>
          <p:cNvSpPr/>
          <p:nvPr/>
        </p:nvSpPr>
        <p:spPr>
          <a:xfrm>
            <a:off x="8077200" y="1722041"/>
            <a:ext cx="3302000" cy="1074341"/>
          </a:xfrm>
          <a:prstGeom prst="roundRect">
            <a:avLst>
              <a:gd name="adj" fmla="val 11821"/>
            </a:avLst>
          </a:prstGeom>
          <a:solidFill>
            <a:srgbClr val="0F1B24"/>
          </a:solidFill>
          <a:ln/>
        </p:spPr>
      </p:sp>
      <p:sp>
        <p:nvSpPr>
          <p:cNvPr id="6" name="Text 3"/>
          <p:cNvSpPr/>
          <p:nvPr/>
        </p:nvSpPr>
        <p:spPr>
          <a:xfrm>
            <a:off x="8280400" y="1899841"/>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DD6A3"/>
                </a:solidFill>
                <a:latin typeface="IBM Plex Sans" pitchFamily="34" charset="0"/>
                <a:ea typeface="IBM Plex Sans" pitchFamily="34" charset="-122"/>
                <a:cs typeface="IBM Plex Sans" pitchFamily="34" charset="-120"/>
              </a:rPr>
              <a:t>Menyambung</a:t>
            </a:r>
            <a:endParaRPr lang="en-US" sz="1500" dirty="0"/>
          </a:p>
        </p:txBody>
      </p:sp>
      <p:sp>
        <p:nvSpPr>
          <p:cNvPr id="7" name="Text 4"/>
          <p:cNvSpPr/>
          <p:nvPr/>
        </p:nvSpPr>
        <p:spPr>
          <a:xfrm>
            <a:off x="8280400" y="2191941"/>
            <a:ext cx="29824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App RemoteXY → tambah perangkat → </a:t>
            </a:r>
            <a:r>
              <a:rPr lang="en-US" sz="1200" b="1" dirty="0">
                <a:solidFill>
                  <a:srgbClr val="C9D4DC"/>
                </a:solidFill>
                <a:latin typeface="IBM Plex Sans" pitchFamily="34" charset="0"/>
                <a:ea typeface="IBM Plex Sans" pitchFamily="34" charset="-122"/>
                <a:cs typeface="IBM Plex Sans" pitchFamily="34" charset="-120"/>
              </a:rPr>
              <a:t>Bluetooth BLE</a:t>
            </a:r>
            <a:r>
              <a:rPr lang="en-US" sz="1200" dirty="0">
                <a:solidFill>
                  <a:srgbClr val="C9D4DC"/>
                </a:solidFill>
                <a:latin typeface="IBM Plex Sans" pitchFamily="34" charset="0"/>
                <a:ea typeface="IBM Plex Sans" pitchFamily="34" charset="-122"/>
                <a:cs typeface="IBM Plex Sans" pitchFamily="34" charset="-120"/>
              </a:rPr>
              <a:t> → pilih “CAIR”</a:t>
            </a:r>
            <a:endParaRPr lang="en-US" sz="1200" dirty="0"/>
          </a:p>
        </p:txBody>
      </p:sp>
      <p:sp>
        <p:nvSpPr>
          <p:cNvPr id="8" name="Shape 5"/>
          <p:cNvSpPr/>
          <p:nvPr/>
        </p:nvSpPr>
        <p:spPr>
          <a:xfrm>
            <a:off x="8080375" y="2913856"/>
            <a:ext cx="3295650" cy="1294011"/>
          </a:xfrm>
          <a:prstGeom prst="roundRect">
            <a:avLst>
              <a:gd name="adj" fmla="val 9569"/>
            </a:avLst>
          </a:prstGeom>
          <a:solidFill>
            <a:srgbClr val="FFFFFF"/>
          </a:solidFill>
          <a:ln w="6350">
            <a:solidFill>
              <a:srgbClr val="DDE3E0"/>
            </a:solidFill>
            <a:prstDash val="solid"/>
          </a:ln>
        </p:spPr>
      </p:sp>
      <p:sp>
        <p:nvSpPr>
          <p:cNvPr id="9" name="Text 6"/>
          <p:cNvSpPr/>
          <p:nvPr/>
        </p:nvSpPr>
        <p:spPr>
          <a:xfrm>
            <a:off x="8286750" y="3094831"/>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Mengubah GUI</a:t>
            </a:r>
            <a:endParaRPr lang="en-US" sz="1500" dirty="0"/>
          </a:p>
        </p:txBody>
      </p:sp>
      <p:sp>
        <p:nvSpPr>
          <p:cNvPr id="10" name="Text 7"/>
          <p:cNvSpPr/>
          <p:nvPr/>
        </p:nvSpPr>
        <p:spPr>
          <a:xfrm>
            <a:off x="8286750" y="3386931"/>
            <a:ext cx="29693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Generate ulang di editor, ganti </a:t>
            </a:r>
            <a:r>
              <a:rPr lang="en-US" sz="1200" b="1" dirty="0">
                <a:solidFill>
                  <a:srgbClr val="4A5568"/>
                </a:solidFill>
                <a:latin typeface="IBM Plex Sans" pitchFamily="34" charset="0"/>
                <a:ea typeface="IBM Plex Sans" pitchFamily="34" charset="-122"/>
                <a:cs typeface="IBM Plex Sans" pitchFamily="34" charset="-120"/>
              </a:rPr>
              <a:t>CONF dan struct sekaligus</a:t>
            </a:r>
            <a:r>
              <a:rPr lang="en-US" sz="1200" dirty="0">
                <a:solidFill>
                  <a:srgbClr val="4A5568"/>
                </a:solidFill>
                <a:latin typeface="IBM Plex Sans" pitchFamily="34" charset="0"/>
                <a:ea typeface="IBM Plex Sans" pitchFamily="34" charset="-122"/>
                <a:cs typeface="IBM Plex Sans" pitchFamily="34" charset="-120"/>
              </a:rPr>
              <a:t> di include/remotexy_gui.h.</a:t>
            </a:r>
            <a:endParaRPr lang="en-US" sz="1200" dirty="0"/>
          </a:p>
        </p:txBody>
      </p:sp>
      <p:sp>
        <p:nvSpPr>
          <p:cNvPr id="11" name="Shape 8"/>
          <p:cNvSpPr/>
          <p:nvPr/>
        </p:nvSpPr>
        <p:spPr>
          <a:xfrm>
            <a:off x="8080375" y="4328517"/>
            <a:ext cx="3295650" cy="1080691"/>
          </a:xfrm>
          <a:prstGeom prst="roundRect">
            <a:avLst>
              <a:gd name="adj" fmla="val 11458"/>
            </a:avLst>
          </a:prstGeom>
          <a:solidFill>
            <a:srgbClr val="FFFFFF"/>
          </a:solidFill>
          <a:ln w="6350">
            <a:solidFill>
              <a:srgbClr val="DDE3E0"/>
            </a:solidFill>
            <a:prstDash val="solid"/>
          </a:ln>
        </p:spPr>
      </p:sp>
      <p:sp>
        <p:nvSpPr>
          <p:cNvPr id="12" name="Text 9"/>
          <p:cNvSpPr/>
          <p:nvPr/>
        </p:nvSpPr>
        <p:spPr>
          <a:xfrm>
            <a:off x="8286750" y="4509492"/>
            <a:ext cx="29693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8530C"/>
                </a:solidFill>
                <a:latin typeface="IBM Plex Sans" pitchFamily="34" charset="0"/>
                <a:ea typeface="IBM Plex Sans" pitchFamily="34" charset="-122"/>
                <a:cs typeface="IBM Plex Sans" pitchFamily="34" charset="-120"/>
              </a:rPr>
              <a:t>Catatan</a:t>
            </a:r>
            <a:endParaRPr lang="en-US" sz="1500" dirty="0"/>
          </a:p>
        </p:txBody>
      </p:sp>
      <p:sp>
        <p:nvSpPr>
          <p:cNvPr id="13" name="Text 10"/>
          <p:cNvSpPr/>
          <p:nvPr/>
        </p:nvSpPr>
        <p:spPr>
          <a:xfrm>
            <a:off x="8286750" y="4801592"/>
            <a:ext cx="296938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ESP32-S3 hanya punya BLE. GUI ini butuh lisensi PRO di app.</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04 · KONEKTIVITAS</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Dashboard web: dua cara masuk</a:t>
            </a:r>
            <a:endParaRPr lang="en-US" sz="3200" dirty="0"/>
          </a:p>
        </p:txBody>
      </p:sp>
      <p:pic>
        <p:nvPicPr>
          <p:cNvPr id="4" name="Image 0" descr="Tampilan dashboard web CAIR di HP: PM2.5 22.4 kategori Bahaya, saran, dan nilai lingkungan">    </p:cNvPr>
          <p:cNvPicPr>
            <a:picLocks noChangeAspect="1"/>
          </p:cNvPicPr>
          <p:nvPr/>
        </p:nvPicPr>
        <p:blipFill>
          <a:blip r:embed="rId1"/>
          <a:srcRect l="1282" r="1282" t="0" b="0"/>
          <a:stretch/>
        </p:blipFill>
        <p:spPr>
          <a:xfrm>
            <a:off x="863600" y="1772841"/>
            <a:ext cx="1930400" cy="3962400"/>
          </a:xfrm>
          <a:prstGeom prst="roundRect">
            <a:avLst>
              <a:gd name="adj" fmla="val 6579"/>
            </a:avLst>
          </a:prstGeom>
        </p:spPr>
      </p:pic>
      <p:sp>
        <p:nvSpPr>
          <p:cNvPr id="5" name="Shape 2"/>
          <p:cNvSpPr/>
          <p:nvPr/>
        </p:nvSpPr>
        <p:spPr>
          <a:xfrm>
            <a:off x="838200" y="1747441"/>
            <a:ext cx="1981200" cy="4013200"/>
          </a:xfrm>
          <a:prstGeom prst="roundRect">
            <a:avLst>
              <a:gd name="adj" fmla="val 7692"/>
            </a:avLst>
          </a:prstGeom>
          <a:noFill/>
          <a:ln w="50800">
            <a:solidFill>
              <a:srgbClr val="0F1B24"/>
            </a:solidFill>
            <a:prstDash val="solid"/>
          </a:ln>
        </p:spPr>
      </p:sp>
      <p:sp>
        <p:nvSpPr>
          <p:cNvPr id="6" name="Shape 3"/>
          <p:cNvSpPr/>
          <p:nvPr/>
        </p:nvSpPr>
        <p:spPr>
          <a:xfrm>
            <a:off x="3203575" y="1725216"/>
            <a:ext cx="8172450" cy="900311"/>
          </a:xfrm>
          <a:prstGeom prst="roundRect">
            <a:avLst>
              <a:gd name="adj" fmla="val 13754"/>
            </a:avLst>
          </a:prstGeom>
          <a:solidFill>
            <a:srgbClr val="FFFFFF"/>
          </a:solidFill>
          <a:ln w="6350">
            <a:solidFill>
              <a:srgbClr val="DDE3E0"/>
            </a:solidFill>
            <a:prstDash val="solid"/>
          </a:ln>
        </p:spPr>
      </p:sp>
      <p:sp>
        <p:nvSpPr>
          <p:cNvPr id="7" name="Text 4"/>
          <p:cNvSpPr/>
          <p:nvPr/>
        </p:nvSpPr>
        <p:spPr>
          <a:xfrm>
            <a:off x="3409950" y="1906191"/>
            <a:ext cx="79924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33"/>
                </a:solidFill>
                <a:latin typeface="IBM Plex Sans" pitchFamily="34" charset="0"/>
                <a:ea typeface="IBM Plex Sans" pitchFamily="34" charset="-122"/>
                <a:cs typeface="IBM Plex Sans" pitchFamily="34" charset="-120"/>
              </a:rPr>
              <a:t>A · Hotspot alat (tanpa router)</a:t>
            </a:r>
            <a:endParaRPr lang="en-US" sz="1600" dirty="0"/>
          </a:p>
        </p:txBody>
      </p:sp>
      <p:sp>
        <p:nvSpPr>
          <p:cNvPr id="8" name="Text 5"/>
          <p:cNvSpPr/>
          <p:nvPr/>
        </p:nvSpPr>
        <p:spPr>
          <a:xfrm>
            <a:off x="3409950" y="2213471"/>
            <a:ext cx="79924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WiFi HP → </a:t>
            </a:r>
            <a:r>
              <a:rPr lang="en-US" sz="1300" b="1" dirty="0">
                <a:solidFill>
                  <a:srgbClr val="4A5568"/>
                </a:solidFill>
                <a:latin typeface="IBM Plex Sans" pitchFamily="34" charset="0"/>
                <a:ea typeface="IBM Plex Sans" pitchFamily="34" charset="-122"/>
                <a:cs typeface="IBM Plex Sans" pitchFamily="34" charset="-120"/>
              </a:rPr>
              <a:t>CAIR-XXXX</a:t>
            </a:r>
            <a:r>
              <a:rPr lang="en-US" sz="1300" dirty="0">
                <a:solidFill>
                  <a:srgbClr val="4A5568"/>
                </a:solidFill>
                <a:latin typeface="IBM Plex Sans" pitchFamily="34" charset="0"/>
                <a:ea typeface="IBM Plex Sans" pitchFamily="34" charset="-122"/>
                <a:cs typeface="IBM Plex Sans" pitchFamily="34" charset="-120"/>
              </a:rPr>
              <a:t>, password </a:t>
            </a:r>
            <a:r>
              <a:rPr lang="en-US" sz="1300" b="1" dirty="0">
                <a:solidFill>
                  <a:srgbClr val="4A5568"/>
                </a:solidFill>
                <a:latin typeface="IBM Plex Sans" pitchFamily="34" charset="0"/>
                <a:ea typeface="IBM Plex Sans" pitchFamily="34" charset="-122"/>
                <a:cs typeface="IBM Plex Sans" pitchFamily="34" charset="-120"/>
              </a:rPr>
              <a:t>cair1234</a:t>
            </a:r>
            <a:r>
              <a:rPr lang="en-US" sz="1300" dirty="0">
                <a:solidFill>
                  <a:srgbClr val="4A5568"/>
                </a:solidFill>
                <a:latin typeface="IBM Plex Sans" pitchFamily="34" charset="0"/>
                <a:ea typeface="IBM Plex Sans" pitchFamily="34" charset="-122"/>
                <a:cs typeface="IBM Plex Sans" pitchFamily="34" charset="-120"/>
              </a:rPr>
              <a:t>. Halaman terbuka otomatis, atau buka </a:t>
            </a:r>
            <a:r>
              <a:rPr lang="en-US" sz="1300" dirty="0">
                <a:solidFill>
                  <a:srgbClr val="0B7A5A"/>
                </a:solidFill>
                <a:latin typeface="IBM Plex Sans" pitchFamily="34" charset="0"/>
                <a:ea typeface="IBM Plex Sans" pitchFamily="34" charset="-122"/>
                <a:cs typeface="IBM Plex Sans" pitchFamily="34" charset="-120"/>
              </a:rPr>
              <a:t>192.168.4.1</a:t>
            </a:r>
            <a:endParaRPr lang="en-US" sz="1300" dirty="0"/>
          </a:p>
        </p:txBody>
      </p:sp>
      <p:sp>
        <p:nvSpPr>
          <p:cNvPr id="9" name="Shape 6"/>
          <p:cNvSpPr/>
          <p:nvPr/>
        </p:nvSpPr>
        <p:spPr>
          <a:xfrm>
            <a:off x="3203575" y="2771577"/>
            <a:ext cx="8172450" cy="900311"/>
          </a:xfrm>
          <a:prstGeom prst="roundRect">
            <a:avLst>
              <a:gd name="adj" fmla="val 13754"/>
            </a:avLst>
          </a:prstGeom>
          <a:solidFill>
            <a:srgbClr val="FFFFFF"/>
          </a:solidFill>
          <a:ln w="6350">
            <a:solidFill>
              <a:srgbClr val="DDE3E0"/>
            </a:solidFill>
            <a:prstDash val="solid"/>
          </a:ln>
        </p:spPr>
      </p:sp>
      <p:sp>
        <p:nvSpPr>
          <p:cNvPr id="10" name="Text 7"/>
          <p:cNvSpPr/>
          <p:nvPr/>
        </p:nvSpPr>
        <p:spPr>
          <a:xfrm>
            <a:off x="3409950" y="2952552"/>
            <a:ext cx="79924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33"/>
                </a:solidFill>
                <a:latin typeface="IBM Plex Sans" pitchFamily="34" charset="0"/>
                <a:ea typeface="IBM Plex Sans" pitchFamily="34" charset="-122"/>
                <a:cs typeface="IBM Plex Sans" pitchFamily="34" charset="-120"/>
              </a:rPr>
              <a:t>B · Lewat WiFi sekolah/rumah</a:t>
            </a:r>
            <a:endParaRPr lang="en-US" sz="1600" dirty="0"/>
          </a:p>
        </p:txBody>
      </p:sp>
      <p:sp>
        <p:nvSpPr>
          <p:cNvPr id="11" name="Text 8"/>
          <p:cNvSpPr/>
          <p:nvPr/>
        </p:nvSpPr>
        <p:spPr>
          <a:xfrm>
            <a:off x="3409950" y="3259832"/>
            <a:ext cx="79924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Menu </a:t>
            </a:r>
            <a:r>
              <a:rPr lang="en-US" sz="1300" b="1" dirty="0">
                <a:solidFill>
                  <a:srgbClr val="4A5568"/>
                </a:solidFill>
                <a:latin typeface="IBM Plex Sans" pitchFamily="34" charset="0"/>
                <a:ea typeface="IBM Plex Sans" pitchFamily="34" charset="-122"/>
                <a:cs typeface="IBM Plex Sans" pitchFamily="34" charset="-120"/>
              </a:rPr>
              <a:t>WiFi &amp; koneksi</a:t>
            </a:r>
            <a:r>
              <a:rPr lang="en-US" sz="1300" dirty="0">
                <a:solidFill>
                  <a:srgbClr val="4A5568"/>
                </a:solidFill>
                <a:latin typeface="IBM Plex Sans" pitchFamily="34" charset="0"/>
                <a:ea typeface="IBM Plex Sans" pitchFamily="34" charset="-122"/>
                <a:cs typeface="IBM Plex Sans" pitchFamily="34" charset="-120"/>
              </a:rPr>
              <a:t> → Cari jaringan → Sambungkan. Lalu buka </a:t>
            </a:r>
            <a:r>
              <a:rPr lang="en-US" sz="1300" dirty="0">
                <a:solidFill>
                  <a:srgbClr val="0B7A5A"/>
                </a:solidFill>
                <a:latin typeface="IBM Plex Sans" pitchFamily="34" charset="0"/>
                <a:ea typeface="IBM Plex Sans" pitchFamily="34" charset="-122"/>
                <a:cs typeface="IBM Plex Sans" pitchFamily="34" charset="-120"/>
              </a:rPr>
              <a:t>cair.local</a:t>
            </a:r>
            <a:r>
              <a:rPr lang="en-US" sz="1300" dirty="0">
                <a:solidFill>
                  <a:srgbClr val="4A5568"/>
                </a:solidFill>
                <a:latin typeface="IBM Plex Sans" pitchFamily="34" charset="0"/>
                <a:ea typeface="IBM Plex Sans" pitchFamily="34" charset="-122"/>
                <a:cs typeface="IBM Plex Sans" pitchFamily="34" charset="-120"/>
              </a:rPr>
              <a:t> atau IP di log.</a:t>
            </a:r>
            <a:endParaRPr lang="en-US" sz="1300" dirty="0"/>
          </a:p>
        </p:txBody>
      </p:sp>
      <p:sp>
        <p:nvSpPr>
          <p:cNvPr id="12" name="Shape 9"/>
          <p:cNvSpPr/>
          <p:nvPr/>
        </p:nvSpPr>
        <p:spPr>
          <a:xfrm>
            <a:off x="3200400" y="3814763"/>
            <a:ext cx="8178800" cy="876201"/>
          </a:xfrm>
          <a:prstGeom prst="roundRect">
            <a:avLst>
              <a:gd name="adj" fmla="val 14494"/>
            </a:avLst>
          </a:prstGeom>
          <a:solidFill>
            <a:srgbClr val="0F1B24"/>
          </a:solidFill>
          <a:ln/>
        </p:spPr>
      </p:sp>
      <p:sp>
        <p:nvSpPr>
          <p:cNvPr id="13" name="Text 10"/>
          <p:cNvSpPr/>
          <p:nvPr/>
        </p:nvSpPr>
        <p:spPr>
          <a:xfrm>
            <a:off x="3403600" y="3992563"/>
            <a:ext cx="80055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Isi halaman</a:t>
            </a:r>
            <a:endParaRPr lang="en-US" sz="1600" dirty="0"/>
          </a:p>
        </p:txBody>
      </p:sp>
      <p:sp>
        <p:nvSpPr>
          <p:cNvPr id="14" name="Text 11"/>
          <p:cNvSpPr/>
          <p:nvPr/>
        </p:nvSpPr>
        <p:spPr>
          <a:xfrm>
            <a:off x="3403600" y="4299843"/>
            <a:ext cx="8005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Nilai sensor real-time · saran otomatis · kontrol kipas · grafik 2 jam · unduh CSV · pengaturan batas</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04 · WEB EMBED</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Halaman web ikut tertanam di firmware</a:t>
            </a:r>
            <a:endParaRPr lang="en-US" sz="3200" dirty="0"/>
          </a:p>
        </p:txBody>
      </p:sp>
      <p:sp>
        <p:nvSpPr>
          <p:cNvPr id="4" name="Shape 2"/>
          <p:cNvSpPr/>
          <p:nvPr/>
        </p:nvSpPr>
        <p:spPr>
          <a:xfrm>
            <a:off x="815975" y="1725216"/>
            <a:ext cx="2409825" cy="951111"/>
          </a:xfrm>
          <a:prstGeom prst="roundRect">
            <a:avLst>
              <a:gd name="adj" fmla="val 10348"/>
            </a:avLst>
          </a:prstGeom>
          <a:solidFill>
            <a:srgbClr val="FFFFFF"/>
          </a:solidFill>
          <a:ln w="6350">
            <a:solidFill>
              <a:srgbClr val="DDE3E0"/>
            </a:solidFill>
            <a:prstDash val="solid"/>
          </a:ln>
        </p:spPr>
      </p:sp>
      <p:sp>
        <p:nvSpPr>
          <p:cNvPr id="5" name="Text 3"/>
          <p:cNvSpPr/>
          <p:nvPr/>
        </p:nvSpPr>
        <p:spPr>
          <a:xfrm>
            <a:off x="971550" y="188079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A"/>
                </a:solidFill>
                <a:latin typeface="JetBrains Mono" pitchFamily="49" charset="0"/>
                <a:ea typeface="JetBrains Mono" pitchFamily="49" charset="-122"/>
                <a:cs typeface="JetBrains Mono" pitchFamily="49" charset="-120"/>
              </a:rPr>
              <a:t>web/index.html</a:t>
            </a:r>
            <a:endParaRPr lang="en-US" sz="1200" dirty="0"/>
          </a:p>
        </p:txBody>
      </p:sp>
      <p:sp>
        <p:nvSpPr>
          <p:cNvPr id="6" name="Text 4"/>
          <p:cNvSpPr/>
          <p:nvPr/>
        </p:nvSpPr>
        <p:spPr>
          <a:xfrm>
            <a:off x="971550" y="209411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HTML+CSS+JS, 22 KB</a:t>
            </a:r>
            <a:endParaRPr lang="en-US" sz="1200" dirty="0"/>
          </a:p>
        </p:txBody>
      </p:sp>
      <p:pic>
        <p:nvPicPr>
          <p:cNvPr id="7" name="Image 0" descr="connector">    </p:cNvPr>
          <p:cNvPicPr>
            <a:picLocks noChangeAspect="1"/>
          </p:cNvPicPr>
          <p:nvPr/>
        </p:nvPicPr>
        <p:blipFill>
          <a:blip r:embed="rId1"/>
          <a:srcRect l="0" r="0" t="0" b="0"/>
          <a:stretch/>
        </p:blipFill>
        <p:spPr>
          <a:xfrm>
            <a:off x="3228975" y="2149971"/>
            <a:ext cx="304800" cy="101600"/>
          </a:xfrm>
          <a:prstGeom prst="rect">
            <a:avLst/>
          </a:prstGeom>
        </p:spPr>
      </p:pic>
      <p:sp>
        <p:nvSpPr>
          <p:cNvPr id="8" name="Shape 5"/>
          <p:cNvSpPr/>
          <p:nvPr/>
        </p:nvSpPr>
        <p:spPr>
          <a:xfrm>
            <a:off x="3536950" y="1725216"/>
            <a:ext cx="2409825" cy="951111"/>
          </a:xfrm>
          <a:prstGeom prst="roundRect">
            <a:avLst>
              <a:gd name="adj" fmla="val 10348"/>
            </a:avLst>
          </a:prstGeom>
          <a:solidFill>
            <a:srgbClr val="FFFFFF"/>
          </a:solidFill>
          <a:ln w="6350">
            <a:solidFill>
              <a:srgbClr val="DDE3E0"/>
            </a:solidFill>
            <a:prstDash val="solid"/>
          </a:ln>
        </p:spPr>
      </p:sp>
      <p:sp>
        <p:nvSpPr>
          <p:cNvPr id="9" name="Text 6"/>
          <p:cNvSpPr/>
          <p:nvPr/>
        </p:nvSpPr>
        <p:spPr>
          <a:xfrm>
            <a:off x="3692525" y="188079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A"/>
                </a:solidFill>
                <a:latin typeface="JetBrains Mono" pitchFamily="49" charset="0"/>
                <a:ea typeface="JetBrains Mono" pitchFamily="49" charset="-122"/>
                <a:cs typeface="JetBrains Mono" pitchFamily="49" charset="-120"/>
              </a:rPr>
              <a:t>embed_web.py</a:t>
            </a:r>
            <a:endParaRPr lang="en-US" sz="1200" dirty="0"/>
          </a:p>
        </p:txBody>
      </p:sp>
      <p:sp>
        <p:nvSpPr>
          <p:cNvPr id="10" name="Text 7"/>
          <p:cNvSpPr/>
          <p:nvPr/>
        </p:nvSpPr>
        <p:spPr>
          <a:xfrm>
            <a:off x="3692525" y="2094111"/>
            <a:ext cx="2161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gzip → 8 KB, otomatis saat build</a:t>
            </a:r>
            <a:endParaRPr lang="en-US" sz="1200" dirty="0"/>
          </a:p>
        </p:txBody>
      </p:sp>
      <p:pic>
        <p:nvPicPr>
          <p:cNvPr id="11" name="Image 1" descr="connector">    </p:cNvPr>
          <p:cNvPicPr>
            <a:picLocks noChangeAspect="1"/>
          </p:cNvPicPr>
          <p:nvPr/>
        </p:nvPicPr>
        <p:blipFill>
          <a:blip r:embed="rId2"/>
          <a:srcRect l="0" r="0" t="0" b="0"/>
          <a:stretch/>
        </p:blipFill>
        <p:spPr>
          <a:xfrm>
            <a:off x="5949950" y="2149971"/>
            <a:ext cx="304800" cy="101600"/>
          </a:xfrm>
          <a:prstGeom prst="rect">
            <a:avLst/>
          </a:prstGeom>
        </p:spPr>
      </p:pic>
      <p:sp>
        <p:nvSpPr>
          <p:cNvPr id="12" name="Shape 8"/>
          <p:cNvSpPr/>
          <p:nvPr/>
        </p:nvSpPr>
        <p:spPr>
          <a:xfrm>
            <a:off x="6257925" y="1725216"/>
            <a:ext cx="2409825" cy="951111"/>
          </a:xfrm>
          <a:prstGeom prst="roundRect">
            <a:avLst>
              <a:gd name="adj" fmla="val 10348"/>
            </a:avLst>
          </a:prstGeom>
          <a:solidFill>
            <a:srgbClr val="FFFFFF"/>
          </a:solidFill>
          <a:ln w="6350">
            <a:solidFill>
              <a:srgbClr val="DDE3E0"/>
            </a:solidFill>
            <a:prstDash val="solid"/>
          </a:ln>
        </p:spPr>
      </p:sp>
      <p:sp>
        <p:nvSpPr>
          <p:cNvPr id="13" name="Text 9"/>
          <p:cNvSpPr/>
          <p:nvPr/>
        </p:nvSpPr>
        <p:spPr>
          <a:xfrm>
            <a:off x="6413500" y="188079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A"/>
                </a:solidFill>
                <a:latin typeface="JetBrains Mono" pitchFamily="49" charset="0"/>
                <a:ea typeface="JetBrains Mono" pitchFamily="49" charset="-122"/>
                <a:cs typeface="JetBrains Mono" pitchFamily="49" charset="-120"/>
              </a:rPr>
              <a:t>web_index.h</a:t>
            </a:r>
            <a:endParaRPr lang="en-US" sz="1200" dirty="0"/>
          </a:p>
        </p:txBody>
      </p:sp>
      <p:sp>
        <p:nvSpPr>
          <p:cNvPr id="14" name="Text 10"/>
          <p:cNvSpPr/>
          <p:nvPr/>
        </p:nvSpPr>
        <p:spPr>
          <a:xfrm>
            <a:off x="6413500" y="209411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array byte di flash</a:t>
            </a:r>
            <a:endParaRPr lang="en-US" sz="1200" dirty="0"/>
          </a:p>
        </p:txBody>
      </p:sp>
      <p:pic>
        <p:nvPicPr>
          <p:cNvPr id="15" name="Image 2" descr="connector">    </p:cNvPr>
          <p:cNvPicPr>
            <a:picLocks noChangeAspect="1"/>
          </p:cNvPicPr>
          <p:nvPr/>
        </p:nvPicPr>
        <p:blipFill>
          <a:blip r:embed="rId3"/>
          <a:srcRect l="0" r="0" t="0" b="0"/>
          <a:stretch/>
        </p:blipFill>
        <p:spPr>
          <a:xfrm>
            <a:off x="8670925" y="2149971"/>
            <a:ext cx="304800" cy="101600"/>
          </a:xfrm>
          <a:prstGeom prst="rect">
            <a:avLst/>
          </a:prstGeom>
        </p:spPr>
      </p:pic>
      <p:sp>
        <p:nvSpPr>
          <p:cNvPr id="16" name="Shape 11"/>
          <p:cNvSpPr/>
          <p:nvPr/>
        </p:nvSpPr>
        <p:spPr>
          <a:xfrm>
            <a:off x="8975725" y="1722041"/>
            <a:ext cx="2403475" cy="957461"/>
          </a:xfrm>
          <a:prstGeom prst="roundRect">
            <a:avLst>
              <a:gd name="adj" fmla="val 10611"/>
            </a:avLst>
          </a:prstGeom>
          <a:solidFill>
            <a:srgbClr val="0F1B24"/>
          </a:solidFill>
          <a:ln/>
        </p:spPr>
      </p:sp>
      <p:sp>
        <p:nvSpPr>
          <p:cNvPr id="17" name="Text 12"/>
          <p:cNvSpPr/>
          <p:nvPr/>
        </p:nvSpPr>
        <p:spPr>
          <a:xfrm>
            <a:off x="9128125" y="1874441"/>
            <a:ext cx="2161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A3"/>
                </a:solidFill>
                <a:latin typeface="JetBrains Mono" pitchFamily="49" charset="0"/>
                <a:ea typeface="JetBrains Mono" pitchFamily="49" charset="-122"/>
                <a:cs typeface="JetBrains Mono" pitchFamily="49" charset="-120"/>
              </a:rPr>
              <a:t>GET /</a:t>
            </a:r>
            <a:endParaRPr lang="en-US" sz="1200" dirty="0"/>
          </a:p>
        </p:txBody>
      </p:sp>
      <p:sp>
        <p:nvSpPr>
          <p:cNvPr id="18" name="Text 13"/>
          <p:cNvSpPr/>
          <p:nvPr/>
        </p:nvSpPr>
        <p:spPr>
          <a:xfrm>
            <a:off x="9128125" y="2087761"/>
            <a:ext cx="2161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dikirim + header gzip, browser membuka</a:t>
            </a:r>
            <a:endParaRPr lang="en-US" sz="1200" dirty="0"/>
          </a:p>
        </p:txBody>
      </p:sp>
      <p:sp>
        <p:nvSpPr>
          <p:cNvPr id="19" name="Text 14"/>
          <p:cNvSpPr/>
          <p:nvPr/>
        </p:nvSpPr>
        <p:spPr>
          <a:xfrm>
            <a:off x="812800" y="2933502"/>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Tanpa upload file terpisah</a:t>
            </a:r>
            <a:endParaRPr lang="en-US" sz="1500" dirty="0"/>
          </a:p>
        </p:txBody>
      </p:sp>
      <p:sp>
        <p:nvSpPr>
          <p:cNvPr id="20" name="Text 15"/>
          <p:cNvSpPr/>
          <p:nvPr/>
        </p:nvSpPr>
        <p:spPr>
          <a:xfrm>
            <a:off x="812800" y="322560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Cukup satu kali upload firmware; tidak perlu LittleFS/SPIFFS.</a:t>
            </a:r>
            <a:endParaRPr lang="en-US" sz="1200" dirty="0"/>
          </a:p>
        </p:txBody>
      </p:sp>
      <p:sp>
        <p:nvSpPr>
          <p:cNvPr id="21" name="Text 16"/>
          <p:cNvSpPr/>
          <p:nvPr/>
        </p:nvSpPr>
        <p:spPr>
          <a:xfrm>
            <a:off x="4394200" y="2933502"/>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Tanpa internet</a:t>
            </a:r>
            <a:endParaRPr lang="en-US" sz="1500" dirty="0"/>
          </a:p>
        </p:txBody>
      </p:sp>
      <p:sp>
        <p:nvSpPr>
          <p:cNvPr id="22" name="Text 17"/>
          <p:cNvSpPr/>
          <p:nvPr/>
        </p:nvSpPr>
        <p:spPr>
          <a:xfrm>
            <a:off x="4394200" y="322560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Tidak memakai CDN atau font online, jadi jalan di hotspot alat.</a:t>
            </a:r>
            <a:endParaRPr lang="en-US" sz="1200" dirty="0"/>
          </a:p>
        </p:txBody>
      </p:sp>
      <p:sp>
        <p:nvSpPr>
          <p:cNvPr id="23" name="Text 18"/>
          <p:cNvSpPr/>
          <p:nvPr/>
        </p:nvSpPr>
        <p:spPr>
          <a:xfrm>
            <a:off x="7975600" y="2933502"/>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A33"/>
                </a:solidFill>
                <a:latin typeface="IBM Plex Sans" pitchFamily="34" charset="0"/>
                <a:ea typeface="IBM Plex Sans" pitchFamily="34" charset="-122"/>
                <a:cs typeface="IBM Plex Sans" pitchFamily="34" charset="-120"/>
              </a:rPr>
              <a:t>Data lewat API</a:t>
            </a:r>
            <a:endParaRPr lang="en-US" sz="1500" dirty="0"/>
          </a:p>
        </p:txBody>
      </p:sp>
      <p:sp>
        <p:nvSpPr>
          <p:cNvPr id="24" name="Text 19"/>
          <p:cNvSpPr/>
          <p:nvPr/>
        </p:nvSpPr>
        <p:spPr>
          <a:xfrm>
            <a:off x="7975600" y="322560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Halaman meminta /api/status tiap 1 s (JSON), lalu menggambar ulang.</a:t>
            </a:r>
            <a:endParaRPr lang="en-US" sz="1200" dirty="0"/>
          </a:p>
        </p:txBody>
      </p:sp>
      <p:sp>
        <p:nvSpPr>
          <p:cNvPr id="25" name="Text 20"/>
          <p:cNvSpPr/>
          <p:nvPr/>
        </p:nvSpPr>
        <p:spPr>
          <a:xfrm>
            <a:off x="812800" y="390624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Mau ubah tampilan? Edit </a:t>
            </a:r>
            <a:r>
              <a:rPr lang="en-US" sz="1300" b="1" dirty="0">
                <a:solidFill>
                  <a:srgbClr val="4A5568"/>
                </a:solidFill>
                <a:latin typeface="IBM Plex Sans" pitchFamily="34" charset="0"/>
                <a:ea typeface="IBM Plex Sans" pitchFamily="34" charset="-122"/>
                <a:cs typeface="IBM Plex Sans" pitchFamily="34" charset="-120"/>
              </a:rPr>
              <a:t>web/index.html</a:t>
            </a:r>
            <a:r>
              <a:rPr lang="en-US" sz="1300" dirty="0">
                <a:solidFill>
                  <a:srgbClr val="4A5568"/>
                </a:solidFill>
                <a:latin typeface="IBM Plex Sans" pitchFamily="34" charset="0"/>
                <a:ea typeface="IBM Plex Sans" pitchFamily="34" charset="-122"/>
                <a:cs typeface="IBM Plex Sans" pitchFamily="34" charset="-120"/>
              </a:rPr>
              <a:t>, lalu build &amp; upload seperti biasa. Jangan edit web_index.h.</a:t>
            </a:r>
            <a:endParaRPr lang="en-US" sz="1300" dirty="0"/>
          </a:p>
        </p:txBody>
      </p:sp>
      <p:sp>
        <p:nvSpPr>
          <p:cNvPr id="26"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04 · WEB EMBED</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REST API di balik halaman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7708900" cy="3114675"/>
        </p:xfrm>
        <a:graphic>
          <a:graphicData uri="http://schemas.openxmlformats.org/drawingml/2006/table">
            <a:tbl>
              <a:tblPr/>
              <a:tblGrid>
                <a:gridCol w="1079246"/>
                <a:gridCol w="3083560"/>
                <a:gridCol w="3546094"/>
              </a:tblGrid>
              <a:tr h="346075">
                <a:tc>
                  <a:txBody>
                    <a:bodyPr/>
                    <a:lstStyle/>
                    <a:p>
                      <a:pPr indent="0" marL="0">
                        <a:lnSpc>
                          <a:spcPts val="1750"/>
                        </a:lnSpc>
                        <a:buNone/>
                      </a:pPr>
                      <a:r>
                        <a:rPr lang="en-US" sz="1250" b="1" dirty="0">
                          <a:solidFill>
                            <a:srgbClr val="1E2A33"/>
                          </a:solidFill>
                          <a:latin typeface="IBM Plex Sans" pitchFamily="34" charset="0"/>
                          <a:ea typeface="IBM Plex Sans" pitchFamily="34" charset="-122"/>
                          <a:cs typeface="IBM Plex Sans" pitchFamily="34" charset="-120"/>
                        </a:rPr>
                        <a:t>Metode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750"/>
                        </a:lnSpc>
                        <a:buNone/>
                      </a:pPr>
                      <a:r>
                        <a:rPr lang="en-US" sz="1250" b="1" dirty="0">
                          <a:solidFill>
                            <a:srgbClr val="1E2A33"/>
                          </a:solidFill>
                          <a:latin typeface="IBM Plex Sans" pitchFamily="34" charset="0"/>
                          <a:ea typeface="IBM Plex Sans" pitchFamily="34" charset="-122"/>
                          <a:cs typeface="IBM Plex Sans" pitchFamily="34" charset="-120"/>
                        </a:rPr>
                        <a:t>Alamat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750"/>
                        </a:lnSpc>
                        <a:buNone/>
                      </a:pPr>
                      <a:r>
                        <a:rPr lang="en-US" sz="1250" b="1" dirty="0">
                          <a:solidFill>
                            <a:srgbClr val="1E2A33"/>
                          </a:solidFill>
                          <a:latin typeface="IBM Plex Sans" pitchFamily="34" charset="0"/>
                          <a:ea typeface="IBM Plex Sans" pitchFamily="34" charset="-122"/>
                          <a:cs typeface="IBM Plex Sans" pitchFamily="34" charset="-120"/>
                        </a:rPr>
                        <a:t>Fungsi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/api/status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semua nilai, JSON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POST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/api/mode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mode=auto | fixed | pot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POST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/api/fan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duty=0…100 (ke Manual)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GET · POST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/api/config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batas &amp; duty otomatis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/api/history</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riwayat 2 jam, JSON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/api/history.csv</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unduh data untuk paper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/api/wifi/scan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cari jaringan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46075">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POST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/api/wifi</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750"/>
                        </a:lnSpc>
                        <a:buNone/>
                      </a:pPr>
                      <a:r>
                        <a:rPr lang="en-US" sz="1250" dirty="0">
                          <a:solidFill>
                            <a:srgbClr val="1E2A33"/>
                          </a:solidFill>
                          <a:latin typeface="IBM Plex Sans" pitchFamily="34" charset="0"/>
                          <a:ea typeface="IBM Plex Sans" pitchFamily="34" charset="-122"/>
                          <a:cs typeface="IBM Plex Sans" pitchFamily="34" charset="-120"/>
                        </a:rPr>
                        <a:t>ssid, pass → sambung</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bl>
          </a:graphicData>
        </a:graphic>
      </p:graphicFrame>
      <p:pic>
        <p:nvPicPr>
          <p:cNvPr id="5" name="Image 0" descr="Kartu kontrol kipas dan grafik riwayat di dashboard web">    </p:cNvPr>
          <p:cNvPicPr>
            <a:picLocks noChangeAspect="1"/>
          </p:cNvPicPr>
          <p:nvPr/>
        </p:nvPicPr>
        <p:blipFill>
          <a:blip r:embed="rId1"/>
          <a:srcRect l="580" r="580" t="0" b="0"/>
          <a:stretch/>
        </p:blipFill>
        <p:spPr>
          <a:xfrm>
            <a:off x="8877300" y="1760141"/>
            <a:ext cx="2463800" cy="3898900"/>
          </a:xfrm>
          <a:prstGeom prst="roundRect">
            <a:avLst>
              <a:gd name="adj" fmla="val 4639"/>
            </a:avLst>
          </a:prstGeom>
        </p:spPr>
      </p:pic>
      <p:sp>
        <p:nvSpPr>
          <p:cNvPr id="6" name="Shape 2"/>
          <p:cNvSpPr/>
          <p:nvPr/>
        </p:nvSpPr>
        <p:spPr>
          <a:xfrm>
            <a:off x="8858250" y="1741091"/>
            <a:ext cx="2501900" cy="3937000"/>
          </a:xfrm>
          <a:prstGeom prst="roundRect">
            <a:avLst>
              <a:gd name="adj" fmla="val 5330"/>
            </a:avLst>
          </a:prstGeom>
          <a:noFill/>
          <a:ln w="38100">
            <a:solidFill>
              <a:srgbClr val="0F1B24"/>
            </a:solidFill>
            <a:prstDash val="solid"/>
          </a:ln>
        </p:spPr>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05 · PENGUJIAN</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Simulator SDS011 dan console</a:t>
            </a:r>
            <a:endParaRPr lang="en-US" sz="3200" dirty="0"/>
          </a:p>
        </p:txBody>
      </p:sp>
      <p:sp>
        <p:nvSpPr>
          <p:cNvPr id="4" name="Text 2"/>
          <p:cNvSpPr/>
          <p:nvPr/>
        </p:nvSpPr>
        <p:spPr>
          <a:xfrm>
            <a:off x="812800" y="1722041"/>
            <a:ext cx="604342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33"/>
                </a:solidFill>
                <a:latin typeface="IBM Plex Sans" pitchFamily="34" charset="0"/>
                <a:ea typeface="IBM Plex Sans" pitchFamily="34" charset="-122"/>
                <a:cs typeface="IBM Plex Sans" pitchFamily="34" charset="-120"/>
              </a:rPr>
              <a:t>Simulator (Python, via USB-TTL)</a:t>
            </a:r>
            <a:endParaRPr lang="en-US" sz="1600" dirty="0"/>
          </a:p>
        </p:txBody>
      </p:sp>
      <p:sp>
        <p:nvSpPr>
          <p:cNvPr id="5" name="Text 3"/>
          <p:cNvSpPr/>
          <p:nvPr/>
        </p:nvSpPr>
        <p:spPr>
          <a:xfrm>
            <a:off x="812800" y="2080121"/>
            <a:ext cx="5867400" cy="1219200"/>
          </a:xfrm>
          <a:prstGeom prst="roundRect">
            <a:avLst>
              <a:gd name="adj" fmla="val 8333"/>
            </a:avLst>
          </a:prstGeom>
          <a:solidFill>
            <a:srgbClr val="0F1B24"/>
          </a:solidFill>
          <a:ln/>
        </p:spPr>
        <p:txBody>
          <a:bodyPr wrap="square" lIns="148042" tIns="122642" rIns="0" bIns="97242" rtlCol="0" anchor="t">
            <a:normAutofit/>
          </a:bodyPr>
          <a:lstStyle/>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pip install pyserial</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python tools/sds011_sim.py --list</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python tools/sds011_sim.py --port COM7</a:t>
            </a:r>
            <a:endParaRPr lang="en-US" sz="1200" dirty="0"/>
          </a:p>
          <a:p>
            <a:pPr algn="l" indent="0" marL="0">
              <a:lnSpc>
                <a:spcPts val="1800"/>
              </a:lnSpc>
              <a:buNone/>
            </a:pPr>
            <a:r>
              <a:rPr lang="en-US" sz="1200" dirty="0">
                <a:solidFill>
                  <a:srgbClr val="C9D4DC"/>
                </a:solidFill>
                <a:latin typeface="JetBrains Mono" pitchFamily="49" charset="0"/>
                <a:ea typeface="JetBrains Mono" pitchFamily="49" charset="-122"/>
                <a:cs typeface="JetBrains Mono" pitchFamily="49" charset="-120"/>
              </a:rPr>
              <a:t>--profile sine --base 10 --amp 30</a:t>
            </a:r>
            <a:endParaRPr lang="en-US" sz="1200" dirty="0"/>
          </a:p>
        </p:txBody>
      </p:sp>
      <p:sp>
        <p:nvSpPr>
          <p:cNvPr id="6" name="Text 4"/>
          <p:cNvSpPr/>
          <p:nvPr/>
        </p:nvSpPr>
        <p:spPr>
          <a:xfrm>
            <a:off x="812800" y="3413621"/>
            <a:ext cx="60434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Sambung TX adapter → GPIO18, RX → GPIO17, GND → GND.</a:t>
            </a:r>
            <a:endParaRPr lang="en-US" sz="1200" dirty="0"/>
          </a:p>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Ketik saat jalan: </a:t>
            </a:r>
            <a:r>
              <a:rPr lang="en-US" sz="1200" b="1" dirty="0">
                <a:solidFill>
                  <a:srgbClr val="4A5568"/>
                </a:solidFill>
                <a:latin typeface="IBM Plex Sans" pitchFamily="34" charset="0"/>
                <a:ea typeface="IBM Plex Sans" pitchFamily="34" charset="-122"/>
                <a:cs typeface="IBM Plex Sans" pitchFamily="34" charset="-120"/>
              </a:rPr>
              <a:t>set 25</a:t>
            </a:r>
            <a:r>
              <a:rPr lang="en-US" sz="1200" dirty="0">
                <a:solidFill>
                  <a:srgbClr val="4A5568"/>
                </a:solidFill>
                <a:latin typeface="IBM Plex Sans" pitchFamily="34" charset="0"/>
                <a:ea typeface="IBM Plex Sans" pitchFamily="34" charset="-122"/>
                <a:cs typeface="IBM Plex Sans" pitchFamily="34" charset="-120"/>
              </a:rPr>
              <a:t> · </a:t>
            </a:r>
            <a:r>
              <a:rPr lang="en-US" sz="1200" b="1" dirty="0">
                <a:solidFill>
                  <a:srgbClr val="4A5568"/>
                </a:solidFill>
                <a:latin typeface="IBM Plex Sans" pitchFamily="34" charset="0"/>
                <a:ea typeface="IBM Plex Sans" pitchFamily="34" charset="-122"/>
                <a:cs typeface="IBM Plex Sans" pitchFamily="34" charset="-120"/>
              </a:rPr>
              <a:t>burst</a:t>
            </a:r>
            <a:r>
              <a:rPr lang="en-US" sz="1200" dirty="0">
                <a:solidFill>
                  <a:srgbClr val="4A5568"/>
                </a:solidFill>
                <a:latin typeface="IBM Plex Sans" pitchFamily="34" charset="0"/>
                <a:ea typeface="IBM Plex Sans" pitchFamily="34" charset="-122"/>
                <a:cs typeface="IBM Plex Sans" pitchFamily="34" charset="-120"/>
              </a:rPr>
              <a:t> (asap) · </a:t>
            </a:r>
            <a:r>
              <a:rPr lang="en-US" sz="1200" b="1" dirty="0">
                <a:solidFill>
                  <a:srgbClr val="4A5568"/>
                </a:solidFill>
                <a:latin typeface="IBM Plex Sans" pitchFamily="34" charset="0"/>
                <a:ea typeface="IBM Plex Sans" pitchFamily="34" charset="-122"/>
                <a:cs typeface="IBM Plex Sans" pitchFamily="34" charset="-120"/>
              </a:rPr>
              <a:t>stop</a:t>
            </a:r>
            <a:r>
              <a:rPr lang="en-US" sz="1200" dirty="0">
                <a:solidFill>
                  <a:srgbClr val="4A5568"/>
                </a:solidFill>
                <a:latin typeface="IBM Plex Sans" pitchFamily="34" charset="0"/>
                <a:ea typeface="IBM Plex Sans" pitchFamily="34" charset="-122"/>
                <a:cs typeface="IBM Plex Sans" pitchFamily="34" charset="-120"/>
              </a:rPr>
              <a:t> (uji error) · </a:t>
            </a:r>
            <a:r>
              <a:rPr lang="en-US" sz="1200" b="1" dirty="0">
                <a:solidFill>
                  <a:srgbClr val="4A5568"/>
                </a:solidFill>
                <a:latin typeface="IBM Plex Sans" pitchFamily="34" charset="0"/>
                <a:ea typeface="IBM Plex Sans" pitchFamily="34" charset="-122"/>
                <a:cs typeface="IBM Plex Sans" pitchFamily="34" charset="-120"/>
              </a:rPr>
              <a:t>bad</a:t>
            </a:r>
            <a:r>
              <a:rPr lang="en-US" sz="1200" dirty="0">
                <a:solidFill>
                  <a:srgbClr val="4A5568"/>
                </a:solidFill>
                <a:latin typeface="IBM Plex Sans" pitchFamily="34" charset="0"/>
                <a:ea typeface="IBM Plex Sans" pitchFamily="34" charset="-122"/>
                <a:cs typeface="IBM Plex Sans" pitchFamily="34" charset="-120"/>
              </a:rPr>
              <a:t> (frame rusak)</a:t>
            </a:r>
            <a:endParaRPr lang="en-US" sz="1200" dirty="0"/>
          </a:p>
        </p:txBody>
      </p:sp>
      <p:sp>
        <p:nvSpPr>
          <p:cNvPr id="7" name="Text 5"/>
          <p:cNvSpPr/>
          <p:nvPr/>
        </p:nvSpPr>
        <p:spPr>
          <a:xfrm>
            <a:off x="6934200" y="1722041"/>
            <a:ext cx="45783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33"/>
                </a:solidFill>
                <a:latin typeface="IBM Plex Sans" pitchFamily="34" charset="0"/>
                <a:ea typeface="IBM Plex Sans" pitchFamily="34" charset="-122"/>
                <a:cs typeface="IBM Plex Sans" pitchFamily="34" charset="-120"/>
              </a:rPr>
              <a:t>Console (serial monitor)</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6900" y="2092821"/>
          <a:ext cx="4432300" cy="2328069"/>
        </p:xfrm>
        <a:graphic>
          <a:graphicData uri="http://schemas.openxmlformats.org/drawingml/2006/table">
            <a:tbl>
              <a:tblPr/>
              <a:tblGrid>
                <a:gridCol w="2038858"/>
                <a:gridCol w="2393442"/>
              </a:tblGrid>
              <a:tr h="332581">
                <a:tc>
                  <a:txBody>
                    <a:bodyPr/>
                    <a:lstStyle/>
                    <a:p>
                      <a:pPr indent="0" marL="0">
                        <a:lnSpc>
                          <a:spcPts val="1680"/>
                        </a:lnSpc>
                        <a:buNone/>
                      </a:pPr>
                      <a:r>
                        <a:rPr lang="en-US" sz="1200" b="1" dirty="0">
                          <a:solidFill>
                            <a:srgbClr val="1E2A33"/>
                          </a:solidFill>
                          <a:latin typeface="IBM Plex Sans" pitchFamily="34" charset="0"/>
                          <a:ea typeface="IBM Plex Sans" pitchFamily="34" charset="-122"/>
                          <a:cs typeface="IBM Plex Sans" pitchFamily="34" charset="-120"/>
                        </a:rPr>
                        <a:t>Perintah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680"/>
                        </a:lnSpc>
                        <a:buNone/>
                      </a:pPr>
                      <a:r>
                        <a:rPr lang="en-US" sz="1200" b="1" dirty="0">
                          <a:solidFill>
                            <a:srgbClr val="1E2A33"/>
                          </a:solidFill>
                          <a:latin typeface="IBM Plex Sans" pitchFamily="34" charset="0"/>
                          <a:ea typeface="IBM Plex Sans" pitchFamily="34" charset="-122"/>
                          <a:cs typeface="IBM Plex Sans" pitchFamily="34" charset="-120"/>
                        </a:rPr>
                        <a:t>Fungsi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status · env · cfg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lihat semua nilai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mode auto|pot|fixed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ganti mode kipas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fixed 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duty manual 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th 15 20 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batas kategori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wifi ssid 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sambung ke router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save · load · defaults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simpan / muat NVS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bl>
          </a:graphicData>
        </a:graphic>
      </p:graphicFrame>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A"/>
                </a:solidFill>
                <a:latin typeface="JetBrains Mono" pitchFamily="49" charset="0"/>
                <a:ea typeface="JetBrains Mono" pitchFamily="49" charset="-122"/>
                <a:cs typeface="JetBrains Mono" pitchFamily="49" charset="-120"/>
              </a:rPr>
              <a:t>05 · TROUBLESHOOTING</a:t>
            </a:r>
            <a:endParaRPr lang="en-US" sz="1200" dirty="0"/>
          </a:p>
        </p:txBody>
      </p:sp>
      <p:sp>
        <p:nvSpPr>
          <p:cNvPr id="3" name="Text 1"/>
          <p:cNvSpPr/>
          <p:nvPr>
            <p:ph type="title"/>
          </p:nvPr>
        </p:nvSpPr>
        <p:spPr>
          <a:xfrm>
            <a:off x="812800" y="1000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1B24"/>
                </a:solidFill>
                <a:latin typeface="IBM Plex Sans" pitchFamily="34" charset="0"/>
                <a:ea typeface="IBM Plex Sans" pitchFamily="34" charset="-122"/>
                <a:cs typeface="IBM Plex Sans" pitchFamily="34" charset="-120"/>
              </a:rPr>
              <a:t>Gejala, penyebab, solusi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10553700" cy="3325812"/>
        </p:xfrm>
        <a:graphic>
          <a:graphicData uri="http://schemas.openxmlformats.org/drawingml/2006/table">
            <a:tbl>
              <a:tblPr/>
              <a:tblGrid>
                <a:gridCol w="3166110"/>
                <a:gridCol w="3377184"/>
                <a:gridCol w="4010406"/>
              </a:tblGrid>
              <a:tr h="332581">
                <a:tc>
                  <a:txBody>
                    <a:bodyPr/>
                    <a:lstStyle/>
                    <a:p>
                      <a:pPr indent="0" marL="0">
                        <a:lnSpc>
                          <a:spcPts val="1680"/>
                        </a:lnSpc>
                        <a:buNone/>
                      </a:pPr>
                      <a:r>
                        <a:rPr lang="en-US" sz="1200" b="1" dirty="0">
                          <a:solidFill>
                            <a:srgbClr val="1E2A33"/>
                          </a:solidFill>
                          <a:latin typeface="IBM Plex Sans" pitchFamily="34" charset="0"/>
                          <a:ea typeface="IBM Plex Sans" pitchFamily="34" charset="-122"/>
                          <a:cs typeface="IBM Plex Sans" pitchFamily="34" charset="-120"/>
                        </a:rPr>
                        <a:t>Gejala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680"/>
                        </a:lnSpc>
                        <a:buNone/>
                      </a:pPr>
                      <a:r>
                        <a:rPr lang="en-US" sz="1200" b="1" dirty="0">
                          <a:solidFill>
                            <a:srgbClr val="1E2A33"/>
                          </a:solidFill>
                          <a:latin typeface="IBM Plex Sans" pitchFamily="34" charset="0"/>
                          <a:ea typeface="IBM Plex Sans" pitchFamily="34" charset="-122"/>
                          <a:cs typeface="IBM Plex Sans" pitchFamily="34" charset="-120"/>
                        </a:rPr>
                        <a:t>Penyebab umum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c>
                  <a:txBody>
                    <a:bodyPr/>
                    <a:lstStyle/>
                    <a:p>
                      <a:pPr indent="0" marL="0">
                        <a:lnSpc>
                          <a:spcPts val="1680"/>
                        </a:lnSpc>
                        <a:buNone/>
                      </a:pPr>
                      <a:r>
                        <a:rPr lang="en-US" sz="1200" b="1" dirty="0">
                          <a:solidFill>
                            <a:srgbClr val="1E2A33"/>
                          </a:solidFill>
                          <a:latin typeface="IBM Plex Sans" pitchFamily="34" charset="0"/>
                          <a:ea typeface="IBM Plex Sans" pitchFamily="34" charset="-122"/>
                          <a:cs typeface="IBM Plex Sans" pitchFamily="34" charset="-120"/>
                        </a:rPr>
                        <a:t>Solusi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6"/>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sensor=WAIT, frm=0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TX/RX tertukar, GND lepas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tukar kabel 17/18, satukan GND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Monitor hanya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port atau baud salah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port USB “UART”, 115200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rpm selalu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pull-up TACH tidak 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10k dari GPIO7 ke 3V3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Kipas tak pernah diam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relay tak terpasang / terbalik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cek COM–NO, RELAY_ACTIVE_HIGH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OLED gelap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alamat/kabel I2C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lihat [i2c] di log boot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eCO₂ “WARM” / 400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ENS160 pemanasan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tunggu 3 menit (1 jam pertama)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LED RGB mati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pad “RGB” terbuka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jembatani pad / PIN_RGB 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cair.local tak terbuka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HP tak dukung mDNS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pakai IP dari log / menu WiFi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8C9C7"/>
                      </a:solidFill>
                      <a:prstDash val="solid"/>
                      <a:round/>
                      <a:headEnd type="none" w="med" len="med"/>
                      <a:tailEnd type="none" w="med" len="med"/>
                    </a:lnB>
                    <a:solidFill>
                      <a:srgbClr val="FBFCFA"/>
                    </a:solidFill>
                  </a:tcPr>
                </a:tc>
              </a:tr>
              <a:tr h="332581">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Build: intelhex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Python PlatformIO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E2A33"/>
                          </a:solidFill>
                          <a:latin typeface="IBM Plex Sans" pitchFamily="34" charset="0"/>
                          <a:ea typeface="IBM Plex Sans" pitchFamily="34" charset="-122"/>
                          <a:cs typeface="IBM Plex Sans" pitchFamily="34" charset="-120"/>
                        </a:rPr>
                        <a:t>pip install intelhex di penv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CAIR · Manual teknis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4"/>
        </a:solidFill>
      </p:bgPr>
    </p:bg>
    <p:spTree>
      <p:nvGrpSpPr>
        <p:cNvPr id="1" name=""/>
        <p:cNvGrpSpPr/>
        <p:nvPr/>
      </p:nvGrpSpPr>
      <p:grpSpPr>
        <a:xfrm>
          <a:off x="0" y="0"/>
          <a:ext cx="0" cy="0"/>
          <a:chOff x="0" y="0"/>
          <a:chExt cx="0" cy="0"/>
        </a:xfrm>
      </p:grpSpPr>
      <p:sp>
        <p:nvSpPr>
          <p:cNvPr id="2" name="Shape 0"/>
          <p:cNvSpPr/>
          <p:nvPr/>
        </p:nvSpPr>
        <p:spPr>
          <a:xfrm>
            <a:off x="0" y="3937000"/>
            <a:ext cx="12192000" cy="2921000"/>
          </a:xfrm>
          <a:prstGeom prst="rect">
            <a:avLst/>
          </a:prstGeom>
          <a:gradFill rotWithShape="1">
            <a:gsLst>
              <a:gs pos="0">
                <a:srgbClr val="0F1B24"/>
              </a:gs>
              <a:gs pos="100000">
                <a:srgbClr val="0E3B33"/>
              </a:gs>
            </a:gsLst>
            <a:lin ang="5400000" scaled="0"/>
          </a:gra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3DD6A3"/>
                </a:solidFill>
                <a:latin typeface="JetBrains Mono" pitchFamily="49" charset="0"/>
                <a:ea typeface="JetBrains Mono" pitchFamily="49" charset="-122"/>
                <a:cs typeface="JetBrains Mono" pitchFamily="49" charset="-120"/>
              </a:rPr>
              <a:t>RINGKASAN</a:t>
            </a:r>
            <a:endParaRPr lang="en-US" sz="1400" dirty="0"/>
          </a:p>
        </p:txBody>
      </p:sp>
      <p:sp>
        <p:nvSpPr>
          <p:cNvPr id="4" name="Text 2"/>
          <p:cNvSpPr/>
          <p:nvPr>
            <p:ph type="title"/>
          </p:nvPr>
        </p:nvSpPr>
        <p:spPr>
          <a:xfrm>
            <a:off x="812800" y="2660749"/>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6F3"/>
                </a:solidFill>
                <a:latin typeface="IBM Plex Sans" pitchFamily="34" charset="0"/>
                <a:ea typeface="IBM Plex Sans" pitchFamily="34" charset="-122"/>
                <a:cs typeface="IBM Plex Sans" pitchFamily="34" charset="-120"/>
              </a:rPr>
              <a:t>Sensor membaca, FreeRTOS memutuskan, kipas bekerja, dan HP menampilkan.</a:t>
            </a:r>
            <a:endParaRPr lang="en-US" sz="3600" dirty="0"/>
          </a:p>
        </p:txBody>
      </p:sp>
      <p:sp>
        <p:nvSpPr>
          <p:cNvPr id="5" name="Text 3"/>
          <p:cNvSpPr/>
          <p:nvPr/>
        </p:nvSpPr>
        <p:spPr>
          <a:xfrm>
            <a:off x="812800" y="5311279"/>
            <a:ext cx="34533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Sebelum demo</a:t>
            </a:r>
            <a:endParaRPr lang="en-US" sz="1600" dirty="0"/>
          </a:p>
        </p:txBody>
      </p:sp>
      <p:sp>
        <p:nvSpPr>
          <p:cNvPr id="6" name="Text 4"/>
          <p:cNvSpPr/>
          <p:nvPr/>
        </p:nvSpPr>
        <p:spPr>
          <a:xfrm>
            <a:off x="812800" y="5618559"/>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Nyalakan alat 5 menit lebih awal agar ENS160 lewat pemanasan.</a:t>
            </a:r>
            <a:endParaRPr lang="en-US" sz="1200" dirty="0"/>
          </a:p>
        </p:txBody>
      </p:sp>
      <p:sp>
        <p:nvSpPr>
          <p:cNvPr id="7" name="Text 5"/>
          <p:cNvSpPr/>
          <p:nvPr/>
        </p:nvSpPr>
        <p:spPr>
          <a:xfrm>
            <a:off x="4419600" y="5311279"/>
            <a:ext cx="34533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Untuk paper</a:t>
            </a:r>
            <a:endParaRPr lang="en-US" sz="1600" dirty="0"/>
          </a:p>
        </p:txBody>
      </p:sp>
      <p:sp>
        <p:nvSpPr>
          <p:cNvPr id="8" name="Text 6"/>
          <p:cNvSpPr/>
          <p:nvPr/>
        </p:nvSpPr>
        <p:spPr>
          <a:xfrm>
            <a:off x="4419600" y="5618559"/>
            <a:ext cx="34533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Unduh CSV tiap sesi; sebut “eCO₂ (estimasi)”.</a:t>
            </a:r>
            <a:endParaRPr lang="en-US" sz="1200" dirty="0"/>
          </a:p>
        </p:txBody>
      </p:sp>
      <p:sp>
        <p:nvSpPr>
          <p:cNvPr id="9" name="Text 7"/>
          <p:cNvSpPr/>
          <p:nvPr/>
        </p:nvSpPr>
        <p:spPr>
          <a:xfrm>
            <a:off x="8026400" y="5311279"/>
            <a:ext cx="34533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DD6A3"/>
                </a:solidFill>
                <a:latin typeface="IBM Plex Sans" pitchFamily="34" charset="0"/>
                <a:ea typeface="IBM Plex Sans" pitchFamily="34" charset="-122"/>
                <a:cs typeface="IBM Plex Sans" pitchFamily="34" charset="-120"/>
              </a:rPr>
              <a:t>Pengembangan</a:t>
            </a:r>
            <a:endParaRPr lang="en-US" sz="1600" dirty="0"/>
          </a:p>
        </p:txBody>
      </p:sp>
      <p:sp>
        <p:nvSpPr>
          <p:cNvPr id="10" name="Text 8"/>
          <p:cNvSpPr/>
          <p:nvPr/>
        </p:nvSpPr>
        <p:spPr>
          <a:xfrm>
            <a:off x="8026400" y="5618559"/>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C"/>
                </a:solidFill>
                <a:latin typeface="IBM Plex Sans" pitchFamily="34" charset="0"/>
                <a:ea typeface="IBM Plex Sans" pitchFamily="34" charset="-122"/>
                <a:cs typeface="IBM Plex Sans" pitchFamily="34" charset="-120"/>
              </a:rPr>
              <a:t>Sensor CO₂ NDIR (MH-Z19), simpan riwayat ke kartu microSD shield.</a:t>
            </a:r>
            <a:endParaRPr lang="en-US" sz="1200" dirty="0"/>
          </a:p>
        </p:txBody>
      </p:sp>
    </p:spTree>
  </p:cSld>
  <p:clrMapOvr>
    <a:masterClrMapping/>
  </p:clrMapOvr>
</p:sld>
</file>

<file path=ppt/theme/theme1.xml><?xml version="1.0" encoding="utf-8"?>
<a:theme xmlns:a="http://schemas.openxmlformats.org/drawingml/2006/main" name="Manual CAIR Air Purifier">
  <a:themeElements>
    <a:clrScheme name="Manual CAIR Air Purifier">
      <a:dk1>
        <a:srgbClr val="0F1B24"/>
      </a:dk1>
      <a:lt1>
        <a:srgbClr val="F4F6F3"/>
      </a:lt1>
      <a:dk2>
        <a:srgbClr val="485258"/>
      </a:dk2>
      <a:lt2>
        <a:srgbClr val="DDE0DE"/>
      </a:lt2>
      <a:accent1>
        <a:srgbClr val="0B7A5A"/>
      </a:accent1>
      <a:accent2>
        <a:srgbClr val="3DD6A3"/>
      </a:accent2>
      <a:accent3>
        <a:srgbClr val="B8530C"/>
      </a:accent3>
      <a:accent4>
        <a:srgbClr val="1F9D63"/>
      </a:accent4>
      <a:accent5>
        <a:srgbClr val="2563EB"/>
      </a:accent5>
      <a:accent6>
        <a:srgbClr val="E8C547"/>
      </a:accent6>
      <a:hlink>
        <a:srgbClr val="0563C1"/>
      </a:hlink>
      <a:folHlink>
        <a:srgbClr val="954F72"/>
      </a:folHlink>
    </a:clrScheme>
    <a:fontScheme name="Manual CAIR Air Purifie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CAIR Air Purifier</dc:title>
  <dc:subject/>
  <dc:creator/>
  <cp:lastModifiedBy/>
  <cp:revision>1</cp:revision>
  <dcterms:created xsi:type="dcterms:W3CDTF">2026-10-19T01:01:30Z</dcterms:created>
  <dcterms:modified xsi:type="dcterms:W3CDTF">2026-10-19T01:01:30Z</dcterms:modified>
</cp:coreProperties>
</file>