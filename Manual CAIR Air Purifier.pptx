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ini menjelaskan cara kerja, cara merakit, dan cara memprogram CAIR. Urutannya: gambaran sistem, hardware, software, konektivitas, lalu pengujian dan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Kiri adalah input: PM dalam (SDS011), PM luar (ZH03B), CO2 asli (SCD40), serta ENS160 + AHT21. Selisih PM dalam dan luar dipakai untuk menilai kerja purifier. Kiri adalah input, tengah otak sistem, kanan output. Semua input dibaca oleh task FreeRTOS terpisah, disimpan di data bersama, lalu dipakai oleh task lain: kipas, layar, aplikasi BLE, dan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sensor memakai logika 3.3 V sehingga aman langsung ke ESP32-S3. SDS011 dan ZH03B butuh daya 5 V, tapi jalur datanya tetap 3.3 V. Hanya kipas yang memakai 12 V, dan jalurnya lewat relay di shield.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nomor pin dikumpulkan di include/config.h. Kalau label header di shield berbeda, cukup ubah di file itu lalu build ulang. Relay1 di shield memakai GPIO47, Relay2 memakai GPIO21. ZH03B dipasang di header UART shield (GPIO16/15); di D1 R32 memakai GPIO19 (D12) dan GPIO23 (D11). SCD40 cukup diparalel ke bus I2C.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Kipas CPU 4-pin memisahkan daya (pin 1 dan 2) dari sinyal (pin 3 dan 4). Daya 12 V lewat relay supaya kipas bisa benar-benar dimatikan. TACH adalah output open-collector dari kipas, sehingga butuh resistor pull-up ke 3.3 V, bukan ke 12 V. PWM adalah input sinyal dengan arus sangat kecil.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Semakin lebar pulsa HIGH, semakin cepat kipas. Resolusi 10 bit berarti ada 1024 langkah kecepatan. Perubahan kecepatan juga dibatasi (slew rate, default 25 persen per detik) supaya kipas tidak menyentak.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Pull-up wajib ke 3.3 V. Kalau ditarik ke 12 V, GPIO ESP32 bisa rusak. Kalau rpm selalu 0 padahal kipas berputar, periksa resistor pull-up dan sambungan GND bersama.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Relay hanya dipakai sebagai saklar ON/OFF. Relay mekanis tidak bisa dipakai untuk PWM 25 kHz karena kontaknya hanya sanggup beberapa kali klik per detik dan cepat aus. Pengaturan kecepatan tetap lewat kabel PWM.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 SCD40, ZH03B, ENS160 dan AHT21 ditulis sendiri tanpa library: src/scd40_task.cpp, src/zh03b_task.cpp dan src/env_task.cpp. Untuk paper, CO2 sekarang terukur langsung oleh SCD40 (NDIR), bukan estimasi. Selisih PM2.5 dalam dan luar menunjukkan seberapa efektif purifier membersihkan udara ruangan.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batas dan duty bisa diubah dari halaman web (menu Pengaturan mode otomatis) atau console (perintah th dan duty), lalu disimpan ke NVS supaya tetap ada setelah restart. Batas eCO2 ada di config.h.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platformio.ini ada tiga hal penting. ARDUINO_USB_CDC_ON_BOOT=0 membuat Serial menjadi UART0 (port USB "UART"). Partisi huge_app memberi ruang 3 MB karena BLE dan WiFi cukup besar. extra_scripts menjalankan embed_web.py sebelum build. Port COM di laptop masing-masing bisa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1 menangani kontrol real-time (kipas dan semua sensor, termasuk zh03b dan scd40). Task zh03b dan scd40 bisa dimatikan dengan ENABLE_ZH03B / ENABLE_SCD40 = 0 di config.h. Core 0 menangani komunikasi (WiFi, BLE, console, layar), karena radio ESP32 juga berjalan di core 0. setup() hanya membuat task; loop() langsung dihapus.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mutex, dua task bisa membaca dan menulis data yang sama di waktu bersamaan sehingga nilainya rusak. Pola yang dipakai: kunci, salin ke variabel lokal, lepas kunci, baru diproses. Dengan begitu kunci hanya dipegang sangat singkat.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langkah ini dijalankan task fan tiap 100 ms. Slew rate membuat perubahan kecepatan halus. Kick-start memastikan kipas mulai berputar dari keadaan diam. Saat mode Manual dipilih, kecepatan awalnya diambil dari kecepatan saat itu supaya kipas tidak meloncat.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Warna LED mengambil level terburuk antara kategori PM2.5 dan level CO2. Nilai CO2 di OLED berasal dari SCD40; bila SCD40 tidak ada, dipakai eCO2 dari ENS160. Jadi ruangan yang bersih debu tapi pengap tetap menyala oranye, sebagai tanda untuk membuka ventilasi.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di kurung siku pertama adalah milidetik sejak boot. Log keluar di port USB "UART" pada 115200 baud, port yang sama untuk upload. SCD40 baru mengirim data pertama sekitar 6 detik setelah boot. Ketik env di console untuk melihat status ENS160, SCD40, sumber CO2 dan ZH03B. Set LOG_VERBOSE ke 0 di config.h kalau log terlalu ramai.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remotexy membaca data bersama lalu mengisi struct RemoteXY setiap 20 ms. Kalau mode diubah dari tombol BOOT atau dari web, switch di app ikut menyesuaikan. CONF terbaru berukuran 459 byte. Perubahan dari app disimpan ke NVS 3 detik setelah sentuhan terakhir.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Hotspot alat selalu aktif, jadi dashboard tetap bisa dibuka walau tidak ada router. BLE dan WiFi jalan bersamaan. Kalau terhubung ke router, jam disinkron lewat internet (WIB) sehingga file CSV punya kolom waktu. Kartu dalam vs luar juga menampilkan persen efisiensi, dihitung bila PM2.5 luar minimal 5 µg/m³. Di grafik, garis penuh = dalam, putus-putus = luar. cair.local mungkin tidak jalan di sebagian HP Android; pakai alamat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teknik web embed. Browser menerima file yang masih terkompresi gzip dengan header Content-Encoding gzip, lalu mengurainya sendiri. Hasilnya transfer lebih cepat dan flash lebih hemat.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ini juga bisa dipakai alat lain, misalnya spreadsheet atau aplikasi buatan sendiri, selama berada di jaringan yang sama. Riwayat disimpan di RAM setiap 30 detik, maksimal 240 sampel (2 jam), dan hilang saat restart. Unduh CSV sebelum alat dimatikan. Kolom CSV: waktu, uptime_s, pm25_dalam, pm25_luar, delta_pm25, pm10_dalam, co2_ppm, co2_sumber, suhu, rh, kipas, rpm.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Simulator berperan sebagai SDS011 sungguhan dan menjawab perintah sleep, wake, dan query, sehingga semua logika kipas bisa diuji sebelum sensor tersedia. Profil spike cocok untuk demo: PM naik tajam lalu turun, dan kipas terlihat merespons.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pertama hampir selalu sama: buka serial monitor, restart board, lalu baca log boot. Hampir semua masalah wiring terlihat di sana, terutama di baris [i2c], [sds], [zh], [scd], dan [wifi].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Alur utamanya: sensor membaca, task FreeRTOS memproses, kipas bekerja, dan hasilnya tampil di OLED, LED, app BLE, serta web. Untuk lomba atau paper, data CSV dari dashboard bisa langsung dipakai sebagai bukti performa.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0F1B24"/>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772841"/>
            <a:ext cx="10566400" cy="4272359"/>
          </a:xfrm>
          <a:prstGeom prst="rect">
            <a:avLst/>
          </a:prstGeom>
          <a:noFill/>
          <a:ln/>
        </p:spPr>
        <p:txBody>
          <a:bodyPr wrap="square" lIns="0" tIns="0" rIns="0" bIns="0" rtlCol="0" anchor="t"/>
          <a:lstStyle>
            <a:lvl1pPr algn="l" indent="0" marL="0">
              <a:lnSpc>
                <a:spcPct val="140000"/>
              </a:lnSpc>
              <a:buNone/>
              <a:defRPr lang="en-US" sz="1600" dirty="0">
                <a:solidFill>
                  <a:srgbClr val="0F1B2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0F1B24"/>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772841"/>
            <a:ext cx="10566400" cy="4272359"/>
          </a:xfrm>
          <a:prstGeom prst="rect">
            <a:avLst/>
          </a:prstGeom>
          <a:noFill/>
          <a:ln/>
        </p:spPr>
        <p:txBody>
          <a:bodyPr wrap="square" lIns="0" tIns="0" rIns="0" bIns="0" rtlCol="0" anchor="t"/>
          <a:lstStyle>
            <a:lvl1pPr algn="l" indent="0" marL="0">
              <a:lnSpc>
                <a:spcPct val="140000"/>
              </a:lnSpc>
              <a:buNone/>
              <a:defRPr lang="en-US" sz="1600" dirty="0">
                <a:solidFill>
                  <a:srgbClr val="0F1B2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4"/>
        </a:solidFill>
      </p:bgPr>
    </p:bg>
    <p:spTree>
      <p:nvGrpSpPr>
        <p:cNvPr id="1" name=""/>
        <p:cNvGrpSpPr/>
        <p:nvPr/>
      </p:nvGrpSpPr>
      <p:grpSpPr>
        <a:xfrm>
          <a:off x="0" y="0"/>
          <a:ext cx="0" cy="0"/>
          <a:chOff x="0" y="0"/>
          <a:chExt cx="0" cy="0"/>
        </a:xfrm>
      </p:grpSpPr>
      <p:sp>
        <p:nvSpPr>
          <p:cNvPr id="2" name="Shape 0"/>
          <p:cNvSpPr/>
          <p:nvPr/>
        </p:nvSpPr>
        <p:spPr>
          <a:xfrm>
            <a:off x="7493000" y="0"/>
            <a:ext cx="4699000" cy="6858000"/>
          </a:xfrm>
          <a:prstGeom prst="rect">
            <a:avLst/>
          </a:prstGeom>
          <a:gradFill rotWithShape="1">
            <a:gsLst>
              <a:gs pos="0">
                <a:srgbClr val="12A37A">
                  <a:alpha val="55000"/>
                </a:srgbClr>
              </a:gs>
              <a:gs pos="70000">
                <a:srgbClr val="0F1B24">
                  <a:alpha val="55000"/>
                </a:srgbClr>
              </a:gs>
            </a:gsLst>
            <a:path path="circle">
              <a:fillToRect l="70000" t="40000" r="30000" b="60000"/>
            </a:path>
          </a:gradFill>
          <a:ln/>
        </p:spPr>
      </p:sp>
      <p:sp>
        <p:nvSpPr>
          <p:cNvPr id="3" name="Text 1"/>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DD6A3"/>
                </a:solidFill>
                <a:latin typeface="JetBrains Mono" pitchFamily="49" charset="0"/>
                <a:ea typeface="JetBrains Mono" pitchFamily="49" charset="-122"/>
                <a:cs typeface="JetBrains Mono" pitchFamily="49" charset="-120"/>
              </a:rPr>
              <a:t>MANUAL TEKNIS · V1</a:t>
            </a:r>
            <a:endParaRPr lang="en-US" sz="1400" dirty="0"/>
          </a:p>
        </p:txBody>
      </p:sp>
      <p:sp>
        <p:nvSpPr>
          <p:cNvPr id="4" name="Text 2"/>
          <p:cNvSpPr/>
          <p:nvPr>
            <p:ph type="title"/>
          </p:nvPr>
        </p:nvSpPr>
        <p:spPr>
          <a:xfrm>
            <a:off x="812800" y="2015530"/>
            <a:ext cx="10883392" cy="977900"/>
          </a:xfrm>
          <a:prstGeom prst="rect">
            <a:avLst/>
          </a:prstGeom>
          <a:noFill/>
          <a:ln/>
        </p:spPr>
        <p:txBody>
          <a:bodyPr wrap="square" lIns="0" tIns="0" rIns="0" bIns="0" rtlCol="0" anchor="t">
            <a:normAutofit/>
          </a:bodyPr>
          <a:lstStyle/>
          <a:p>
            <a:pPr algn="l" indent="0" marL="0">
              <a:lnSpc>
                <a:spcPts val="7500"/>
              </a:lnSpc>
              <a:buNone/>
            </a:pPr>
            <a:r>
              <a:rPr lang="en-US" sz="7500" b="1" i="0" spc="-100" kern="0" dirty="0">
                <a:solidFill>
                  <a:srgbClr val="F4F6F3"/>
                </a:solidFill>
                <a:latin typeface="IBM Plex Sans" pitchFamily="34" charset="0"/>
                <a:ea typeface="IBM Plex Sans" pitchFamily="34" charset="-122"/>
                <a:cs typeface="IBM Plex Sans" pitchFamily="34" charset="-120"/>
              </a:rPr>
              <a:t>CAIR</a:t>
            </a:r>
            <a:endParaRPr lang="en-US" sz="7500" dirty="0"/>
          </a:p>
        </p:txBody>
      </p:sp>
      <p:sp>
        <p:nvSpPr>
          <p:cNvPr id="5" name="Text 3"/>
          <p:cNvSpPr/>
          <p:nvPr/>
        </p:nvSpPr>
        <p:spPr>
          <a:xfrm>
            <a:off x="812800" y="3171230"/>
            <a:ext cx="10883392" cy="960041"/>
          </a:xfrm>
          <a:prstGeom prst="rect">
            <a:avLst/>
          </a:prstGeom>
          <a:noFill/>
          <a:ln/>
        </p:spPr>
        <p:txBody>
          <a:bodyPr wrap="square" lIns="0" tIns="0" rIns="0" bIns="0" rtlCol="0" anchor="t">
            <a:normAutofit/>
          </a:bodyPr>
          <a:lstStyle/>
          <a:p>
            <a:pPr algn="l" indent="0" marL="0">
              <a:lnSpc>
                <a:spcPts val="3680"/>
              </a:lnSpc>
              <a:buNone/>
            </a:pPr>
            <a:r>
              <a:rPr lang="en-US" sz="3200" dirty="0">
                <a:solidFill>
                  <a:srgbClr val="E8EEF2"/>
                </a:solidFill>
                <a:latin typeface="IBM Plex Sans" pitchFamily="34" charset="0"/>
                <a:ea typeface="IBM Plex Sans" pitchFamily="34" charset="-122"/>
                <a:cs typeface="IBM Plex Sans" pitchFamily="34" charset="-120"/>
              </a:rPr>
              <a:t>Smart Air Purifier</a:t>
            </a:r>
            <a:endParaRPr lang="en-US" sz="3200" dirty="0"/>
          </a:p>
          <a:p>
            <a:pPr algn="l" indent="0" marL="0">
              <a:lnSpc>
                <a:spcPts val="3680"/>
              </a:lnSpc>
              <a:buNone/>
            </a:pPr>
            <a:r>
              <a:rPr lang="en-US" sz="3200" dirty="0">
                <a:solidFill>
                  <a:srgbClr val="E8EEF2"/>
                </a:solidFill>
                <a:latin typeface="IBM Plex Sans" pitchFamily="34" charset="0"/>
                <a:ea typeface="IBM Plex Sans" pitchFamily="34" charset="-122"/>
                <a:cs typeface="IBM Plex Sans" pitchFamily="34" charset="-120"/>
              </a:rPr>
              <a:t>ESP32-S3 + FreeRTOS</a:t>
            </a:r>
            <a:endParaRPr lang="en-US" sz="3200" dirty="0"/>
          </a:p>
        </p:txBody>
      </p:sp>
      <p:sp>
        <p:nvSpPr>
          <p:cNvPr id="6" name="Text 4"/>
          <p:cNvSpPr/>
          <p:nvPr/>
        </p:nvSpPr>
        <p:spPr>
          <a:xfrm>
            <a:off x="812800" y="4309070"/>
            <a:ext cx="71945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9B8C4"/>
                </a:solidFill>
                <a:latin typeface="IBM Plex Sans" pitchFamily="34" charset="0"/>
                <a:ea typeface="IBM Plex Sans" pitchFamily="34" charset="-122"/>
                <a:cs typeface="IBM Plex Sans" pitchFamily="34" charset="-120"/>
              </a:rPr>
              <a:t>PlatformIO · sensor PM2.5, eCO₂, suhu &amp; RH · kipas 4-pin PWM + tachometer + relay · RemoteXY BLE · dashboard web WiFi</a:t>
            </a:r>
            <a:endParaRPr lang="en-US" sz="1600" dirty="0"/>
          </a:p>
        </p:txBody>
      </p:sp>
      <p:sp>
        <p:nvSpPr>
          <p:cNvPr id="7" name="Text 5"/>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93A3"/>
                </a:solidFill>
                <a:latin typeface="IBM Plex Sans" pitchFamily="34" charset="0"/>
                <a:ea typeface="IBM Plex Sans" pitchFamily="34" charset="-122"/>
                <a:cs typeface="IBM Plex Sans" pitchFamily="34" charset="-120"/>
              </a:rPr>
              <a:t>Science project SMA Budi Luhur · Oktober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01 · GAMBARAN SISTEM</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Dari sensor ke kipas dan aplikasi</a:t>
            </a:r>
            <a:endParaRPr lang="en-US" sz="3200" dirty="0"/>
          </a:p>
        </p:txBody>
      </p:sp>
      <p:sp>
        <p:nvSpPr>
          <p:cNvPr id="4" name="Shape 2"/>
          <p:cNvSpPr/>
          <p:nvPr/>
        </p:nvSpPr>
        <p:spPr>
          <a:xfrm>
            <a:off x="815975" y="1937643"/>
            <a:ext cx="3422650" cy="671711"/>
          </a:xfrm>
          <a:prstGeom prst="roundRect">
            <a:avLst>
              <a:gd name="adj" fmla="val 12762"/>
            </a:avLst>
          </a:prstGeom>
          <a:solidFill>
            <a:srgbClr val="FFFFFF"/>
          </a:solidFill>
          <a:ln w="6350">
            <a:solidFill>
              <a:srgbClr val="DDE3E0"/>
            </a:solidFill>
            <a:prstDash val="solid"/>
          </a:ln>
        </p:spPr>
      </p:sp>
      <p:sp>
        <p:nvSpPr>
          <p:cNvPr id="5" name="Text 3"/>
          <p:cNvSpPr/>
          <p:nvPr/>
        </p:nvSpPr>
        <p:spPr>
          <a:xfrm>
            <a:off x="971550" y="2042418"/>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SDS011 · PM dalam</a:t>
            </a:r>
            <a:endParaRPr lang="en-US" sz="1400" dirty="0"/>
          </a:p>
        </p:txBody>
      </p:sp>
      <p:sp>
        <p:nvSpPr>
          <p:cNvPr id="6" name="Text 4"/>
          <p:cNvSpPr/>
          <p:nvPr/>
        </p:nvSpPr>
        <p:spPr>
          <a:xfrm>
            <a:off x="971550" y="2291259"/>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UART, frame 10 byte tiap 1 s</a:t>
            </a:r>
            <a:endParaRPr lang="en-US" sz="1200" dirty="0"/>
          </a:p>
        </p:txBody>
      </p:sp>
      <p:sp>
        <p:nvSpPr>
          <p:cNvPr id="7" name="Shape 5"/>
          <p:cNvSpPr/>
          <p:nvPr/>
        </p:nvSpPr>
        <p:spPr>
          <a:xfrm>
            <a:off x="815975" y="2691904"/>
            <a:ext cx="3422650" cy="671711"/>
          </a:xfrm>
          <a:prstGeom prst="roundRect">
            <a:avLst>
              <a:gd name="adj" fmla="val 12762"/>
            </a:avLst>
          </a:prstGeom>
          <a:solidFill>
            <a:srgbClr val="FFFFFF"/>
          </a:solidFill>
          <a:ln w="6350">
            <a:solidFill>
              <a:srgbClr val="DDE3E0"/>
            </a:solidFill>
            <a:prstDash val="solid"/>
          </a:ln>
        </p:spPr>
      </p:sp>
      <p:sp>
        <p:nvSpPr>
          <p:cNvPr id="8" name="Text 6"/>
          <p:cNvSpPr/>
          <p:nvPr/>
        </p:nvSpPr>
        <p:spPr>
          <a:xfrm>
            <a:off x="971550" y="2796679"/>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ZH03B · PM luar</a:t>
            </a:r>
            <a:endParaRPr lang="en-US" sz="1400" dirty="0"/>
          </a:p>
        </p:txBody>
      </p:sp>
      <p:sp>
        <p:nvSpPr>
          <p:cNvPr id="9" name="Text 7"/>
          <p:cNvSpPr/>
          <p:nvPr/>
        </p:nvSpPr>
        <p:spPr>
          <a:xfrm>
            <a:off x="971550" y="304552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UART 9600, frame 24 byte tiap 1 s</a:t>
            </a:r>
            <a:endParaRPr lang="en-US" sz="1200" dirty="0"/>
          </a:p>
        </p:txBody>
      </p:sp>
      <p:sp>
        <p:nvSpPr>
          <p:cNvPr id="10" name="Shape 8"/>
          <p:cNvSpPr/>
          <p:nvPr/>
        </p:nvSpPr>
        <p:spPr>
          <a:xfrm>
            <a:off x="815975" y="3446165"/>
            <a:ext cx="3422650" cy="671711"/>
          </a:xfrm>
          <a:prstGeom prst="roundRect">
            <a:avLst>
              <a:gd name="adj" fmla="val 12762"/>
            </a:avLst>
          </a:prstGeom>
          <a:solidFill>
            <a:srgbClr val="FFFFFF"/>
          </a:solidFill>
          <a:ln w="6350">
            <a:solidFill>
              <a:srgbClr val="DDE3E0"/>
            </a:solidFill>
            <a:prstDash val="solid"/>
          </a:ln>
        </p:spPr>
      </p:sp>
      <p:sp>
        <p:nvSpPr>
          <p:cNvPr id="11" name="Text 9"/>
          <p:cNvSpPr/>
          <p:nvPr/>
        </p:nvSpPr>
        <p:spPr>
          <a:xfrm>
            <a:off x="971550" y="3550940"/>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SCD40 · CO₂ asli (NDIR)</a:t>
            </a:r>
            <a:endParaRPr lang="en-US" sz="1400" dirty="0"/>
          </a:p>
        </p:txBody>
      </p:sp>
      <p:sp>
        <p:nvSpPr>
          <p:cNvPr id="12" name="Text 10"/>
          <p:cNvSpPr/>
          <p:nvPr/>
        </p:nvSpPr>
        <p:spPr>
          <a:xfrm>
            <a:off x="971550" y="379978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I2C 0x62, data tiap 5 s</a:t>
            </a:r>
            <a:endParaRPr lang="en-US" sz="1200" dirty="0"/>
          </a:p>
        </p:txBody>
      </p:sp>
      <p:sp>
        <p:nvSpPr>
          <p:cNvPr id="13" name="Shape 11"/>
          <p:cNvSpPr/>
          <p:nvPr/>
        </p:nvSpPr>
        <p:spPr>
          <a:xfrm>
            <a:off x="815975" y="4200426"/>
            <a:ext cx="3422650" cy="671711"/>
          </a:xfrm>
          <a:prstGeom prst="roundRect">
            <a:avLst>
              <a:gd name="adj" fmla="val 12762"/>
            </a:avLst>
          </a:prstGeom>
          <a:solidFill>
            <a:srgbClr val="FFFFFF"/>
          </a:solidFill>
          <a:ln w="6350">
            <a:solidFill>
              <a:srgbClr val="DDE3E0"/>
            </a:solidFill>
            <a:prstDash val="solid"/>
          </a:ln>
        </p:spPr>
      </p:sp>
      <p:sp>
        <p:nvSpPr>
          <p:cNvPr id="14" name="Text 12"/>
          <p:cNvSpPr/>
          <p:nvPr/>
        </p:nvSpPr>
        <p:spPr>
          <a:xfrm>
            <a:off x="971550" y="4305201"/>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ENS160 + AHT21</a:t>
            </a:r>
            <a:endParaRPr lang="en-US" sz="1400" dirty="0"/>
          </a:p>
        </p:txBody>
      </p:sp>
      <p:sp>
        <p:nvSpPr>
          <p:cNvPr id="15" name="Text 13"/>
          <p:cNvSpPr/>
          <p:nvPr/>
        </p:nvSpPr>
        <p:spPr>
          <a:xfrm>
            <a:off x="971550" y="4554041"/>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TVOC, AQI, suhu, RH · I2C 0x53 · 0x38</a:t>
            </a:r>
            <a:endParaRPr lang="en-US" sz="1200" dirty="0"/>
          </a:p>
        </p:txBody>
      </p:sp>
      <p:sp>
        <p:nvSpPr>
          <p:cNvPr id="16" name="Shape 14"/>
          <p:cNvSpPr/>
          <p:nvPr/>
        </p:nvSpPr>
        <p:spPr>
          <a:xfrm>
            <a:off x="815975" y="4954687"/>
            <a:ext cx="3422650" cy="671711"/>
          </a:xfrm>
          <a:prstGeom prst="roundRect">
            <a:avLst>
              <a:gd name="adj" fmla="val 12762"/>
            </a:avLst>
          </a:prstGeom>
          <a:solidFill>
            <a:srgbClr val="FFFFFF"/>
          </a:solidFill>
          <a:ln w="6350">
            <a:solidFill>
              <a:srgbClr val="DDE3E0"/>
            </a:solidFill>
            <a:prstDash val="solid"/>
          </a:ln>
        </p:spPr>
      </p:sp>
      <p:sp>
        <p:nvSpPr>
          <p:cNvPr id="17" name="Text 15"/>
          <p:cNvSpPr/>
          <p:nvPr/>
        </p:nvSpPr>
        <p:spPr>
          <a:xfrm>
            <a:off x="971550" y="5059462"/>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Tach kipas · potensio · BOOT</a:t>
            </a:r>
            <a:endParaRPr lang="en-US" sz="1400" dirty="0"/>
          </a:p>
        </p:txBody>
      </p:sp>
      <p:sp>
        <p:nvSpPr>
          <p:cNvPr id="18" name="Text 16"/>
          <p:cNvSpPr/>
          <p:nvPr/>
        </p:nvSpPr>
        <p:spPr>
          <a:xfrm>
            <a:off x="971550" y="5308302"/>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GPIO7 interrupt · ADC GPIO4 · GPIO0</a:t>
            </a:r>
            <a:endParaRPr lang="en-US" sz="1200" dirty="0"/>
          </a:p>
        </p:txBody>
      </p:sp>
      <p:pic>
        <p:nvPicPr>
          <p:cNvPr id="19" name="Image 0" descr="connector">    </p:cNvPr>
          <p:cNvPicPr>
            <a:picLocks noChangeAspect="1"/>
          </p:cNvPicPr>
          <p:nvPr/>
        </p:nvPicPr>
        <p:blipFill>
          <a:blip r:embed="rId1"/>
          <a:srcRect l="0" r="0" t="0" b="0"/>
          <a:stretch/>
        </p:blipFill>
        <p:spPr>
          <a:xfrm>
            <a:off x="4292600" y="3718520"/>
            <a:ext cx="546100" cy="127000"/>
          </a:xfrm>
          <a:prstGeom prst="rect">
            <a:avLst/>
          </a:prstGeom>
        </p:spPr>
      </p:pic>
      <p:sp>
        <p:nvSpPr>
          <p:cNvPr id="20" name="Shape 17"/>
          <p:cNvSpPr/>
          <p:nvPr/>
        </p:nvSpPr>
        <p:spPr>
          <a:xfrm>
            <a:off x="4889500" y="2564209"/>
            <a:ext cx="2413000" cy="2435523"/>
          </a:xfrm>
          <a:prstGeom prst="roundRect">
            <a:avLst>
              <a:gd name="adj" fmla="val 5263"/>
            </a:avLst>
          </a:prstGeom>
          <a:solidFill>
            <a:srgbClr val="0F1B24"/>
          </a:solidFill>
          <a:ln/>
        </p:spPr>
      </p:sp>
      <p:sp>
        <p:nvSpPr>
          <p:cNvPr id="21" name="Text 18"/>
          <p:cNvSpPr/>
          <p:nvPr/>
        </p:nvSpPr>
        <p:spPr>
          <a:xfrm>
            <a:off x="5596066" y="2818209"/>
            <a:ext cx="999768" cy="238720"/>
          </a:xfrm>
          <a:prstGeom prst="rect">
            <a:avLst/>
          </a:prstGeom>
          <a:noFill/>
          <a:ln/>
        </p:spPr>
        <p:txBody>
          <a:bodyPr wrap="square" lIns="0" tIns="0" rIns="0" bIns="0" rtlCol="0" anchor="t">
            <a:normAutofit/>
          </a:bodyPr>
          <a:lstStyle/>
          <a:p>
            <a:pPr algn="ctr" indent="0" marL="0">
              <a:lnSpc>
                <a:spcPts val="1680"/>
              </a:lnSpc>
              <a:buNone/>
            </a:pPr>
            <a:r>
              <a:rPr lang="en-US" sz="1200" spc="100" kern="0" dirty="0">
                <a:solidFill>
                  <a:srgbClr val="3DD6A3"/>
                </a:solidFill>
                <a:latin typeface="JetBrains Mono" pitchFamily="49" charset="0"/>
                <a:ea typeface="JetBrains Mono" pitchFamily="49" charset="-122"/>
                <a:cs typeface="JetBrains Mono" pitchFamily="49" charset="-120"/>
              </a:rPr>
              <a:t>ESP32-S3</a:t>
            </a:r>
            <a:endParaRPr lang="en-US" sz="1200" dirty="0"/>
          </a:p>
        </p:txBody>
      </p:sp>
      <p:sp>
        <p:nvSpPr>
          <p:cNvPr id="22" name="Text 19"/>
          <p:cNvSpPr/>
          <p:nvPr/>
        </p:nvSpPr>
        <p:spPr>
          <a:xfrm>
            <a:off x="5321270" y="3133130"/>
            <a:ext cx="1549360" cy="332680"/>
          </a:xfrm>
          <a:prstGeom prst="rect">
            <a:avLst/>
          </a:prstGeom>
          <a:noFill/>
          <a:ln/>
        </p:spPr>
        <p:txBody>
          <a:bodyPr wrap="square" lIns="0" tIns="0" rIns="0" bIns="0" rtlCol="0" anchor="t">
            <a:normAutofit/>
          </a:bodyPr>
          <a:lstStyle/>
          <a:p>
            <a:pPr algn="ctr" indent="0" marL="0">
              <a:lnSpc>
                <a:spcPts val="2420"/>
              </a:lnSpc>
              <a:buNone/>
            </a:pPr>
            <a:r>
              <a:rPr lang="en-US" sz="2200" b="1" dirty="0">
                <a:solidFill>
                  <a:srgbClr val="F4F6F3"/>
                </a:solidFill>
                <a:latin typeface="IBM Plex Sans" pitchFamily="34" charset="0"/>
                <a:ea typeface="IBM Plex Sans" pitchFamily="34" charset="-122"/>
                <a:cs typeface="IBM Plex Sans" pitchFamily="34" charset="-120"/>
              </a:rPr>
              <a:t>FreeRTOS</a:t>
            </a:r>
            <a:endParaRPr lang="en-US" sz="2200" dirty="0"/>
          </a:p>
        </p:txBody>
      </p:sp>
      <p:sp>
        <p:nvSpPr>
          <p:cNvPr id="23" name="Text 20"/>
          <p:cNvSpPr/>
          <p:nvPr/>
        </p:nvSpPr>
        <p:spPr>
          <a:xfrm>
            <a:off x="5062601" y="3542010"/>
            <a:ext cx="2066798" cy="487561"/>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A9B8C4"/>
                </a:solidFill>
                <a:latin typeface="IBM Plex Sans" pitchFamily="34" charset="0"/>
                <a:ea typeface="IBM Plex Sans" pitchFamily="34" charset="-122"/>
                <a:cs typeface="IBM Plex Sans" pitchFamily="34" charset="-120"/>
              </a:rPr>
              <a:t>9 task berjalan paralel di 2 core</a:t>
            </a:r>
            <a:endParaRPr lang="en-US" sz="1300" dirty="0"/>
          </a:p>
        </p:txBody>
      </p:sp>
      <p:sp>
        <p:nvSpPr>
          <p:cNvPr id="24" name="Text 21"/>
          <p:cNvSpPr/>
          <p:nvPr/>
        </p:nvSpPr>
        <p:spPr>
          <a:xfrm>
            <a:off x="5062601" y="4105771"/>
            <a:ext cx="2066798" cy="665361"/>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9B8C4"/>
                </a:solidFill>
                <a:latin typeface="IBM Plex Sans" pitchFamily="34" charset="0"/>
                <a:ea typeface="IBM Plex Sans" pitchFamily="34" charset="-122"/>
                <a:cs typeface="IBM Plex Sans" pitchFamily="34" charset="-120"/>
              </a:rPr>
              <a:t>sensor · zh03b · scd40 · env · fan · display · console · remotexy · web</a:t>
            </a:r>
            <a:endParaRPr lang="en-US" sz="1200" dirty="0"/>
          </a:p>
        </p:txBody>
      </p:sp>
      <p:pic>
        <p:nvPicPr>
          <p:cNvPr id="25" name="Image 1" descr="connector">    </p:cNvPr>
          <p:cNvPicPr>
            <a:picLocks noChangeAspect="1"/>
          </p:cNvPicPr>
          <p:nvPr/>
        </p:nvPicPr>
        <p:blipFill>
          <a:blip r:embed="rId2"/>
          <a:srcRect l="0" r="0" t="0" b="0"/>
          <a:stretch/>
        </p:blipFill>
        <p:spPr>
          <a:xfrm>
            <a:off x="7353300" y="3718520"/>
            <a:ext cx="546100" cy="127000"/>
          </a:xfrm>
          <a:prstGeom prst="rect">
            <a:avLst/>
          </a:prstGeom>
        </p:spPr>
      </p:pic>
      <p:sp>
        <p:nvSpPr>
          <p:cNvPr id="26" name="Shape 22"/>
          <p:cNvSpPr/>
          <p:nvPr/>
        </p:nvSpPr>
        <p:spPr>
          <a:xfrm>
            <a:off x="7953375" y="2314773"/>
            <a:ext cx="3422650" cy="671711"/>
          </a:xfrm>
          <a:prstGeom prst="roundRect">
            <a:avLst>
              <a:gd name="adj" fmla="val 12762"/>
            </a:avLst>
          </a:prstGeom>
          <a:solidFill>
            <a:srgbClr val="FFFFFF"/>
          </a:solidFill>
          <a:ln w="6350">
            <a:solidFill>
              <a:srgbClr val="DDE3E0"/>
            </a:solidFill>
            <a:prstDash val="solid"/>
          </a:ln>
        </p:spPr>
      </p:sp>
      <p:sp>
        <p:nvSpPr>
          <p:cNvPr id="27" name="Text 23"/>
          <p:cNvSpPr/>
          <p:nvPr/>
        </p:nvSpPr>
        <p:spPr>
          <a:xfrm>
            <a:off x="8108950" y="2419548"/>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Kipas 12 V 4-pin</a:t>
            </a:r>
            <a:endParaRPr lang="en-US" sz="1400" dirty="0"/>
          </a:p>
        </p:txBody>
      </p:sp>
      <p:sp>
        <p:nvSpPr>
          <p:cNvPr id="28" name="Text 24"/>
          <p:cNvSpPr/>
          <p:nvPr/>
        </p:nvSpPr>
        <p:spPr>
          <a:xfrm>
            <a:off x="8108950" y="2668389"/>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PWM 25 kHz GPIO5 · relay GPIO47</a:t>
            </a:r>
            <a:endParaRPr lang="en-US" sz="1200" dirty="0"/>
          </a:p>
        </p:txBody>
      </p:sp>
      <p:sp>
        <p:nvSpPr>
          <p:cNvPr id="29" name="Shape 25"/>
          <p:cNvSpPr/>
          <p:nvPr/>
        </p:nvSpPr>
        <p:spPr>
          <a:xfrm>
            <a:off x="7953375" y="3069034"/>
            <a:ext cx="3422650" cy="671711"/>
          </a:xfrm>
          <a:prstGeom prst="roundRect">
            <a:avLst>
              <a:gd name="adj" fmla="val 12762"/>
            </a:avLst>
          </a:prstGeom>
          <a:solidFill>
            <a:srgbClr val="FFFFFF"/>
          </a:solidFill>
          <a:ln w="6350">
            <a:solidFill>
              <a:srgbClr val="DDE3E0"/>
            </a:solidFill>
            <a:prstDash val="solid"/>
          </a:ln>
        </p:spPr>
      </p:sp>
      <p:sp>
        <p:nvSpPr>
          <p:cNvPr id="30" name="Text 26"/>
          <p:cNvSpPr/>
          <p:nvPr/>
        </p:nvSpPr>
        <p:spPr>
          <a:xfrm>
            <a:off x="8108950" y="3173809"/>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OLED 0.96″ &amp; LED RGB</a:t>
            </a:r>
            <a:endParaRPr lang="en-US" sz="1400" dirty="0"/>
          </a:p>
        </p:txBody>
      </p:sp>
      <p:sp>
        <p:nvSpPr>
          <p:cNvPr id="31" name="Text 27"/>
          <p:cNvSpPr/>
          <p:nvPr/>
        </p:nvSpPr>
        <p:spPr>
          <a:xfrm>
            <a:off x="8108950" y="342265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tampilan lokal &amp; peringatan warna</a:t>
            </a:r>
            <a:endParaRPr lang="en-US" sz="1200" dirty="0"/>
          </a:p>
        </p:txBody>
      </p:sp>
      <p:sp>
        <p:nvSpPr>
          <p:cNvPr id="32" name="Shape 28"/>
          <p:cNvSpPr/>
          <p:nvPr/>
        </p:nvSpPr>
        <p:spPr>
          <a:xfrm>
            <a:off x="7953375" y="3823295"/>
            <a:ext cx="3422650" cy="671711"/>
          </a:xfrm>
          <a:prstGeom prst="roundRect">
            <a:avLst>
              <a:gd name="adj" fmla="val 12762"/>
            </a:avLst>
          </a:prstGeom>
          <a:solidFill>
            <a:srgbClr val="FFFFFF"/>
          </a:solidFill>
          <a:ln w="6350">
            <a:solidFill>
              <a:srgbClr val="DDE3E0"/>
            </a:solidFill>
            <a:prstDash val="solid"/>
          </a:ln>
        </p:spPr>
      </p:sp>
      <p:sp>
        <p:nvSpPr>
          <p:cNvPr id="33" name="Text 29"/>
          <p:cNvSpPr/>
          <p:nvPr/>
        </p:nvSpPr>
        <p:spPr>
          <a:xfrm>
            <a:off x="8108950" y="3928070"/>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RemoteXY · Bluetooth LE</a:t>
            </a:r>
            <a:endParaRPr lang="en-US" sz="1400" dirty="0"/>
          </a:p>
        </p:txBody>
      </p:sp>
      <p:sp>
        <p:nvSpPr>
          <p:cNvPr id="34" name="Text 30"/>
          <p:cNvSpPr/>
          <p:nvPr/>
        </p:nvSpPr>
        <p:spPr>
          <a:xfrm>
            <a:off x="8108950" y="4176911"/>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aplikasi HP, nama “CAIR”</a:t>
            </a:r>
            <a:endParaRPr lang="en-US" sz="1200" dirty="0"/>
          </a:p>
        </p:txBody>
      </p:sp>
      <p:sp>
        <p:nvSpPr>
          <p:cNvPr id="35" name="Shape 31"/>
          <p:cNvSpPr/>
          <p:nvPr/>
        </p:nvSpPr>
        <p:spPr>
          <a:xfrm>
            <a:off x="7953375" y="4577556"/>
            <a:ext cx="3422650" cy="671711"/>
          </a:xfrm>
          <a:prstGeom prst="roundRect">
            <a:avLst>
              <a:gd name="adj" fmla="val 12762"/>
            </a:avLst>
          </a:prstGeom>
          <a:solidFill>
            <a:srgbClr val="FFFFFF"/>
          </a:solidFill>
          <a:ln w="6350">
            <a:solidFill>
              <a:srgbClr val="DDE3E0"/>
            </a:solidFill>
            <a:prstDash val="solid"/>
          </a:ln>
        </p:spPr>
      </p:sp>
      <p:sp>
        <p:nvSpPr>
          <p:cNvPr id="36" name="Text 32"/>
          <p:cNvSpPr/>
          <p:nvPr/>
        </p:nvSpPr>
        <p:spPr>
          <a:xfrm>
            <a:off x="8108950" y="4682331"/>
            <a:ext cx="320484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Dashboard web · WiFi</a:t>
            </a:r>
            <a:endParaRPr lang="en-US" sz="1400" dirty="0"/>
          </a:p>
        </p:txBody>
      </p:sp>
      <p:sp>
        <p:nvSpPr>
          <p:cNvPr id="37" name="Text 33"/>
          <p:cNvSpPr/>
          <p:nvPr/>
        </p:nvSpPr>
        <p:spPr>
          <a:xfrm>
            <a:off x="8108950" y="4931172"/>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hotspot CAIR-XXXX atau cair.local</a:t>
            </a:r>
            <a:endParaRPr lang="en-US" sz="1200" dirty="0"/>
          </a:p>
        </p:txBody>
      </p:sp>
      <p:sp>
        <p:nvSpPr>
          <p:cNvPr id="38"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02 · HARDWARE</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Daftar komponen</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4741"/>
          <a:ext cx="10553700" cy="3990975"/>
        </p:xfrm>
        <a:graphic>
          <a:graphicData uri="http://schemas.openxmlformats.org/drawingml/2006/table">
            <a:tbl>
              <a:tblPr/>
              <a:tblGrid>
                <a:gridCol w="3166110"/>
                <a:gridCol w="4221480"/>
                <a:gridCol w="3166110"/>
              </a:tblGrid>
              <a:tr h="332581">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Komponen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Fungsi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Catatan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ESP32-S3-DevKitC-1 N16R8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MCU utama, WiFi + BLE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dual-core 240 MHz</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GPIO Shield ESP32-S3 Rev2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terminal, 2 relay, DC jack 12 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khurslabs.com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Nova SDS011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PM2.5 &amp; PM10 dalam ruangan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5 V, logika 3.3 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Winsen ZH03B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PM2.5 luar ruangan (laser)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5 V, logika 3.3 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Sensirion SCD40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CO₂ asli (NDIR), suhu, RH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I2C 0x62, 3.3 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Modul ENS160 + AHT21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TVOC, AQI, suhu, RH (eCO₂ cadangan)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I2C, 3.3 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OLED 0.96″ SSD1306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tampilan lokal 128×64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I2C 0x3C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Kipas CPU 12 V 4-pin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menggerakkan udara lewat filter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PWM + TACH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Filter HEPA / karbon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menangkap partikel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dipasang di sisi hisap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Adaptor 12 V ≥ 2 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daya kipas &amp; board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ke DC jack shield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Potensio 10k, resistor 10k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atur manual · pull-up TACH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ke 3V3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7629"/>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B7A5A"/>
                </a:solidFill>
                <a:latin typeface="JetBrains Mono" pitchFamily="49" charset="0"/>
                <a:ea typeface="JetBrains Mono" pitchFamily="49" charset="-122"/>
                <a:cs typeface="JetBrains Mono" pitchFamily="49" charset="-120"/>
              </a:rPr>
              <a:t>02 · HARDWARE</a:t>
            </a:r>
            <a:endParaRPr lang="en-US" sz="1196" dirty="0"/>
          </a:p>
        </p:txBody>
      </p:sp>
      <p:sp>
        <p:nvSpPr>
          <p:cNvPr id="3" name="Text 1"/>
          <p:cNvSpPr/>
          <p:nvPr>
            <p:ph type="title"/>
          </p:nvPr>
        </p:nvSpPr>
        <p:spPr>
          <a:xfrm>
            <a:off x="812800" y="999629"/>
            <a:ext cx="10883392" cy="490438"/>
          </a:xfrm>
          <a:prstGeom prst="rect">
            <a:avLst/>
          </a:prstGeom>
          <a:noFill/>
          <a:ln/>
        </p:spPr>
        <p:txBody>
          <a:bodyPr wrap="square" lIns="0" tIns="0" rIns="0" bIns="0" rtlCol="0" anchor="t">
            <a:normAutofit/>
          </a:bodyPr>
          <a:lstStyle/>
          <a:p>
            <a:pPr algn="l" indent="0" marL="0">
              <a:lnSpc>
                <a:spcPts val="3668"/>
              </a:lnSpc>
              <a:buNone/>
            </a:pPr>
            <a:r>
              <a:rPr lang="en-US" sz="3190" b="1" i="0" dirty="0">
                <a:solidFill>
                  <a:srgbClr val="0F1B24"/>
                </a:solidFill>
                <a:latin typeface="IBM Plex Sans" pitchFamily="34" charset="0"/>
                <a:ea typeface="IBM Plex Sans" pitchFamily="34" charset="-122"/>
                <a:cs typeface="IBM Plex Sans" pitchFamily="34" charset="-120"/>
              </a:rPr>
              <a:t>Peta pin (include/config.h)</a:t>
            </a:r>
            <a:endParaRPr lang="en-US" sz="319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1367"/>
          <a:ext cx="6946900" cy="3951982"/>
        </p:xfrm>
        <a:graphic>
          <a:graphicData uri="http://schemas.openxmlformats.org/drawingml/2006/table">
            <a:tbl>
              <a:tblPr/>
              <a:tblGrid>
                <a:gridCol w="3612388"/>
                <a:gridCol w="1389380"/>
                <a:gridCol w="1945132"/>
              </a:tblGrid>
              <a:tr h="359271">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Fungsi</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GPIO</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Bus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Log / console / upload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43 · 44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UART0 USB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SDS011 TX → ESP RX</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UART1 9600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ESP TX → SDS011 RX</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UART1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ZH03B TX → ESP RX</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16</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UART2 9600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ESP TX → ZH03B RX</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UART2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SDA · SCL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8 · 9</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I2C 400 kHz</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PWM kipas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5</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LEDC 25 kHz</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TACH kipas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interrupt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Relay1 daya kipas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47</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output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Potensio · BOOT · RGB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4 · 0 · 48</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ADC · in · WS2812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bl>
          </a:graphicData>
        </a:graphic>
      </p:graphicFrame>
      <p:sp>
        <p:nvSpPr>
          <p:cNvPr id="5" name="Shape 2"/>
          <p:cNvSpPr/>
          <p:nvPr/>
        </p:nvSpPr>
        <p:spPr>
          <a:xfrm>
            <a:off x="8077200" y="1718667"/>
            <a:ext cx="3302000" cy="1281311"/>
          </a:xfrm>
          <a:prstGeom prst="roundRect">
            <a:avLst>
              <a:gd name="adj" fmla="val 7929"/>
            </a:avLst>
          </a:prstGeom>
          <a:solidFill>
            <a:srgbClr val="0F1B24"/>
          </a:solidFill>
          <a:ln/>
        </p:spPr>
      </p:sp>
      <p:sp>
        <p:nvSpPr>
          <p:cNvPr id="6" name="Text 3"/>
          <p:cNvSpPr/>
          <p:nvPr/>
        </p:nvSpPr>
        <p:spPr>
          <a:xfrm>
            <a:off x="8280400" y="1896467"/>
            <a:ext cx="2982468" cy="252313"/>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3DD6A3"/>
                </a:solidFill>
                <a:latin typeface="IBM Plex Sans" pitchFamily="34" charset="0"/>
                <a:ea typeface="IBM Plex Sans" pitchFamily="34" charset="-122"/>
                <a:cs typeface="IBM Plex Sans" pitchFamily="34" charset="-120"/>
              </a:rPr>
              <a:t>Satu bus I2C, empat alat</a:t>
            </a:r>
            <a:endParaRPr lang="en-US" sz="1500" dirty="0"/>
          </a:p>
        </p:txBody>
      </p:sp>
      <p:sp>
        <p:nvSpPr>
          <p:cNvPr id="7" name="Text 4"/>
          <p:cNvSpPr/>
          <p:nvPr/>
        </p:nvSpPr>
        <p:spPr>
          <a:xfrm>
            <a:off x="8280400" y="2186880"/>
            <a:ext cx="2982468" cy="660698"/>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C9D4DC"/>
                </a:solidFill>
                <a:latin typeface="IBM Plex Sans" pitchFamily="34" charset="0"/>
                <a:ea typeface="IBM Plex Sans" pitchFamily="34" charset="-122"/>
                <a:cs typeface="IBM Plex Sans" pitchFamily="34" charset="-120"/>
              </a:rPr>
              <a:t>OLED, ENS160, AHT21, SCD40 diparalel ke SDA 8 &amp; SCL 9. Alamat berbeda, jadi tidak bentrok.</a:t>
            </a:r>
            <a:endParaRPr lang="en-US" sz="1196" dirty="0"/>
          </a:p>
        </p:txBody>
      </p:sp>
      <p:sp>
        <p:nvSpPr>
          <p:cNvPr id="8" name="Shape 5"/>
          <p:cNvSpPr/>
          <p:nvPr/>
        </p:nvSpPr>
        <p:spPr>
          <a:xfrm>
            <a:off x="8080375" y="3130153"/>
            <a:ext cx="3295650" cy="1287661"/>
          </a:xfrm>
          <a:prstGeom prst="roundRect">
            <a:avLst>
              <a:gd name="adj" fmla="val 7644"/>
            </a:avLst>
          </a:prstGeom>
          <a:solidFill>
            <a:srgbClr val="FFFFFF"/>
          </a:solidFill>
          <a:ln w="6350">
            <a:solidFill>
              <a:srgbClr val="DDE3E0"/>
            </a:solidFill>
            <a:prstDash val="solid"/>
          </a:ln>
        </p:spPr>
      </p:sp>
      <p:sp>
        <p:nvSpPr>
          <p:cNvPr id="9" name="Text 6"/>
          <p:cNvSpPr/>
          <p:nvPr/>
        </p:nvSpPr>
        <p:spPr>
          <a:xfrm>
            <a:off x="8286750" y="3311128"/>
            <a:ext cx="2969387" cy="252313"/>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4"/>
                </a:solidFill>
                <a:latin typeface="IBM Plex Sans" pitchFamily="34" charset="0"/>
                <a:ea typeface="IBM Plex Sans" pitchFamily="34" charset="-122"/>
                <a:cs typeface="IBM Plex Sans" pitchFamily="34" charset="-120"/>
              </a:rPr>
              <a:t>GND bersama</a:t>
            </a:r>
            <a:endParaRPr lang="en-US" sz="1500" dirty="0"/>
          </a:p>
        </p:txBody>
      </p:sp>
      <p:sp>
        <p:nvSpPr>
          <p:cNvPr id="10" name="Text 7"/>
          <p:cNvSpPr/>
          <p:nvPr/>
        </p:nvSpPr>
        <p:spPr>
          <a:xfrm>
            <a:off x="8286750" y="3601541"/>
            <a:ext cx="2969387" cy="660698"/>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4A5568"/>
                </a:solidFill>
                <a:latin typeface="IBM Plex Sans" pitchFamily="34" charset="0"/>
                <a:ea typeface="IBM Plex Sans" pitchFamily="34" charset="-122"/>
                <a:cs typeface="IBM Plex Sans" pitchFamily="34" charset="-120"/>
              </a:rPr>
              <a:t>GND adaptor 12 V, kipas, sensor &amp; ESP32 wajib disatukan agar sinyal punya acuan yang sama.</a:t>
            </a:r>
            <a:endParaRPr lang="en-US" sz="1196" dirty="0"/>
          </a:p>
        </p:txBody>
      </p:sp>
      <p:sp>
        <p:nvSpPr>
          <p:cNvPr id="11" name="Shape 8"/>
          <p:cNvSpPr/>
          <p:nvPr/>
        </p:nvSpPr>
        <p:spPr>
          <a:xfrm>
            <a:off x="8080375" y="4551164"/>
            <a:ext cx="3295650" cy="1287661"/>
          </a:xfrm>
          <a:prstGeom prst="roundRect">
            <a:avLst>
              <a:gd name="adj" fmla="val 7644"/>
            </a:avLst>
          </a:prstGeom>
          <a:solidFill>
            <a:srgbClr val="FFFFFF"/>
          </a:solidFill>
          <a:ln w="6350">
            <a:solidFill>
              <a:srgbClr val="DDE3E0"/>
            </a:solidFill>
            <a:prstDash val="solid"/>
          </a:ln>
        </p:spPr>
      </p:sp>
      <p:sp>
        <p:nvSpPr>
          <p:cNvPr id="12" name="Text 9"/>
          <p:cNvSpPr/>
          <p:nvPr/>
        </p:nvSpPr>
        <p:spPr>
          <a:xfrm>
            <a:off x="8286750" y="4732139"/>
            <a:ext cx="2969387" cy="252313"/>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B8530C"/>
                </a:solidFill>
                <a:latin typeface="IBM Plex Sans" pitchFamily="34" charset="0"/>
                <a:ea typeface="IBM Plex Sans" pitchFamily="34" charset="-122"/>
                <a:cs typeface="IBM Plex Sans" pitchFamily="34" charset="-120"/>
              </a:rPr>
              <a:t>Hanya 3.3 V di GPIO</a:t>
            </a:r>
            <a:endParaRPr lang="en-US" sz="1500" dirty="0"/>
          </a:p>
        </p:txBody>
      </p:sp>
      <p:sp>
        <p:nvSpPr>
          <p:cNvPr id="13" name="Text 10"/>
          <p:cNvSpPr/>
          <p:nvPr/>
        </p:nvSpPr>
        <p:spPr>
          <a:xfrm>
            <a:off x="8286750" y="5022552"/>
            <a:ext cx="2969387" cy="660698"/>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4A5568"/>
                </a:solidFill>
                <a:latin typeface="IBM Plex Sans" pitchFamily="34" charset="0"/>
                <a:ea typeface="IBM Plex Sans" pitchFamily="34" charset="-122"/>
                <a:cs typeface="IBM Plex Sans" pitchFamily="34" charset="-120"/>
              </a:rPr>
              <a:t>VCC SDS011 &amp; ZH03B 5 V, tapi jangan pernah memberi 5 V atau 12 V ke pin GPIO.</a:t>
            </a:r>
            <a:endParaRPr lang="en-US" sz="1196"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02 · KIPAS 4-PIN</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Empat kabel, empat tugas</a:t>
            </a:r>
            <a:endParaRPr lang="en-US" sz="3200" dirty="0"/>
          </a:p>
        </p:txBody>
      </p:sp>
      <p:sp>
        <p:nvSpPr>
          <p:cNvPr id="4" name="Text 2"/>
          <p:cNvSpPr/>
          <p:nvPr/>
        </p:nvSpPr>
        <p:spPr>
          <a:xfrm>
            <a:off x="812800" y="1733451"/>
            <a:ext cx="457200" cy="457200"/>
          </a:xfrm>
          <a:prstGeom prst="roundRect">
            <a:avLst>
              <a:gd name="adj" fmla="val 16667"/>
            </a:avLst>
          </a:prstGeom>
          <a:solidFill>
            <a:srgbClr val="20262B"/>
          </a:solidFill>
          <a:ln/>
        </p:spPr>
        <p:txBody>
          <a:bodyPr wrap="square" lIns="0" tIns="0" rIns="0" bIns="0" rtlCol="0" anchor="ctr">
            <a:normAutofit/>
          </a:bodyPr>
          <a:lstStyle/>
          <a:p>
            <a:pPr algn="ctr" indent="0" marL="0">
              <a:lnSpc>
                <a:spcPts val="2240"/>
              </a:lnSpc>
              <a:buNone/>
            </a:pPr>
            <a:r>
              <a:rPr lang="en-US" sz="1600" b="1" dirty="0">
                <a:solidFill>
                  <a:srgbClr val="F4F6F3"/>
                </a:solidFill>
                <a:latin typeface="IBM Plex Sans" pitchFamily="34" charset="0"/>
                <a:ea typeface="IBM Plex Sans" pitchFamily="34" charset="-122"/>
                <a:cs typeface="IBM Plex Sans" pitchFamily="34" charset="-120"/>
              </a:rPr>
              <a:t>1</a:t>
            </a:r>
            <a:endParaRPr lang="en-US" sz="1600" dirty="0"/>
          </a:p>
        </p:txBody>
      </p:sp>
      <p:sp>
        <p:nvSpPr>
          <p:cNvPr id="5" name="Text 3"/>
          <p:cNvSpPr/>
          <p:nvPr/>
        </p:nvSpPr>
        <p:spPr>
          <a:xfrm>
            <a:off x="1397000" y="1722041"/>
            <a:ext cx="19621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A33"/>
                </a:solidFill>
                <a:latin typeface="IBM Plex Sans" pitchFamily="34" charset="0"/>
                <a:ea typeface="IBM Plex Sans" pitchFamily="34" charset="-122"/>
                <a:cs typeface="IBM Plex Sans" pitchFamily="34" charset="-120"/>
              </a:rPr>
              <a:t>GND</a:t>
            </a:r>
            <a:endParaRPr lang="en-US" sz="1500" dirty="0"/>
          </a:p>
        </p:txBody>
      </p:sp>
      <p:sp>
        <p:nvSpPr>
          <p:cNvPr id="6" name="Text 4"/>
          <p:cNvSpPr/>
          <p:nvPr/>
        </p:nvSpPr>
        <p:spPr>
          <a:xfrm>
            <a:off x="1397000" y="1988741"/>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kabel hitam</a:t>
            </a:r>
            <a:endParaRPr lang="en-US" sz="1200" dirty="0"/>
          </a:p>
        </p:txBody>
      </p:sp>
      <p:pic>
        <p:nvPicPr>
          <p:cNvPr id="7" name="Image 0" descr="connector">    </p:cNvPr>
          <p:cNvPicPr>
            <a:picLocks noChangeAspect="1"/>
          </p:cNvPicPr>
          <p:nvPr/>
        </p:nvPicPr>
        <p:blipFill>
          <a:blip r:embed="rId1"/>
          <a:srcRect l="0" r="0" t="0" b="0"/>
          <a:stretch/>
        </p:blipFill>
        <p:spPr>
          <a:xfrm>
            <a:off x="3429000" y="1911251"/>
            <a:ext cx="457200" cy="101600"/>
          </a:xfrm>
          <a:prstGeom prst="rect">
            <a:avLst/>
          </a:prstGeom>
        </p:spPr>
      </p:pic>
      <p:sp>
        <p:nvSpPr>
          <p:cNvPr id="8" name="Text 5"/>
          <p:cNvSpPr/>
          <p:nvPr/>
        </p:nvSpPr>
        <p:spPr>
          <a:xfrm>
            <a:off x="4016375" y="1732855"/>
            <a:ext cx="4210050" cy="458391"/>
          </a:xfrm>
          <a:prstGeom prst="roundRect">
            <a:avLst>
              <a:gd name="adj" fmla="val 18701"/>
            </a:avLst>
          </a:prstGeom>
          <a:solidFill>
            <a:srgbClr val="FFFFFF"/>
          </a:solidFill>
          <a:ln w="6350">
            <a:solidFill>
              <a:srgbClr val="DDE3E0"/>
            </a:solidFill>
            <a:prstDash val="solid"/>
          </a:ln>
        </p:spPr>
        <p:txBody>
          <a:bodyPr wrap="square" lIns="130467" tIns="79667" rIns="13500" bIns="54267" rtlCol="0" anchor="t">
            <a:normAutofit/>
          </a:bodyPr>
          <a:lstStyle/>
          <a:p>
            <a:pPr algn="l"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GND bersama (adaptor + ESP32)</a:t>
            </a:r>
            <a:endParaRPr lang="en-US" sz="1400" dirty="0"/>
          </a:p>
        </p:txBody>
      </p:sp>
      <p:sp>
        <p:nvSpPr>
          <p:cNvPr id="9" name="Text 6"/>
          <p:cNvSpPr/>
          <p:nvPr/>
        </p:nvSpPr>
        <p:spPr>
          <a:xfrm>
            <a:off x="812800" y="2315071"/>
            <a:ext cx="457200" cy="457200"/>
          </a:xfrm>
          <a:prstGeom prst="roundRect">
            <a:avLst>
              <a:gd name="adj" fmla="val 16667"/>
            </a:avLst>
          </a:prstGeom>
          <a:solidFill>
            <a:srgbClr val="E8C547"/>
          </a:solidFill>
          <a:ln/>
        </p:spPr>
        <p:txBody>
          <a:bodyPr wrap="square" lIns="0" tIns="0" rIns="0" bIns="0" rtlCol="0" anchor="ctr">
            <a:normAutofit/>
          </a:bodyPr>
          <a:lstStyle/>
          <a:p>
            <a:pPr algn="ctr" indent="0" marL="0">
              <a:lnSpc>
                <a:spcPts val="2240"/>
              </a:lnSpc>
              <a:buNone/>
            </a:pPr>
            <a:r>
              <a:rPr lang="en-US" sz="1600" b="1" dirty="0">
                <a:solidFill>
                  <a:srgbClr val="20262B"/>
                </a:solidFill>
                <a:latin typeface="IBM Plex Sans" pitchFamily="34" charset="0"/>
                <a:ea typeface="IBM Plex Sans" pitchFamily="34" charset="-122"/>
                <a:cs typeface="IBM Plex Sans" pitchFamily="34" charset="-120"/>
              </a:rPr>
              <a:t>2</a:t>
            </a:r>
            <a:endParaRPr lang="en-US" sz="1600" dirty="0"/>
          </a:p>
        </p:txBody>
      </p:sp>
      <p:sp>
        <p:nvSpPr>
          <p:cNvPr id="10" name="Text 7"/>
          <p:cNvSpPr/>
          <p:nvPr/>
        </p:nvSpPr>
        <p:spPr>
          <a:xfrm>
            <a:off x="1397000" y="2303661"/>
            <a:ext cx="19621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A33"/>
                </a:solidFill>
                <a:latin typeface="IBM Plex Sans" pitchFamily="34" charset="0"/>
                <a:ea typeface="IBM Plex Sans" pitchFamily="34" charset="-122"/>
                <a:cs typeface="IBM Plex Sans" pitchFamily="34" charset="-120"/>
              </a:rPr>
              <a:t>+12 V</a:t>
            </a:r>
            <a:endParaRPr lang="en-US" sz="1500" dirty="0"/>
          </a:p>
        </p:txBody>
      </p:sp>
      <p:sp>
        <p:nvSpPr>
          <p:cNvPr id="11" name="Text 8"/>
          <p:cNvSpPr/>
          <p:nvPr/>
        </p:nvSpPr>
        <p:spPr>
          <a:xfrm>
            <a:off x="1397000" y="2570361"/>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kabel kuning / merah</a:t>
            </a:r>
            <a:endParaRPr lang="en-US" sz="1200" dirty="0"/>
          </a:p>
        </p:txBody>
      </p:sp>
      <p:pic>
        <p:nvPicPr>
          <p:cNvPr id="12" name="Image 1" descr="connector">    </p:cNvPr>
          <p:cNvPicPr>
            <a:picLocks noChangeAspect="1"/>
          </p:cNvPicPr>
          <p:nvPr/>
        </p:nvPicPr>
        <p:blipFill>
          <a:blip r:embed="rId2"/>
          <a:srcRect l="0" r="0" t="0" b="0"/>
          <a:stretch/>
        </p:blipFill>
        <p:spPr>
          <a:xfrm>
            <a:off x="3429000" y="2492871"/>
            <a:ext cx="457200" cy="101600"/>
          </a:xfrm>
          <a:prstGeom prst="rect">
            <a:avLst/>
          </a:prstGeom>
        </p:spPr>
      </p:pic>
      <p:sp>
        <p:nvSpPr>
          <p:cNvPr id="13" name="Text 9"/>
          <p:cNvSpPr/>
          <p:nvPr/>
        </p:nvSpPr>
        <p:spPr>
          <a:xfrm>
            <a:off x="4016375" y="2314476"/>
            <a:ext cx="4210050" cy="458391"/>
          </a:xfrm>
          <a:prstGeom prst="roundRect">
            <a:avLst>
              <a:gd name="adj" fmla="val 18701"/>
            </a:avLst>
          </a:prstGeom>
          <a:solidFill>
            <a:srgbClr val="FFFFFF"/>
          </a:solidFill>
          <a:ln w="6350">
            <a:solidFill>
              <a:srgbClr val="DDE3E0"/>
            </a:solidFill>
            <a:prstDash val="solid"/>
          </a:ln>
        </p:spPr>
        <p:txBody>
          <a:bodyPr wrap="square" lIns="130467" tIns="79667" rIns="13500" bIns="54267" rtlCol="0" anchor="t">
            <a:normAutofit/>
          </a:bodyPr>
          <a:lstStyle/>
          <a:p>
            <a:pPr algn="l"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NO Relay1 · COM ← +12 V adaptor</a:t>
            </a:r>
            <a:endParaRPr lang="en-US" sz="1400" dirty="0"/>
          </a:p>
        </p:txBody>
      </p:sp>
      <p:sp>
        <p:nvSpPr>
          <p:cNvPr id="14" name="Text 10"/>
          <p:cNvSpPr/>
          <p:nvPr/>
        </p:nvSpPr>
        <p:spPr>
          <a:xfrm>
            <a:off x="812800" y="2896691"/>
            <a:ext cx="457200" cy="457200"/>
          </a:xfrm>
          <a:prstGeom prst="roundRect">
            <a:avLst>
              <a:gd name="adj" fmla="val 16667"/>
            </a:avLst>
          </a:prstGeom>
          <a:solidFill>
            <a:srgbClr val="1F9D63"/>
          </a:solidFill>
          <a:ln/>
        </p:spPr>
        <p:txBody>
          <a:bodyPr wrap="square" lIns="0" tIns="0" rIns="0" bIns="0" rtlCol="0" anchor="ctr">
            <a:normAutofit/>
          </a:bodyPr>
          <a:lstStyle/>
          <a:p>
            <a:pPr algn="ctr" indent="0" marL="0">
              <a:lnSpc>
                <a:spcPts val="2240"/>
              </a:lnSpc>
              <a:buNone/>
            </a:pPr>
            <a:r>
              <a:rPr lang="en-US" sz="1600" b="1" dirty="0">
                <a:solidFill>
                  <a:srgbClr val="F4F6F3"/>
                </a:solidFill>
                <a:latin typeface="IBM Plex Sans" pitchFamily="34" charset="0"/>
                <a:ea typeface="IBM Plex Sans" pitchFamily="34" charset="-122"/>
                <a:cs typeface="IBM Plex Sans" pitchFamily="34" charset="-120"/>
              </a:rPr>
              <a:t>3</a:t>
            </a:r>
            <a:endParaRPr lang="en-US" sz="1600" dirty="0"/>
          </a:p>
        </p:txBody>
      </p:sp>
      <p:sp>
        <p:nvSpPr>
          <p:cNvPr id="15" name="Text 11"/>
          <p:cNvSpPr/>
          <p:nvPr/>
        </p:nvSpPr>
        <p:spPr>
          <a:xfrm>
            <a:off x="1397000" y="2885281"/>
            <a:ext cx="19621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A33"/>
                </a:solidFill>
                <a:latin typeface="IBM Plex Sans" pitchFamily="34" charset="0"/>
                <a:ea typeface="IBM Plex Sans" pitchFamily="34" charset="-122"/>
                <a:cs typeface="IBM Plex Sans" pitchFamily="34" charset="-120"/>
              </a:rPr>
              <a:t>TACH (sense)</a:t>
            </a:r>
            <a:endParaRPr lang="en-US" sz="1500" dirty="0"/>
          </a:p>
        </p:txBody>
      </p:sp>
      <p:sp>
        <p:nvSpPr>
          <p:cNvPr id="16" name="Text 12"/>
          <p:cNvSpPr/>
          <p:nvPr/>
        </p:nvSpPr>
        <p:spPr>
          <a:xfrm>
            <a:off x="1397000" y="3151981"/>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kabel hijau</a:t>
            </a:r>
            <a:endParaRPr lang="en-US" sz="1200" dirty="0"/>
          </a:p>
        </p:txBody>
      </p:sp>
      <p:pic>
        <p:nvPicPr>
          <p:cNvPr id="17" name="Image 2" descr="connector">    </p:cNvPr>
          <p:cNvPicPr>
            <a:picLocks noChangeAspect="1"/>
          </p:cNvPicPr>
          <p:nvPr/>
        </p:nvPicPr>
        <p:blipFill>
          <a:blip r:embed="rId3"/>
          <a:srcRect l="0" r="0" t="0" b="0"/>
          <a:stretch/>
        </p:blipFill>
        <p:spPr>
          <a:xfrm>
            <a:off x="3429000" y="3074491"/>
            <a:ext cx="457200" cy="101600"/>
          </a:xfrm>
          <a:prstGeom prst="rect">
            <a:avLst/>
          </a:prstGeom>
        </p:spPr>
      </p:pic>
      <p:sp>
        <p:nvSpPr>
          <p:cNvPr id="18" name="Text 13"/>
          <p:cNvSpPr/>
          <p:nvPr/>
        </p:nvSpPr>
        <p:spPr>
          <a:xfrm>
            <a:off x="4016375" y="2896096"/>
            <a:ext cx="4210050" cy="458391"/>
          </a:xfrm>
          <a:prstGeom prst="roundRect">
            <a:avLst>
              <a:gd name="adj" fmla="val 18701"/>
            </a:avLst>
          </a:prstGeom>
          <a:solidFill>
            <a:srgbClr val="FFFFFF"/>
          </a:solidFill>
          <a:ln w="6350">
            <a:solidFill>
              <a:srgbClr val="DDE3E0"/>
            </a:solidFill>
            <a:prstDash val="solid"/>
          </a:ln>
        </p:spPr>
        <p:txBody>
          <a:bodyPr wrap="square" lIns="130467" tIns="79667" rIns="13500" bIns="54267" rtlCol="0" anchor="t">
            <a:normAutofit/>
          </a:bodyPr>
          <a:lstStyle/>
          <a:p>
            <a:pPr algn="l"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GPIO7 + resistor 10k ke 3V3</a:t>
            </a:r>
            <a:endParaRPr lang="en-US" sz="1400" dirty="0"/>
          </a:p>
        </p:txBody>
      </p:sp>
      <p:sp>
        <p:nvSpPr>
          <p:cNvPr id="19" name="Text 14"/>
          <p:cNvSpPr/>
          <p:nvPr/>
        </p:nvSpPr>
        <p:spPr>
          <a:xfrm>
            <a:off x="812800" y="3478312"/>
            <a:ext cx="457200" cy="457200"/>
          </a:xfrm>
          <a:prstGeom prst="roundRect">
            <a:avLst>
              <a:gd name="adj" fmla="val 16667"/>
            </a:avLst>
          </a:prstGeom>
          <a:solidFill>
            <a:srgbClr val="2563EB"/>
          </a:solidFill>
          <a:ln/>
        </p:spPr>
        <p:txBody>
          <a:bodyPr wrap="square" lIns="0" tIns="0" rIns="0" bIns="0" rtlCol="0" anchor="ctr">
            <a:normAutofit/>
          </a:bodyPr>
          <a:lstStyle/>
          <a:p>
            <a:pPr algn="ctr" indent="0" marL="0">
              <a:lnSpc>
                <a:spcPts val="2240"/>
              </a:lnSpc>
              <a:buNone/>
            </a:pPr>
            <a:r>
              <a:rPr lang="en-US" sz="1600" b="1" dirty="0">
                <a:solidFill>
                  <a:srgbClr val="F4F6F3"/>
                </a:solidFill>
                <a:latin typeface="IBM Plex Sans" pitchFamily="34" charset="0"/>
                <a:ea typeface="IBM Plex Sans" pitchFamily="34" charset="-122"/>
                <a:cs typeface="IBM Plex Sans" pitchFamily="34" charset="-120"/>
              </a:rPr>
              <a:t>4</a:t>
            </a:r>
            <a:endParaRPr lang="en-US" sz="1600" dirty="0"/>
          </a:p>
        </p:txBody>
      </p:sp>
      <p:sp>
        <p:nvSpPr>
          <p:cNvPr id="20" name="Text 15"/>
          <p:cNvSpPr/>
          <p:nvPr/>
        </p:nvSpPr>
        <p:spPr>
          <a:xfrm>
            <a:off x="1397000" y="3466902"/>
            <a:ext cx="19621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A33"/>
                </a:solidFill>
                <a:latin typeface="IBM Plex Sans" pitchFamily="34" charset="0"/>
                <a:ea typeface="IBM Plex Sans" pitchFamily="34" charset="-122"/>
                <a:cs typeface="IBM Plex Sans" pitchFamily="34" charset="-120"/>
              </a:rPr>
              <a:t>PWM (control)</a:t>
            </a:r>
            <a:endParaRPr lang="en-US" sz="1500" dirty="0"/>
          </a:p>
        </p:txBody>
      </p:sp>
      <p:sp>
        <p:nvSpPr>
          <p:cNvPr id="21" name="Text 16"/>
          <p:cNvSpPr/>
          <p:nvPr/>
        </p:nvSpPr>
        <p:spPr>
          <a:xfrm>
            <a:off x="1397000" y="3733602"/>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kabel biru</a:t>
            </a:r>
            <a:endParaRPr lang="en-US" sz="1200" dirty="0"/>
          </a:p>
        </p:txBody>
      </p:sp>
      <p:pic>
        <p:nvPicPr>
          <p:cNvPr id="22" name="Image 3" descr="connector">    </p:cNvPr>
          <p:cNvPicPr>
            <a:picLocks noChangeAspect="1"/>
          </p:cNvPicPr>
          <p:nvPr/>
        </p:nvPicPr>
        <p:blipFill>
          <a:blip r:embed="rId4"/>
          <a:srcRect l="0" r="0" t="0" b="0"/>
          <a:stretch/>
        </p:blipFill>
        <p:spPr>
          <a:xfrm>
            <a:off x="3429000" y="3656112"/>
            <a:ext cx="457200" cy="101600"/>
          </a:xfrm>
          <a:prstGeom prst="rect">
            <a:avLst/>
          </a:prstGeom>
        </p:spPr>
      </p:pic>
      <p:sp>
        <p:nvSpPr>
          <p:cNvPr id="23" name="Text 17"/>
          <p:cNvSpPr/>
          <p:nvPr/>
        </p:nvSpPr>
        <p:spPr>
          <a:xfrm>
            <a:off x="4016375" y="3477716"/>
            <a:ext cx="4210050" cy="458391"/>
          </a:xfrm>
          <a:prstGeom prst="roundRect">
            <a:avLst>
              <a:gd name="adj" fmla="val 18701"/>
            </a:avLst>
          </a:prstGeom>
          <a:solidFill>
            <a:srgbClr val="FFFFFF"/>
          </a:solidFill>
          <a:ln w="6350">
            <a:solidFill>
              <a:srgbClr val="DDE3E0"/>
            </a:solidFill>
            <a:prstDash val="solid"/>
          </a:ln>
        </p:spPr>
        <p:txBody>
          <a:bodyPr wrap="square" lIns="130467" tIns="79667" rIns="13500" bIns="54267" rtlCol="0" anchor="t">
            <a:normAutofit/>
          </a:bodyPr>
          <a:lstStyle/>
          <a:p>
            <a:pPr algn="l"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GPIO5 langsung (sinyal 3.3 V)</a:t>
            </a:r>
            <a:endParaRPr lang="en-US" sz="1400" dirty="0"/>
          </a:p>
        </p:txBody>
      </p:sp>
      <p:sp>
        <p:nvSpPr>
          <p:cNvPr id="24" name="Shape 18"/>
          <p:cNvSpPr/>
          <p:nvPr/>
        </p:nvSpPr>
        <p:spPr>
          <a:xfrm>
            <a:off x="8585200" y="1722041"/>
            <a:ext cx="2794000" cy="4119959"/>
          </a:xfrm>
          <a:prstGeom prst="roundRect">
            <a:avLst>
              <a:gd name="adj" fmla="val 4545"/>
            </a:avLst>
          </a:prstGeom>
          <a:solidFill>
            <a:srgbClr val="0F1B24"/>
          </a:solidFill>
          <a:ln/>
        </p:spPr>
      </p:sp>
      <p:sp>
        <p:nvSpPr>
          <p:cNvPr id="25" name="Text 19"/>
          <p:cNvSpPr/>
          <p:nvPr/>
        </p:nvSpPr>
        <p:spPr>
          <a:xfrm>
            <a:off x="8813800" y="1950641"/>
            <a:ext cx="240690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DD6A3"/>
                </a:solidFill>
                <a:latin typeface="IBM Plex Sans" pitchFamily="34" charset="0"/>
                <a:ea typeface="IBM Plex Sans" pitchFamily="34" charset="-122"/>
                <a:cs typeface="IBM Plex Sans" pitchFamily="34" charset="-120"/>
              </a:rPr>
              <a:t>Ingat</a:t>
            </a:r>
            <a:endParaRPr lang="en-US" sz="1600" dirty="0"/>
          </a:p>
        </p:txBody>
      </p:sp>
      <p:sp>
        <p:nvSpPr>
          <p:cNvPr id="26" name="Text 20"/>
          <p:cNvSpPr/>
          <p:nvPr/>
        </p:nvSpPr>
        <p:spPr>
          <a:xfrm>
            <a:off x="8813800" y="2321421"/>
            <a:ext cx="2406904"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4DC"/>
                </a:solidFill>
                <a:latin typeface="IBM Plex Sans" pitchFamily="34" charset="0"/>
                <a:ea typeface="IBM Plex Sans" pitchFamily="34" charset="-122"/>
                <a:cs typeface="IBM Plex Sans" pitchFamily="34" charset="-120"/>
              </a:rPr>
              <a:t>Warna kabel bisa beda antar merek. Patokan pasti adalah </a:t>
            </a:r>
            <a:r>
              <a:rPr lang="en-US" sz="1300" b="1" dirty="0">
                <a:solidFill>
                  <a:srgbClr val="C9D4DC"/>
                </a:solidFill>
                <a:latin typeface="IBM Plex Sans" pitchFamily="34" charset="0"/>
                <a:ea typeface="IBM Plex Sans" pitchFamily="34" charset="-122"/>
                <a:cs typeface="IBM Plex Sans" pitchFamily="34" charset="-120"/>
              </a:rPr>
              <a:t>urutan pin</a:t>
            </a:r>
            <a:r>
              <a:rPr lang="en-US" sz="1300" dirty="0">
                <a:solidFill>
                  <a:srgbClr val="C9D4DC"/>
                </a:solidFill>
                <a:latin typeface="IBM Plex Sans" pitchFamily="34" charset="0"/>
                <a:ea typeface="IBM Plex Sans" pitchFamily="34" charset="-122"/>
                <a:cs typeface="IBM Plex Sans" pitchFamily="34" charset="-120"/>
              </a:rPr>
              <a:t>: pin 1 ditandai segitiga di konektor.</a:t>
            </a:r>
            <a:endParaRPr lang="en-US" sz="1300" dirty="0"/>
          </a:p>
        </p:txBody>
      </p:sp>
      <p:sp>
        <p:nvSpPr>
          <p:cNvPr id="27" name="Text 21"/>
          <p:cNvSpPr/>
          <p:nvPr/>
        </p:nvSpPr>
        <p:spPr>
          <a:xfrm>
            <a:off x="8813800" y="3372743"/>
            <a:ext cx="2406904"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4DC"/>
                </a:solidFill>
                <a:latin typeface="IBM Plex Sans" pitchFamily="34" charset="0"/>
                <a:ea typeface="IBM Plex Sans" pitchFamily="34" charset="-122"/>
                <a:cs typeface="IBM Plex Sans" pitchFamily="34" charset="-120"/>
              </a:rPr>
              <a:t>Kipas 4-pin punya driver motor sendiri, jadi </a:t>
            </a:r>
            <a:r>
              <a:rPr lang="en-US" sz="1300" b="1" dirty="0">
                <a:solidFill>
                  <a:srgbClr val="C9D4DC"/>
                </a:solidFill>
                <a:latin typeface="IBM Plex Sans" pitchFamily="34" charset="0"/>
                <a:ea typeface="IBM Plex Sans" pitchFamily="34" charset="-122"/>
                <a:cs typeface="IBM Plex Sans" pitchFamily="34" charset="-120"/>
              </a:rPr>
              <a:t>tidak perlu MOSFET</a:t>
            </a:r>
            <a:r>
              <a:rPr lang="en-US" sz="1300" dirty="0">
                <a:solidFill>
                  <a:srgbClr val="C9D4DC"/>
                </a:solidFill>
                <a:latin typeface="IBM Plex Sans" pitchFamily="34" charset="0"/>
                <a:ea typeface="IBM Plex Sans" pitchFamily="34" charset="-122"/>
                <a:cs typeface="IBM Plex Sans" pitchFamily="34" charset="-120"/>
              </a:rPr>
              <a:t>: GPIO hanya memberi sinyal.</a:t>
            </a:r>
            <a:endParaRPr lang="en-US" sz="1300" dirty="0"/>
          </a:p>
        </p:txBody>
      </p:sp>
      <p:sp>
        <p:nvSpPr>
          <p:cNvPr id="28" name="Text 22"/>
          <p:cNvSpPr/>
          <p:nvPr/>
        </p:nvSpPr>
        <p:spPr>
          <a:xfrm>
            <a:off x="8813800" y="4424065"/>
            <a:ext cx="240690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4DC"/>
                </a:solidFill>
                <a:latin typeface="IBM Plex Sans" pitchFamily="34" charset="0"/>
                <a:ea typeface="IBM Plex Sans" pitchFamily="34" charset="-122"/>
                <a:cs typeface="IBM Plex Sans" pitchFamily="34" charset="-120"/>
              </a:rPr>
              <a:t>Kipas 2/3-pin: wajib MOSFET logic-level + dioda flyback.</a:t>
            </a:r>
            <a:endParaRPr lang="en-US" sz="1300" dirty="0"/>
          </a:p>
        </p:txBody>
      </p:sp>
      <p:sp>
        <p:nvSpPr>
          <p:cNvPr id="29"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02 · KIPAS 4-PIN</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PWM: mengatur kecepatan dengan lebar pulsa</a:t>
            </a:r>
            <a:endParaRPr lang="en-US" sz="3200" dirty="0"/>
          </a:p>
        </p:txBody>
      </p:sp>
      <p:sp>
        <p:nvSpPr>
          <p:cNvPr id="4" name="Text 2"/>
          <p:cNvSpPr/>
          <p:nvPr/>
        </p:nvSpPr>
        <p:spPr>
          <a:xfrm>
            <a:off x="812800" y="1915120"/>
            <a:ext cx="812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7A5A"/>
                </a:solidFill>
                <a:latin typeface="IBM Plex Sans" pitchFamily="34" charset="0"/>
                <a:ea typeface="IBM Plex Sans" pitchFamily="34" charset="-122"/>
                <a:cs typeface="IBM Plex Sans" pitchFamily="34" charset="-120"/>
              </a:rPr>
              <a:t>25%</a:t>
            </a:r>
            <a:endParaRPr lang="en-US" sz="1400" dirty="0"/>
          </a:p>
        </p:txBody>
      </p:sp>
      <p:pic>
        <p:nvPicPr>
          <p:cNvPr id="5" name="Image 0" descr="Gelombang PWM duty 25 persen">    </p:cNvPr>
          <p:cNvPicPr>
            <a:picLocks noChangeAspect="1"/>
          </p:cNvPicPr>
          <p:nvPr/>
        </p:nvPicPr>
        <p:blipFill>
          <a:blip r:embed="rId1"/>
          <a:srcRect l="0" r="0" t="0" b="0"/>
          <a:stretch/>
        </p:blipFill>
        <p:spPr>
          <a:xfrm>
            <a:off x="1727200" y="1722041"/>
            <a:ext cx="5080000" cy="635000"/>
          </a:xfrm>
          <a:prstGeom prst="rect">
            <a:avLst/>
          </a:prstGeom>
        </p:spPr>
      </p:pic>
      <p:sp>
        <p:nvSpPr>
          <p:cNvPr id="6" name="Text 3"/>
          <p:cNvSpPr/>
          <p:nvPr/>
        </p:nvSpPr>
        <p:spPr>
          <a:xfrm>
            <a:off x="812800" y="2677120"/>
            <a:ext cx="812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7A5A"/>
                </a:solidFill>
                <a:latin typeface="IBM Plex Sans" pitchFamily="34" charset="0"/>
                <a:ea typeface="IBM Plex Sans" pitchFamily="34" charset="-122"/>
                <a:cs typeface="IBM Plex Sans" pitchFamily="34" charset="-120"/>
              </a:rPr>
              <a:t>50%</a:t>
            </a:r>
            <a:endParaRPr lang="en-US" sz="1400" dirty="0"/>
          </a:p>
        </p:txBody>
      </p:sp>
      <p:pic>
        <p:nvPicPr>
          <p:cNvPr id="7" name="Image 1" descr="Gelombang PWM duty 50 persen">    </p:cNvPr>
          <p:cNvPicPr>
            <a:picLocks noChangeAspect="1"/>
          </p:cNvPicPr>
          <p:nvPr/>
        </p:nvPicPr>
        <p:blipFill>
          <a:blip r:embed="rId2"/>
          <a:srcRect l="0" r="0" t="0" b="0"/>
          <a:stretch/>
        </p:blipFill>
        <p:spPr>
          <a:xfrm>
            <a:off x="1727200" y="2484041"/>
            <a:ext cx="5080000" cy="635000"/>
          </a:xfrm>
          <a:prstGeom prst="rect">
            <a:avLst/>
          </a:prstGeom>
        </p:spPr>
      </p:pic>
      <p:sp>
        <p:nvSpPr>
          <p:cNvPr id="8" name="Text 4"/>
          <p:cNvSpPr/>
          <p:nvPr/>
        </p:nvSpPr>
        <p:spPr>
          <a:xfrm>
            <a:off x="812800" y="3439120"/>
            <a:ext cx="812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7A5A"/>
                </a:solidFill>
                <a:latin typeface="IBM Plex Sans" pitchFamily="34" charset="0"/>
                <a:ea typeface="IBM Plex Sans" pitchFamily="34" charset="-122"/>
                <a:cs typeface="IBM Plex Sans" pitchFamily="34" charset="-120"/>
              </a:rPr>
              <a:t>75%</a:t>
            </a:r>
            <a:endParaRPr lang="en-US" sz="1400" dirty="0"/>
          </a:p>
        </p:txBody>
      </p:sp>
      <p:pic>
        <p:nvPicPr>
          <p:cNvPr id="9" name="Image 2" descr="Gelombang PWM duty 75 persen">    </p:cNvPr>
          <p:cNvPicPr>
            <a:picLocks noChangeAspect="1"/>
          </p:cNvPicPr>
          <p:nvPr/>
        </p:nvPicPr>
        <p:blipFill>
          <a:blip r:embed="rId3"/>
          <a:srcRect l="0" r="0" t="0" b="0"/>
          <a:stretch/>
        </p:blipFill>
        <p:spPr>
          <a:xfrm>
            <a:off x="1727200" y="3246041"/>
            <a:ext cx="5080000" cy="635000"/>
          </a:xfrm>
          <a:prstGeom prst="rect">
            <a:avLst/>
          </a:prstGeom>
        </p:spPr>
      </p:pic>
      <p:sp>
        <p:nvSpPr>
          <p:cNvPr id="10" name="Text 5"/>
          <p:cNvSpPr/>
          <p:nvPr/>
        </p:nvSpPr>
        <p:spPr>
          <a:xfrm>
            <a:off x="812800" y="4008041"/>
            <a:ext cx="64096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Satu periode = 40 µs (25 kHz). Duty = waktu HIGH ÷ periode.</a:t>
            </a:r>
            <a:endParaRPr lang="en-US" sz="1200" dirty="0"/>
          </a:p>
        </p:txBody>
      </p:sp>
      <p:sp>
        <p:nvSpPr>
          <p:cNvPr id="11" name="Shape 6"/>
          <p:cNvSpPr/>
          <p:nvPr/>
        </p:nvSpPr>
        <p:spPr>
          <a:xfrm>
            <a:off x="7394575" y="1725216"/>
            <a:ext cx="3981450" cy="966391"/>
          </a:xfrm>
          <a:prstGeom prst="roundRect">
            <a:avLst>
              <a:gd name="adj" fmla="val 10185"/>
            </a:avLst>
          </a:prstGeom>
          <a:solidFill>
            <a:srgbClr val="FFFFFF"/>
          </a:solidFill>
          <a:ln w="6350">
            <a:solidFill>
              <a:srgbClr val="DDE3E0"/>
            </a:solidFill>
            <a:prstDash val="solid"/>
          </a:ln>
        </p:spPr>
      </p:sp>
      <p:sp>
        <p:nvSpPr>
          <p:cNvPr id="12" name="Text 7"/>
          <p:cNvSpPr/>
          <p:nvPr/>
        </p:nvSpPr>
        <p:spPr>
          <a:xfrm>
            <a:off x="7575550" y="1880791"/>
            <a:ext cx="372808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Kenapa 25 kHz?</a:t>
            </a:r>
            <a:endParaRPr lang="en-US" sz="1500" dirty="0"/>
          </a:p>
        </p:txBody>
      </p:sp>
      <p:sp>
        <p:nvSpPr>
          <p:cNvPr id="13" name="Text 8"/>
          <p:cNvSpPr/>
          <p:nvPr/>
        </p:nvSpPr>
        <p:spPr>
          <a:xfrm>
            <a:off x="7575550" y="2109391"/>
            <a:ext cx="372808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Standar Intel untuk kipas 4-pin, dan di atas batas pendengaran, jadi tidak berdengung.</a:t>
            </a:r>
            <a:endParaRPr lang="en-US" sz="1200" dirty="0"/>
          </a:p>
        </p:txBody>
      </p:sp>
      <p:sp>
        <p:nvSpPr>
          <p:cNvPr id="14" name="Shape 9"/>
          <p:cNvSpPr/>
          <p:nvPr/>
        </p:nvSpPr>
        <p:spPr>
          <a:xfrm>
            <a:off x="7394575" y="2824956"/>
            <a:ext cx="3981450" cy="966391"/>
          </a:xfrm>
          <a:prstGeom prst="roundRect">
            <a:avLst>
              <a:gd name="adj" fmla="val 10185"/>
            </a:avLst>
          </a:prstGeom>
          <a:solidFill>
            <a:srgbClr val="FFFFFF"/>
          </a:solidFill>
          <a:ln w="6350">
            <a:solidFill>
              <a:srgbClr val="DDE3E0"/>
            </a:solidFill>
            <a:prstDash val="solid"/>
          </a:ln>
        </p:spPr>
      </p:sp>
      <p:sp>
        <p:nvSpPr>
          <p:cNvPr id="15" name="Text 10"/>
          <p:cNvSpPr/>
          <p:nvPr/>
        </p:nvSpPr>
        <p:spPr>
          <a:xfrm>
            <a:off x="7575550" y="2980531"/>
            <a:ext cx="372808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Di kode</a:t>
            </a:r>
            <a:endParaRPr lang="en-US" sz="1500" dirty="0"/>
          </a:p>
        </p:txBody>
      </p:sp>
      <p:sp>
        <p:nvSpPr>
          <p:cNvPr id="16" name="Text 11"/>
          <p:cNvSpPr/>
          <p:nvPr/>
        </p:nvSpPr>
        <p:spPr>
          <a:xfrm>
            <a:off x="7575550" y="3209131"/>
            <a:ext cx="372808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2A33"/>
                </a:solidFill>
                <a:latin typeface="JetBrains Mono" pitchFamily="49" charset="0"/>
                <a:ea typeface="JetBrains Mono" pitchFamily="49" charset="-122"/>
                <a:cs typeface="JetBrains Mono" pitchFamily="49" charset="-120"/>
              </a:rPr>
              <a:t>ledcSetup(0, 25000, 10)</a:t>
            </a:r>
            <a:endParaRPr lang="en-US" sz="1200" dirty="0"/>
          </a:p>
          <a:p>
            <a:pPr algn="l" indent="0" marL="0">
              <a:lnSpc>
                <a:spcPts val="1680"/>
              </a:lnSpc>
              <a:buNone/>
            </a:pPr>
            <a:r>
              <a:rPr lang="en-US" sz="1200" dirty="0">
                <a:solidFill>
                  <a:srgbClr val="1E2A33"/>
                </a:solidFill>
                <a:latin typeface="JetBrains Mono" pitchFamily="49" charset="0"/>
                <a:ea typeface="JetBrains Mono" pitchFamily="49" charset="-122"/>
                <a:cs typeface="JetBrains Mono" pitchFamily="49" charset="-120"/>
              </a:rPr>
              <a:t>ledcWrite(0, 0…1023)</a:t>
            </a:r>
            <a:endParaRPr lang="en-US" sz="1200" dirty="0"/>
          </a:p>
        </p:txBody>
      </p:sp>
      <p:sp>
        <p:nvSpPr>
          <p:cNvPr id="17" name="Shape 12"/>
          <p:cNvSpPr/>
          <p:nvPr/>
        </p:nvSpPr>
        <p:spPr>
          <a:xfrm>
            <a:off x="7394575" y="3924697"/>
            <a:ext cx="3981450" cy="966391"/>
          </a:xfrm>
          <a:prstGeom prst="roundRect">
            <a:avLst>
              <a:gd name="adj" fmla="val 10185"/>
            </a:avLst>
          </a:prstGeom>
          <a:solidFill>
            <a:srgbClr val="FFFFFF"/>
          </a:solidFill>
          <a:ln w="6350">
            <a:solidFill>
              <a:srgbClr val="DDE3E0"/>
            </a:solidFill>
            <a:prstDash val="solid"/>
          </a:ln>
        </p:spPr>
      </p:sp>
      <p:sp>
        <p:nvSpPr>
          <p:cNvPr id="18" name="Text 13"/>
          <p:cNvSpPr/>
          <p:nvPr/>
        </p:nvSpPr>
        <p:spPr>
          <a:xfrm>
            <a:off x="7575550" y="4080272"/>
            <a:ext cx="372808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Kick-start</a:t>
            </a:r>
            <a:endParaRPr lang="en-US" sz="1500" dirty="0"/>
          </a:p>
        </p:txBody>
      </p:sp>
      <p:sp>
        <p:nvSpPr>
          <p:cNvPr id="19" name="Text 14"/>
          <p:cNvSpPr/>
          <p:nvPr/>
        </p:nvSpPr>
        <p:spPr>
          <a:xfrm>
            <a:off x="7575550" y="4308872"/>
            <a:ext cx="372808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Dari diam, kipas didorong 100% selama 300 ms agar pasti mulai berputar.</a:t>
            </a:r>
            <a:endParaRPr lang="en-US" sz="1200" dirty="0"/>
          </a:p>
        </p:txBody>
      </p:sp>
      <p:sp>
        <p:nvSpPr>
          <p:cNvPr id="20"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02 · KIPAS 4-PIN</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Tachometer: menghitung putaran</a:t>
            </a:r>
            <a:endParaRPr lang="en-US" sz="3200" dirty="0"/>
          </a:p>
        </p:txBody>
      </p:sp>
      <p:sp>
        <p:nvSpPr>
          <p:cNvPr id="4" name="Shape 2"/>
          <p:cNvSpPr/>
          <p:nvPr/>
        </p:nvSpPr>
        <p:spPr>
          <a:xfrm>
            <a:off x="815975" y="1725216"/>
            <a:ext cx="4819650" cy="2406650"/>
          </a:xfrm>
          <a:prstGeom prst="roundRect">
            <a:avLst>
              <a:gd name="adj" fmla="val 5145"/>
            </a:avLst>
          </a:prstGeom>
          <a:solidFill>
            <a:srgbClr val="FFFFFF"/>
          </a:solidFill>
          <a:ln w="6350">
            <a:solidFill>
              <a:srgbClr val="DDE3E0"/>
            </a:solidFill>
            <a:prstDash val="solid"/>
          </a:ln>
        </p:spPr>
      </p:sp>
      <p:sp>
        <p:nvSpPr>
          <p:cNvPr id="5" name="Text 3"/>
          <p:cNvSpPr/>
          <p:nvPr/>
        </p:nvSpPr>
        <p:spPr>
          <a:xfrm>
            <a:off x="1066800" y="1925241"/>
            <a:ext cx="1447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3V3</a:t>
            </a:r>
            <a:endParaRPr lang="en-US" sz="1300" dirty="0"/>
          </a:p>
        </p:txBody>
      </p:sp>
      <p:sp>
        <p:nvSpPr>
          <p:cNvPr id="6" name="Shape 4"/>
          <p:cNvSpPr/>
          <p:nvPr/>
        </p:nvSpPr>
        <p:spPr>
          <a:xfrm>
            <a:off x="1193800" y="2230041"/>
            <a:ext cx="25400" cy="381000"/>
          </a:xfrm>
          <a:prstGeom prst="rect">
            <a:avLst/>
          </a:prstGeom>
          <a:solidFill>
            <a:srgbClr val="1E2A33"/>
          </a:solidFill>
          <a:ln/>
        </p:spPr>
      </p:sp>
      <p:sp>
        <p:nvSpPr>
          <p:cNvPr id="7" name="Shape 5"/>
          <p:cNvSpPr/>
          <p:nvPr/>
        </p:nvSpPr>
        <p:spPr>
          <a:xfrm>
            <a:off x="1076325" y="2620566"/>
            <a:ext cx="260350" cy="552450"/>
          </a:xfrm>
          <a:prstGeom prst="roundRect">
            <a:avLst>
              <a:gd name="adj" fmla="val 10976"/>
            </a:avLst>
          </a:prstGeom>
          <a:solidFill>
            <a:srgbClr val="F4F6F3"/>
          </a:solidFill>
          <a:ln w="19050">
            <a:solidFill>
              <a:srgbClr val="1E2A33"/>
            </a:solidFill>
            <a:prstDash val="solid"/>
          </a:ln>
        </p:spPr>
      </p:sp>
      <p:sp>
        <p:nvSpPr>
          <p:cNvPr id="8" name="Text 6"/>
          <p:cNvSpPr/>
          <p:nvPr/>
        </p:nvSpPr>
        <p:spPr>
          <a:xfrm>
            <a:off x="1473200" y="2750741"/>
            <a:ext cx="132080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10 kΩ</a:t>
            </a:r>
            <a:endParaRPr lang="en-US" sz="1300" dirty="0"/>
          </a:p>
        </p:txBody>
      </p:sp>
      <p:sp>
        <p:nvSpPr>
          <p:cNvPr id="9" name="Shape 7"/>
          <p:cNvSpPr/>
          <p:nvPr/>
        </p:nvSpPr>
        <p:spPr>
          <a:xfrm>
            <a:off x="1193800" y="3182541"/>
            <a:ext cx="25400" cy="381000"/>
          </a:xfrm>
          <a:prstGeom prst="rect">
            <a:avLst/>
          </a:prstGeom>
          <a:solidFill>
            <a:srgbClr val="1E2A33"/>
          </a:solidFill>
          <a:ln/>
        </p:spPr>
      </p:sp>
      <p:sp>
        <p:nvSpPr>
          <p:cNvPr id="10" name="Shape 8"/>
          <p:cNvSpPr/>
          <p:nvPr/>
        </p:nvSpPr>
        <p:spPr>
          <a:xfrm>
            <a:off x="1193800" y="3550841"/>
            <a:ext cx="3556000" cy="25400"/>
          </a:xfrm>
          <a:prstGeom prst="rect">
            <a:avLst/>
          </a:prstGeom>
          <a:solidFill>
            <a:srgbClr val="1F9D63"/>
          </a:solidFill>
          <a:ln/>
        </p:spPr>
      </p:sp>
      <p:sp>
        <p:nvSpPr>
          <p:cNvPr id="11" name="Shape 9"/>
          <p:cNvSpPr/>
          <p:nvPr/>
        </p:nvSpPr>
        <p:spPr>
          <a:xfrm>
            <a:off x="2717800" y="2992041"/>
            <a:ext cx="25400" cy="571500"/>
          </a:xfrm>
          <a:prstGeom prst="rect">
            <a:avLst/>
          </a:prstGeom>
          <a:solidFill>
            <a:srgbClr val="1E2A33"/>
          </a:solidFill>
          <a:ln/>
        </p:spPr>
      </p:sp>
      <p:sp>
        <p:nvSpPr>
          <p:cNvPr id="12" name="Text 10"/>
          <p:cNvSpPr/>
          <p:nvPr/>
        </p:nvSpPr>
        <p:spPr>
          <a:xfrm>
            <a:off x="2400300" y="2674541"/>
            <a:ext cx="660400" cy="330200"/>
          </a:xfrm>
          <a:prstGeom prst="roundRect">
            <a:avLst>
              <a:gd name="adj" fmla="val 19231"/>
            </a:avLst>
          </a:prstGeom>
          <a:solidFill>
            <a:srgbClr val="2563EB"/>
          </a:solidFill>
          <a:ln/>
        </p:spPr>
        <p:txBody>
          <a:bodyPr wrap="square" lIns="0" tIns="0" rIns="0" bIns="0" rtlCol="0" anchor="ctr">
            <a:normAutofit/>
          </a:bodyPr>
          <a:lstStyle/>
          <a:p>
            <a:pPr algn="ctr" indent="0" marL="0">
              <a:lnSpc>
                <a:spcPts val="1680"/>
              </a:lnSpc>
              <a:buNone/>
            </a:pPr>
            <a:r>
              <a:rPr lang="en-US" sz="1200" b="1" dirty="0">
                <a:solidFill>
                  <a:srgbClr val="F4F6F3"/>
                </a:solidFill>
                <a:latin typeface="IBM Plex Sans" pitchFamily="34" charset="0"/>
                <a:ea typeface="IBM Plex Sans" pitchFamily="34" charset="-122"/>
                <a:cs typeface="IBM Plex Sans" pitchFamily="34" charset="-120"/>
              </a:rPr>
              <a:t>GPIO7</a:t>
            </a:r>
            <a:endParaRPr lang="en-US" sz="1200" dirty="0"/>
          </a:p>
        </p:txBody>
      </p:sp>
      <p:sp>
        <p:nvSpPr>
          <p:cNvPr id="13" name="Text 11"/>
          <p:cNvSpPr/>
          <p:nvPr/>
        </p:nvSpPr>
        <p:spPr>
          <a:xfrm>
            <a:off x="4749800" y="3246041"/>
            <a:ext cx="698500" cy="635000"/>
          </a:xfrm>
          <a:prstGeom prst="roundRect">
            <a:avLst>
              <a:gd name="adj" fmla="val 12000"/>
            </a:avLst>
          </a:prstGeom>
          <a:solidFill>
            <a:srgbClr val="20262B"/>
          </a:solidFill>
          <a:ln/>
        </p:spPr>
        <p:txBody>
          <a:bodyPr wrap="square" lIns="0" tIns="0" rIns="0" bIns="0" rtlCol="0" anchor="ctr">
            <a:normAutofit/>
          </a:bodyPr>
          <a:lstStyle/>
          <a:p>
            <a:pPr algn="ctr" indent="0" marL="0">
              <a:lnSpc>
                <a:spcPts val="1680"/>
              </a:lnSpc>
              <a:buNone/>
            </a:pPr>
            <a:r>
              <a:rPr lang="en-US" sz="1200" b="1" dirty="0">
                <a:solidFill>
                  <a:srgbClr val="F4F6F3"/>
                </a:solidFill>
                <a:latin typeface="IBM Plex Sans" pitchFamily="34" charset="0"/>
                <a:ea typeface="IBM Plex Sans" pitchFamily="34" charset="-122"/>
                <a:cs typeface="IBM Plex Sans" pitchFamily="34" charset="-120"/>
              </a:rPr>
              <a:t>TACH</a:t>
            </a:r>
            <a:endParaRPr lang="en-US" sz="1200" dirty="0"/>
          </a:p>
        </p:txBody>
      </p:sp>
      <p:sp>
        <p:nvSpPr>
          <p:cNvPr id="14" name="Text 12"/>
          <p:cNvSpPr/>
          <p:nvPr/>
        </p:nvSpPr>
        <p:spPr>
          <a:xfrm>
            <a:off x="3352800" y="3690541"/>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pin 3 kipas</a:t>
            </a:r>
            <a:endParaRPr lang="en-US" sz="1200" dirty="0"/>
          </a:p>
        </p:txBody>
      </p:sp>
      <p:sp>
        <p:nvSpPr>
          <p:cNvPr id="15" name="Text 13"/>
          <p:cNvSpPr/>
          <p:nvPr/>
        </p:nvSpPr>
        <p:spPr>
          <a:xfrm>
            <a:off x="812800" y="4287441"/>
            <a:ext cx="49707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Kipas menarik TACH ke GND 2× tiap putaran (open-collector). Resistor menariknya kembali ke 3.3 V, sehingga GPIO melihat pulsa kotak.</a:t>
            </a:r>
            <a:endParaRPr lang="en-US" sz="1200" dirty="0"/>
          </a:p>
        </p:txBody>
      </p:sp>
      <p:sp>
        <p:nvSpPr>
          <p:cNvPr id="16" name="Shape 14"/>
          <p:cNvSpPr/>
          <p:nvPr/>
        </p:nvSpPr>
        <p:spPr>
          <a:xfrm>
            <a:off x="5994400" y="1722041"/>
            <a:ext cx="5384800" cy="1328341"/>
          </a:xfrm>
          <a:prstGeom prst="roundRect">
            <a:avLst>
              <a:gd name="adj" fmla="val 9561"/>
            </a:avLst>
          </a:prstGeom>
          <a:solidFill>
            <a:srgbClr val="0F1B24"/>
          </a:solidFill>
          <a:ln/>
        </p:spPr>
      </p:sp>
      <p:sp>
        <p:nvSpPr>
          <p:cNvPr id="17" name="Text 15"/>
          <p:cNvSpPr/>
          <p:nvPr/>
        </p:nvSpPr>
        <p:spPr>
          <a:xfrm>
            <a:off x="6197600" y="1925241"/>
            <a:ext cx="51277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RUMUS (tiap 1 detik)</a:t>
            </a:r>
            <a:endParaRPr lang="en-US" sz="1200" dirty="0"/>
          </a:p>
        </p:txBody>
      </p:sp>
      <p:sp>
        <p:nvSpPr>
          <p:cNvPr id="18" name="Text 16"/>
          <p:cNvSpPr/>
          <p:nvPr/>
        </p:nvSpPr>
        <p:spPr>
          <a:xfrm>
            <a:off x="6197600" y="2227461"/>
            <a:ext cx="5127752" cy="3429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F4F6F3"/>
                </a:solidFill>
                <a:latin typeface="IBM Plex Sans" pitchFamily="34" charset="0"/>
                <a:ea typeface="IBM Plex Sans" pitchFamily="34" charset="-122"/>
                <a:cs typeface="IBM Plex Sans" pitchFamily="34" charset="-120"/>
              </a:rPr>
              <a:t>rpm = pulsa × 60 ÷ (2 × detik)</a:t>
            </a:r>
            <a:endParaRPr lang="en-US" sz="2000" dirty="0"/>
          </a:p>
        </p:txBody>
      </p:sp>
      <p:sp>
        <p:nvSpPr>
          <p:cNvPr id="19" name="Text 17"/>
          <p:cNvSpPr/>
          <p:nvPr/>
        </p:nvSpPr>
        <p:spPr>
          <a:xfrm>
            <a:off x="6197600" y="2633861"/>
            <a:ext cx="51277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Contoh: 48 pulsa dalam 1 s → 48 × 60 ÷ 2 = 1440 rpm</a:t>
            </a:r>
            <a:endParaRPr lang="en-US" sz="1200" dirty="0"/>
          </a:p>
        </p:txBody>
      </p:sp>
      <p:sp>
        <p:nvSpPr>
          <p:cNvPr id="20" name="Shape 18"/>
          <p:cNvSpPr/>
          <p:nvPr/>
        </p:nvSpPr>
        <p:spPr>
          <a:xfrm>
            <a:off x="5997575" y="3180556"/>
            <a:ext cx="5378450" cy="753070"/>
          </a:xfrm>
          <a:prstGeom prst="roundRect">
            <a:avLst>
              <a:gd name="adj" fmla="val 13070"/>
            </a:avLst>
          </a:prstGeom>
          <a:solidFill>
            <a:srgbClr val="FFFFFF"/>
          </a:solidFill>
          <a:ln w="6350">
            <a:solidFill>
              <a:srgbClr val="DDE3E0"/>
            </a:solidFill>
            <a:prstDash val="solid"/>
          </a:ln>
        </p:spPr>
      </p:sp>
      <p:sp>
        <p:nvSpPr>
          <p:cNvPr id="21" name="Text 19"/>
          <p:cNvSpPr/>
          <p:nvPr/>
        </p:nvSpPr>
        <p:spPr>
          <a:xfrm>
            <a:off x="6178550" y="3336131"/>
            <a:ext cx="516699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Filter glitch</a:t>
            </a:r>
            <a:endParaRPr lang="en-US" sz="1500" dirty="0"/>
          </a:p>
        </p:txBody>
      </p:sp>
      <p:sp>
        <p:nvSpPr>
          <p:cNvPr id="22" name="Text 20"/>
          <p:cNvSpPr/>
          <p:nvPr/>
        </p:nvSpPr>
        <p:spPr>
          <a:xfrm>
            <a:off x="6178550" y="3564731"/>
            <a:ext cx="51669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Interrupt sisi turun; pulsa yang jaraknya &lt; 2 ms diabaikan (noise PWM).</a:t>
            </a:r>
            <a:endParaRPr lang="en-US" sz="1200" dirty="0"/>
          </a:p>
        </p:txBody>
      </p:sp>
      <p:sp>
        <p:nvSpPr>
          <p:cNvPr id="23" name="Shape 21"/>
          <p:cNvSpPr/>
          <p:nvPr/>
        </p:nvSpPr>
        <p:spPr>
          <a:xfrm>
            <a:off x="5997575" y="4066977"/>
            <a:ext cx="5378450" cy="966391"/>
          </a:xfrm>
          <a:prstGeom prst="roundRect">
            <a:avLst>
              <a:gd name="adj" fmla="val 10185"/>
            </a:avLst>
          </a:prstGeom>
          <a:solidFill>
            <a:srgbClr val="FFFFFF"/>
          </a:solidFill>
          <a:ln w="6350">
            <a:solidFill>
              <a:srgbClr val="DDE3E0"/>
            </a:solidFill>
            <a:prstDash val="solid"/>
          </a:ln>
        </p:spPr>
      </p:sp>
      <p:sp>
        <p:nvSpPr>
          <p:cNvPr id="24" name="Text 22"/>
          <p:cNvSpPr/>
          <p:nvPr/>
        </p:nvSpPr>
        <p:spPr>
          <a:xfrm>
            <a:off x="6178550" y="4222552"/>
            <a:ext cx="5166995"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B8530C"/>
                </a:solidFill>
                <a:latin typeface="IBM Plex Sans" pitchFamily="34" charset="0"/>
                <a:ea typeface="IBM Plex Sans" pitchFamily="34" charset="-122"/>
                <a:cs typeface="IBM Plex Sans" pitchFamily="34" charset="-120"/>
              </a:rPr>
              <a:t>Deteksi macet</a:t>
            </a:r>
            <a:endParaRPr lang="en-US" sz="1500" dirty="0"/>
          </a:p>
        </p:txBody>
      </p:sp>
      <p:sp>
        <p:nvSpPr>
          <p:cNvPr id="25" name="Text 23"/>
          <p:cNvSpPr/>
          <p:nvPr/>
        </p:nvSpPr>
        <p:spPr>
          <a:xfrm>
            <a:off x="6178550" y="4451152"/>
            <a:ext cx="516699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Relay ON, duty ≥ 20% tapi rpm 0 selama 3 s → “MACET” di OLED, web &amp; LED.</a:t>
            </a:r>
            <a:endParaRPr lang="en-US" sz="1200" dirty="0"/>
          </a:p>
        </p:txBody>
      </p:sp>
      <p:sp>
        <p:nvSpPr>
          <p:cNvPr id="26" name="Text 2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02 · KIPAS 4-PIN</a:t>
            </a:r>
            <a:endParaRPr lang="en-US" sz="1200" dirty="0"/>
          </a:p>
        </p:txBody>
      </p:sp>
      <p:sp>
        <p:nvSpPr>
          <p:cNvPr id="3" name="Text 1"/>
          <p:cNvSpPr/>
          <p:nvPr>
            <p:ph type="title"/>
          </p:nvPr>
        </p:nvSpPr>
        <p:spPr>
          <a:xfrm>
            <a:off x="812800" y="1000720"/>
            <a:ext cx="11379200"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Relay: saklar daya untuk benar-benar mematikan kipas</a:t>
            </a:r>
            <a:endParaRPr lang="en-US" sz="3200" dirty="0"/>
          </a:p>
        </p:txBody>
      </p:sp>
      <p:sp>
        <p:nvSpPr>
          <p:cNvPr id="4" name="Shape 2"/>
          <p:cNvSpPr/>
          <p:nvPr/>
        </p:nvSpPr>
        <p:spPr>
          <a:xfrm>
            <a:off x="812800" y="1722041"/>
            <a:ext cx="4445000" cy="1432322"/>
          </a:xfrm>
          <a:prstGeom prst="roundRect">
            <a:avLst>
              <a:gd name="adj" fmla="val 8867"/>
            </a:avLst>
          </a:prstGeom>
          <a:solidFill>
            <a:srgbClr val="0F1B24"/>
          </a:solidFill>
          <a:ln/>
        </p:spPr>
      </p:sp>
      <p:sp>
        <p:nvSpPr>
          <p:cNvPr id="5" name="Text 3"/>
          <p:cNvSpPr/>
          <p:nvPr/>
        </p:nvSpPr>
        <p:spPr>
          <a:xfrm>
            <a:off x="1016000" y="1925241"/>
            <a:ext cx="415975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DD6A3"/>
                </a:solidFill>
                <a:latin typeface="IBM Plex Sans" pitchFamily="34" charset="0"/>
                <a:ea typeface="IBM Plex Sans" pitchFamily="34" charset="-122"/>
                <a:cs typeface="IBM Plex Sans" pitchFamily="34" charset="-120"/>
              </a:rPr>
              <a:t>Masalahnya</a:t>
            </a:r>
            <a:endParaRPr lang="en-US" sz="1600" dirty="0"/>
          </a:p>
        </p:txBody>
      </p:sp>
      <p:sp>
        <p:nvSpPr>
          <p:cNvPr id="6" name="Text 4"/>
          <p:cNvSpPr/>
          <p:nvPr/>
        </p:nvSpPr>
        <p:spPr>
          <a:xfrm>
            <a:off x="1016000" y="2257921"/>
            <a:ext cx="4159758"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4DC"/>
                </a:solidFill>
                <a:latin typeface="IBM Plex Sans" pitchFamily="34" charset="0"/>
                <a:ea typeface="IBM Plex Sans" pitchFamily="34" charset="-122"/>
                <a:cs typeface="IBM Plex Sans" pitchFamily="34" charset="-120"/>
              </a:rPr>
              <a:t>Banyak kipas 4-pin tetap berputar ±20–30% walau PWM 0%. Tanpa memutus daya, kipas tidak pernah diam.</a:t>
            </a:r>
            <a:endParaRPr lang="en-US" sz="1300" dirty="0"/>
          </a:p>
        </p:txBody>
      </p:sp>
      <p:sp>
        <p:nvSpPr>
          <p:cNvPr id="7" name="Shape 5"/>
          <p:cNvSpPr/>
          <p:nvPr/>
        </p:nvSpPr>
        <p:spPr>
          <a:xfrm>
            <a:off x="815975" y="3284538"/>
            <a:ext cx="4438650" cy="1669752"/>
          </a:xfrm>
          <a:prstGeom prst="roundRect">
            <a:avLst>
              <a:gd name="adj" fmla="val 7416"/>
            </a:avLst>
          </a:prstGeom>
          <a:solidFill>
            <a:srgbClr val="FFFFFF"/>
          </a:solidFill>
          <a:ln w="6350">
            <a:solidFill>
              <a:srgbClr val="DDE3E0"/>
            </a:solidFill>
            <a:prstDash val="solid"/>
          </a:ln>
        </p:spPr>
      </p:sp>
      <p:sp>
        <p:nvSpPr>
          <p:cNvPr id="8" name="Text 6"/>
          <p:cNvSpPr/>
          <p:nvPr/>
        </p:nvSpPr>
        <p:spPr>
          <a:xfrm>
            <a:off x="1022350" y="3490913"/>
            <a:ext cx="414667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Sambungan Relay1</a:t>
            </a:r>
            <a:endParaRPr lang="en-US" sz="1600" dirty="0"/>
          </a:p>
        </p:txBody>
      </p:sp>
      <p:sp>
        <p:nvSpPr>
          <p:cNvPr id="9" name="Text 7"/>
          <p:cNvSpPr/>
          <p:nvPr/>
        </p:nvSpPr>
        <p:spPr>
          <a:xfrm>
            <a:off x="1022350" y="3823593"/>
            <a:ext cx="4146677"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+12 V adaptor → </a:t>
            </a:r>
            <a:r>
              <a:rPr lang="en-US" sz="1300" b="1" dirty="0">
                <a:solidFill>
                  <a:srgbClr val="4A5568"/>
                </a:solidFill>
                <a:latin typeface="IBM Plex Sans" pitchFamily="34" charset="0"/>
                <a:ea typeface="IBM Plex Sans" pitchFamily="34" charset="-122"/>
                <a:cs typeface="IBM Plex Sans" pitchFamily="34" charset="-120"/>
              </a:rPr>
              <a:t>COM</a:t>
            </a:r>
            <a:endParaRPr lang="en-US" sz="1300" dirty="0"/>
          </a:p>
          <a:p>
            <a:pPr algn="l" indent="0" marL="0">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NO</a:t>
            </a:r>
            <a:r>
              <a:rPr lang="en-US" sz="1300" dirty="0">
                <a:solidFill>
                  <a:srgbClr val="4A5568"/>
                </a:solidFill>
                <a:latin typeface="IBM Plex Sans" pitchFamily="34" charset="0"/>
                <a:ea typeface="IBM Plex Sans" pitchFamily="34" charset="-122"/>
                <a:cs typeface="IBM Plex Sans" pitchFamily="34" charset="-120"/>
              </a:rPr>
              <a:t> → pin 2 kipas (+12 V)</a:t>
            </a:r>
            <a:endParaRPr lang="en-US" sz="1300" dirty="0"/>
          </a:p>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Koil relay dikendalikan GPIO47 (driver sudah ada di shield)</a:t>
            </a:r>
            <a:endParaRPr lang="en-US" sz="1300" dirty="0"/>
          </a:p>
        </p:txBody>
      </p:sp>
      <p:sp>
        <p:nvSpPr>
          <p:cNvPr id="10" name="Text 8"/>
          <p:cNvSpPr/>
          <p:nvPr/>
        </p:nvSpPr>
        <p:spPr>
          <a:xfrm>
            <a:off x="5562600" y="172204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JetBrains Mono" pitchFamily="49" charset="0"/>
                <a:ea typeface="JetBrains Mono" pitchFamily="49" charset="-122"/>
                <a:cs typeface="JetBrains Mono" pitchFamily="49" charset="-120"/>
              </a:rPr>
              <a:t>ALUR LOGIKA (fan_task.cpp)</a:t>
            </a:r>
            <a:endParaRPr lang="en-US" sz="1200" dirty="0"/>
          </a:p>
        </p:txBody>
      </p:sp>
      <p:sp>
        <p:nvSpPr>
          <p:cNvPr id="11" name="Shape 9"/>
          <p:cNvSpPr/>
          <p:nvPr/>
        </p:nvSpPr>
        <p:spPr>
          <a:xfrm>
            <a:off x="5565775" y="2052836"/>
            <a:ext cx="5810250" cy="722511"/>
          </a:xfrm>
          <a:prstGeom prst="roundRect">
            <a:avLst>
              <a:gd name="adj" fmla="val 10107"/>
            </a:avLst>
          </a:prstGeom>
          <a:solidFill>
            <a:srgbClr val="FFFFFF"/>
          </a:solidFill>
          <a:ln w="6350">
            <a:solidFill>
              <a:srgbClr val="DDE3E0"/>
            </a:solidFill>
            <a:prstDash val="solid"/>
          </a:ln>
        </p:spPr>
      </p:sp>
      <p:sp>
        <p:nvSpPr>
          <p:cNvPr id="12" name="Text 10"/>
          <p:cNvSpPr/>
          <p:nvPr/>
        </p:nvSpPr>
        <p:spPr>
          <a:xfrm>
            <a:off x="5746750" y="2183011"/>
            <a:ext cx="561174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Duty &gt; 0%</a:t>
            </a:r>
            <a:endParaRPr lang="en-US" sz="1400" dirty="0"/>
          </a:p>
        </p:txBody>
      </p:sp>
      <p:sp>
        <p:nvSpPr>
          <p:cNvPr id="13" name="Text 11"/>
          <p:cNvSpPr/>
          <p:nvPr/>
        </p:nvSpPr>
        <p:spPr>
          <a:xfrm>
            <a:off x="5746750" y="2431852"/>
            <a:ext cx="56117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Relay ON seketika, lalu kick 100% 300 ms</a:t>
            </a:r>
            <a:endParaRPr lang="en-US" sz="1200" dirty="0"/>
          </a:p>
        </p:txBody>
      </p:sp>
      <p:sp>
        <p:nvSpPr>
          <p:cNvPr id="14" name="Shape 12"/>
          <p:cNvSpPr/>
          <p:nvPr/>
        </p:nvSpPr>
        <p:spPr>
          <a:xfrm>
            <a:off x="5565775" y="2895997"/>
            <a:ext cx="5810250" cy="722511"/>
          </a:xfrm>
          <a:prstGeom prst="roundRect">
            <a:avLst>
              <a:gd name="adj" fmla="val 10107"/>
            </a:avLst>
          </a:prstGeom>
          <a:solidFill>
            <a:srgbClr val="FFFFFF"/>
          </a:solidFill>
          <a:ln w="6350">
            <a:solidFill>
              <a:srgbClr val="DDE3E0"/>
            </a:solidFill>
            <a:prstDash val="solid"/>
          </a:ln>
        </p:spPr>
      </p:sp>
      <p:sp>
        <p:nvSpPr>
          <p:cNvPr id="15" name="Text 13"/>
          <p:cNvSpPr/>
          <p:nvPr/>
        </p:nvSpPr>
        <p:spPr>
          <a:xfrm>
            <a:off x="5746750" y="3026172"/>
            <a:ext cx="561174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Duty turun ke 0%</a:t>
            </a:r>
            <a:endParaRPr lang="en-US" sz="1400" dirty="0"/>
          </a:p>
        </p:txBody>
      </p:sp>
      <p:sp>
        <p:nvSpPr>
          <p:cNvPr id="16" name="Text 14"/>
          <p:cNvSpPr/>
          <p:nvPr/>
        </p:nvSpPr>
        <p:spPr>
          <a:xfrm>
            <a:off x="5746750" y="3275013"/>
            <a:ext cx="56117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Tunggu 5 s (FAN_RELAY_OFF_MS), relay tetap ON</a:t>
            </a:r>
            <a:endParaRPr lang="en-US" sz="1200" dirty="0"/>
          </a:p>
        </p:txBody>
      </p:sp>
      <p:sp>
        <p:nvSpPr>
          <p:cNvPr id="17" name="Shape 15"/>
          <p:cNvSpPr/>
          <p:nvPr/>
        </p:nvSpPr>
        <p:spPr>
          <a:xfrm>
            <a:off x="5565775" y="3739158"/>
            <a:ext cx="5810250" cy="722511"/>
          </a:xfrm>
          <a:prstGeom prst="roundRect">
            <a:avLst>
              <a:gd name="adj" fmla="val 10107"/>
            </a:avLst>
          </a:prstGeom>
          <a:solidFill>
            <a:srgbClr val="FFFFFF"/>
          </a:solidFill>
          <a:ln w="6350">
            <a:solidFill>
              <a:srgbClr val="DDE3E0"/>
            </a:solidFill>
            <a:prstDash val="solid"/>
          </a:ln>
        </p:spPr>
      </p:sp>
      <p:sp>
        <p:nvSpPr>
          <p:cNvPr id="18" name="Text 16"/>
          <p:cNvSpPr/>
          <p:nvPr/>
        </p:nvSpPr>
        <p:spPr>
          <a:xfrm>
            <a:off x="5746750" y="3869333"/>
            <a:ext cx="561174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0% selama 5 s</a:t>
            </a:r>
            <a:endParaRPr lang="en-US" sz="1400" dirty="0"/>
          </a:p>
        </p:txBody>
      </p:sp>
      <p:sp>
        <p:nvSpPr>
          <p:cNvPr id="19" name="Text 17"/>
          <p:cNvSpPr/>
          <p:nvPr/>
        </p:nvSpPr>
        <p:spPr>
          <a:xfrm>
            <a:off x="5746750" y="4118173"/>
            <a:ext cx="56117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Relay OFF, PWM dipaksa 0 → kipas benar-benar berhenti</a:t>
            </a:r>
            <a:endParaRPr lang="en-US" sz="1200" dirty="0"/>
          </a:p>
        </p:txBody>
      </p:sp>
      <p:sp>
        <p:nvSpPr>
          <p:cNvPr id="20" name="Text 18"/>
          <p:cNvSpPr/>
          <p:nvPr/>
        </p:nvSpPr>
        <p:spPr>
          <a:xfrm>
            <a:off x="5562600" y="4579144"/>
            <a:ext cx="59910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Jeda 5 s mencegah relay klik-klik saat duty naik-turun di sekitar 0. Relay terbalik? set </a:t>
            </a:r>
            <a:r>
              <a:rPr lang="en-US" sz="1200" b="1" dirty="0">
                <a:solidFill>
                  <a:srgbClr val="4A5568"/>
                </a:solidFill>
                <a:latin typeface="IBM Plex Sans" pitchFamily="34" charset="0"/>
                <a:ea typeface="IBM Plex Sans" pitchFamily="34" charset="-122"/>
                <a:cs typeface="IBM Plex Sans" pitchFamily="34" charset="-120"/>
              </a:rPr>
              <a:t>RELAY_ACTIVE_HIGH 0</a:t>
            </a:r>
            <a:r>
              <a:rPr lang="en-US" sz="1200" dirty="0">
                <a:solidFill>
                  <a:srgbClr val="4A5568"/>
                </a:solidFill>
                <a:latin typeface="IBM Plex Sans" pitchFamily="34" charset="0"/>
                <a:ea typeface="IBM Plex Sans" pitchFamily="34" charset="-122"/>
                <a:cs typeface="IBM Plex Sans" pitchFamily="34" charset="-120"/>
              </a:rPr>
              <a:t>.</a:t>
            </a:r>
            <a:endParaRPr lang="en-US" sz="1200" dirty="0"/>
          </a:p>
        </p:txBody>
      </p:sp>
      <p:sp>
        <p:nvSpPr>
          <p:cNvPr id="21"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02 · SENSOR</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Cara sensor dibaca</a:t>
            </a:r>
            <a:endParaRPr lang="en-US" sz="3200" dirty="0"/>
          </a:p>
        </p:txBody>
      </p:sp>
      <p:sp>
        <p:nvSpPr>
          <p:cNvPr id="4" name="Shape 2"/>
          <p:cNvSpPr/>
          <p:nvPr/>
        </p:nvSpPr>
        <p:spPr>
          <a:xfrm>
            <a:off x="815975" y="1725216"/>
            <a:ext cx="3397250" cy="2769493"/>
          </a:xfrm>
          <a:prstGeom prst="roundRect">
            <a:avLst>
              <a:gd name="adj" fmla="val 4471"/>
            </a:avLst>
          </a:prstGeom>
          <a:solidFill>
            <a:srgbClr val="FFFFFF"/>
          </a:solidFill>
          <a:ln w="6350">
            <a:solidFill>
              <a:srgbClr val="DDE3E0"/>
            </a:solidFill>
            <a:prstDash val="solid"/>
          </a:ln>
        </p:spPr>
      </p:sp>
      <p:sp>
        <p:nvSpPr>
          <p:cNvPr id="5" name="Text 3"/>
          <p:cNvSpPr/>
          <p:nvPr/>
        </p:nvSpPr>
        <p:spPr>
          <a:xfrm>
            <a:off x="1022350" y="1931591"/>
            <a:ext cx="30740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SDS011 · PM dalam</a:t>
            </a:r>
            <a:endParaRPr lang="en-US" sz="1600" dirty="0"/>
          </a:p>
        </p:txBody>
      </p:sp>
      <p:sp>
        <p:nvSpPr>
          <p:cNvPr id="6" name="Text 4"/>
          <p:cNvSpPr/>
          <p:nvPr/>
        </p:nvSpPr>
        <p:spPr>
          <a:xfrm>
            <a:off x="1022350" y="2276971"/>
            <a:ext cx="2984500" cy="629841"/>
          </a:xfrm>
          <a:prstGeom prst="roundRect">
            <a:avLst>
              <a:gd name="adj" fmla="val 10082"/>
            </a:avLst>
          </a:prstGeom>
          <a:solidFill>
            <a:srgbClr val="0F1B24"/>
          </a:solidFill>
          <a:ln/>
        </p:spPr>
        <p:txBody>
          <a:bodyPr wrap="square" lIns="108401" tIns="83001" rIns="26486" bIns="57601" rtlCol="0" anchor="t">
            <a:normAutofit/>
          </a:bodyPr>
          <a:lstStyle/>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AA C0 25L 25H 10L</a:t>
            </a:r>
            <a:endParaRPr lang="en-US" sz="1200" dirty="0"/>
          </a:p>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10H ID ID CS AB</a:t>
            </a:r>
            <a:endParaRPr lang="en-US" sz="1200" dirty="0"/>
          </a:p>
        </p:txBody>
      </p:sp>
      <p:sp>
        <p:nvSpPr>
          <p:cNvPr id="7" name="Text 5"/>
          <p:cNvSpPr/>
          <p:nvPr/>
        </p:nvSpPr>
        <p:spPr>
          <a:xfrm>
            <a:off x="1022350" y="3008412"/>
            <a:ext cx="30740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PM = (H × 256 + L) ÷ 10 µg/m³</a:t>
            </a:r>
            <a:endParaRPr lang="en-US" sz="1200" dirty="0"/>
          </a:p>
        </p:txBody>
      </p:sp>
      <p:sp>
        <p:nvSpPr>
          <p:cNvPr id="8" name="Text 6"/>
          <p:cNvSpPr/>
          <p:nvPr/>
        </p:nvSpPr>
        <p:spPr>
          <a:xfrm>
            <a:off x="1022350" y="3323332"/>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Rata-rata bergerak 5 sampel → nilai stabil untuk kipas</a:t>
            </a:r>
            <a:endParaRPr lang="en-US" sz="1200" dirty="0"/>
          </a:p>
        </p:txBody>
      </p:sp>
      <p:sp>
        <p:nvSpPr>
          <p:cNvPr id="9" name="Text 7"/>
          <p:cNvSpPr/>
          <p:nvPr/>
        </p:nvSpPr>
        <p:spPr>
          <a:xfrm>
            <a:off x="1022350" y="3851573"/>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Tanpa frame 5 s → “sensor error”, kipas ke duty aman 50%</a:t>
            </a:r>
            <a:endParaRPr lang="en-US" sz="1200" dirty="0"/>
          </a:p>
        </p:txBody>
      </p:sp>
      <p:sp>
        <p:nvSpPr>
          <p:cNvPr id="10" name="Shape 8"/>
          <p:cNvSpPr/>
          <p:nvPr/>
        </p:nvSpPr>
        <p:spPr>
          <a:xfrm>
            <a:off x="4397375" y="1725216"/>
            <a:ext cx="3397250" cy="2769493"/>
          </a:xfrm>
          <a:prstGeom prst="roundRect">
            <a:avLst>
              <a:gd name="adj" fmla="val 4471"/>
            </a:avLst>
          </a:prstGeom>
          <a:solidFill>
            <a:srgbClr val="FFFFFF"/>
          </a:solidFill>
          <a:ln w="6350">
            <a:solidFill>
              <a:srgbClr val="DDE3E0"/>
            </a:solidFill>
            <a:prstDash val="solid"/>
          </a:ln>
        </p:spPr>
      </p:sp>
      <p:sp>
        <p:nvSpPr>
          <p:cNvPr id="11" name="Text 9"/>
          <p:cNvSpPr/>
          <p:nvPr/>
        </p:nvSpPr>
        <p:spPr>
          <a:xfrm>
            <a:off x="4603750" y="1931591"/>
            <a:ext cx="30740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ZH03B · PM luar</a:t>
            </a:r>
            <a:endParaRPr lang="en-US" sz="1600" dirty="0"/>
          </a:p>
        </p:txBody>
      </p:sp>
      <p:sp>
        <p:nvSpPr>
          <p:cNvPr id="12" name="Text 10"/>
          <p:cNvSpPr/>
          <p:nvPr/>
        </p:nvSpPr>
        <p:spPr>
          <a:xfrm>
            <a:off x="4603750" y="2276971"/>
            <a:ext cx="2984500" cy="629841"/>
          </a:xfrm>
          <a:prstGeom prst="roundRect">
            <a:avLst>
              <a:gd name="adj" fmla="val 10082"/>
            </a:avLst>
          </a:prstGeom>
          <a:solidFill>
            <a:srgbClr val="0F1B24"/>
          </a:solidFill>
          <a:ln/>
        </p:spPr>
        <p:txBody>
          <a:bodyPr wrap="square" lIns="108401" tIns="83001" rIns="26486" bIns="57601" rtlCol="0" anchor="t">
            <a:normAutofit/>
          </a:bodyPr>
          <a:lstStyle/>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42 4D 00 14 …</a:t>
            </a:r>
            <a:endParaRPr lang="en-US" sz="1200" dirty="0"/>
          </a:p>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PM1 PM2.5 PM10 … CS</a:t>
            </a:r>
            <a:endParaRPr lang="en-US" sz="1200" dirty="0"/>
          </a:p>
        </p:txBody>
      </p:sp>
      <p:sp>
        <p:nvSpPr>
          <p:cNvPr id="13" name="Text 11"/>
          <p:cNvSpPr/>
          <p:nvPr/>
        </p:nvSpPr>
        <p:spPr>
          <a:xfrm>
            <a:off x="4603750" y="3008412"/>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Frame 24 byte, PM = H × 256 + L µg/m³; CS = jumlah byte 0–21</a:t>
            </a:r>
            <a:endParaRPr lang="en-US" sz="1200" dirty="0"/>
          </a:p>
        </p:txBody>
      </p:sp>
      <p:sp>
        <p:nvSpPr>
          <p:cNvPr id="14" name="Text 12"/>
          <p:cNvSpPr/>
          <p:nvPr/>
        </p:nvSpPr>
        <p:spPr>
          <a:xfrm>
            <a:off x="4603750" y="3536652"/>
            <a:ext cx="3187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Tanpa frame 5 s → OFFLINE, nilai luar “--”</a:t>
            </a:r>
            <a:endParaRPr lang="en-US" sz="1200" dirty="0"/>
          </a:p>
        </p:txBody>
      </p:sp>
      <p:sp>
        <p:nvSpPr>
          <p:cNvPr id="15" name="Text 13"/>
          <p:cNvSpPr/>
          <p:nvPr/>
        </p:nvSpPr>
        <p:spPr>
          <a:xfrm>
            <a:off x="4603750" y="3851573"/>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Tidak mengatur kipas; dipakai untuk Δ = dalam − luar</a:t>
            </a:r>
            <a:endParaRPr lang="en-US" sz="1200" dirty="0"/>
          </a:p>
        </p:txBody>
      </p:sp>
      <p:sp>
        <p:nvSpPr>
          <p:cNvPr id="16" name="Shape 14"/>
          <p:cNvSpPr/>
          <p:nvPr/>
        </p:nvSpPr>
        <p:spPr>
          <a:xfrm>
            <a:off x="7978775" y="1725216"/>
            <a:ext cx="3397250" cy="2769493"/>
          </a:xfrm>
          <a:prstGeom prst="roundRect">
            <a:avLst>
              <a:gd name="adj" fmla="val 4471"/>
            </a:avLst>
          </a:prstGeom>
          <a:solidFill>
            <a:srgbClr val="FFFFFF"/>
          </a:solidFill>
          <a:ln w="6350">
            <a:solidFill>
              <a:srgbClr val="DDE3E0"/>
            </a:solidFill>
            <a:prstDash val="solid"/>
          </a:ln>
        </p:spPr>
      </p:sp>
      <p:sp>
        <p:nvSpPr>
          <p:cNvPr id="17" name="Text 15"/>
          <p:cNvSpPr/>
          <p:nvPr/>
        </p:nvSpPr>
        <p:spPr>
          <a:xfrm>
            <a:off x="8185150" y="1931591"/>
            <a:ext cx="30740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SCD40 + ENS160/AHT21</a:t>
            </a:r>
            <a:endParaRPr lang="en-US" sz="1600" dirty="0"/>
          </a:p>
        </p:txBody>
      </p:sp>
      <p:sp>
        <p:nvSpPr>
          <p:cNvPr id="18" name="Text 16"/>
          <p:cNvSpPr/>
          <p:nvPr/>
        </p:nvSpPr>
        <p:spPr>
          <a:xfrm>
            <a:off x="8185150" y="2276971"/>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SCD40 → CO₂ terukur (NDIR) tiap 5 s, I2C 0x62</a:t>
            </a:r>
            <a:endParaRPr lang="en-US" sz="1200" dirty="0"/>
          </a:p>
        </p:txBody>
      </p:sp>
      <p:sp>
        <p:nvSpPr>
          <p:cNvPr id="19" name="Text 17"/>
          <p:cNvSpPr/>
          <p:nvPr/>
        </p:nvSpPr>
        <p:spPr>
          <a:xfrm>
            <a:off x="8185150" y="2805212"/>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ENS160 → TVOC, AQI; eCO₂ hanya cadangan bila SCD40 tidak ada</a:t>
            </a:r>
            <a:endParaRPr lang="en-US" sz="1200" dirty="0"/>
          </a:p>
        </p:txBody>
      </p:sp>
      <p:sp>
        <p:nvSpPr>
          <p:cNvPr id="20" name="Text 18"/>
          <p:cNvSpPr/>
          <p:nvPr/>
        </p:nvSpPr>
        <p:spPr>
          <a:xfrm>
            <a:off x="8185150" y="3333452"/>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AHT21 → suhu &amp; RH utama; SCD40 sebagai cadangan</a:t>
            </a:r>
            <a:endParaRPr lang="en-US" sz="1200" dirty="0"/>
          </a:p>
        </p:txBody>
      </p:sp>
      <p:sp>
        <p:nvSpPr>
          <p:cNvPr id="21" name="Text 19"/>
          <p:cNvSpPr/>
          <p:nvPr/>
        </p:nvSpPr>
        <p:spPr>
          <a:xfrm>
            <a:off x="8185150" y="3861693"/>
            <a:ext cx="3074035"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530C"/>
                </a:solidFill>
                <a:latin typeface="IBM Plex Sans" pitchFamily="34" charset="0"/>
                <a:ea typeface="IBM Plex Sans" pitchFamily="34" charset="-122"/>
                <a:cs typeface="IBM Plex Sans" pitchFamily="34" charset="-120"/>
              </a:rPr>
              <a:t>SCD40 menulis variabel CO₂ yang sama, jadi OLED, LED, app dan web ikut otomatis</a:t>
            </a:r>
            <a:endParaRPr lang="en-US" sz="12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02 · SENSOR</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Kategori, kecepatan kipas &amp; warna LED</a:t>
            </a:r>
            <a:endParaRPr lang="en-US" sz="3200" dirty="0"/>
          </a:p>
        </p:txBody>
      </p:sp>
      <p:sp>
        <p:nvSpPr>
          <p:cNvPr id="4" name="Text 2"/>
          <p:cNvSpPr/>
          <p:nvPr/>
        </p:nvSpPr>
        <p:spPr>
          <a:xfrm>
            <a:off x="812800" y="1722041"/>
            <a:ext cx="53108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JetBrains Mono" pitchFamily="49" charset="0"/>
                <a:ea typeface="JetBrains Mono" pitchFamily="49" charset="-122"/>
                <a:cs typeface="JetBrains Mono" pitchFamily="49" charset="-120"/>
              </a:rPr>
              <a:t>PM2.5 → KIPAS (mode Otomatis)</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049661"/>
          <a:ext cx="5143500" cy="1929805"/>
        </p:xfrm>
        <a:graphic>
          <a:graphicData uri="http://schemas.openxmlformats.org/drawingml/2006/table">
            <a:tbl>
              <a:tblPr/>
              <a:tblGrid>
                <a:gridCol w="2057400"/>
                <a:gridCol w="1954530"/>
                <a:gridCol w="1131570"/>
              </a:tblGrid>
              <a:tr h="385961">
                <a:tc>
                  <a:txBody>
                    <a:bodyPr/>
                    <a:lstStyle/>
                    <a:p>
                      <a:pPr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PM2.5 µg/m³</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Kategori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Kipas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&lt; 15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 Aman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30%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15 – 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 Cenderung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20 – 30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 Bahaya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 30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 Sgt bahaya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100%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bl>
          </a:graphicData>
        </a:graphic>
      </p:graphicFrame>
      <p:sp>
        <p:nvSpPr>
          <p:cNvPr id="6" name="Text 3"/>
          <p:cNvSpPr/>
          <p:nvPr/>
        </p:nvSpPr>
        <p:spPr>
          <a:xfrm>
            <a:off x="812800" y="4081066"/>
            <a:ext cx="53108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Histeresis 1 µg/m³: kategori turun hanya jika PM2.5 &lt; batas − 1, agar kipas tidak naik-turun.</a:t>
            </a:r>
            <a:endParaRPr lang="en-US" sz="1200" dirty="0"/>
          </a:p>
        </p:txBody>
      </p:sp>
      <p:sp>
        <p:nvSpPr>
          <p:cNvPr id="7" name="Text 4"/>
          <p:cNvSpPr/>
          <p:nvPr/>
        </p:nvSpPr>
        <p:spPr>
          <a:xfrm>
            <a:off x="6223000" y="1722041"/>
            <a:ext cx="53108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JetBrains Mono" pitchFamily="49" charset="0"/>
                <a:ea typeface="JetBrains Mono" pitchFamily="49" charset="-122"/>
                <a:cs typeface="JetBrains Mono" pitchFamily="49" charset="-120"/>
              </a:rPr>
              <a:t>eCO₂ → SARAN VENTILASI</a:t>
            </a:r>
            <a:endParaRPr lang="en-US" sz="12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6235700" y="2049661"/>
          <a:ext cx="5143500" cy="1929805"/>
        </p:xfrm>
        <a:graphic>
          <a:graphicData uri="http://schemas.openxmlformats.org/drawingml/2006/table">
            <a:tbl>
              <a:tblPr/>
              <a:tblGrid>
                <a:gridCol w="2057400"/>
                <a:gridCol w="3086100"/>
              </a:tblGrid>
              <a:tr h="385961">
                <a:tc>
                  <a:txBody>
                    <a:bodyPr/>
                    <a:lstStyle/>
                    <a:p>
                      <a:pPr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eCO₂ ppm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960"/>
                        </a:lnSpc>
                        <a:buNone/>
                      </a:pPr>
                      <a:r>
                        <a:rPr lang="en-US" sz="1400" b="1" dirty="0">
                          <a:solidFill>
                            <a:srgbClr val="1E2A33"/>
                          </a:solidFill>
                          <a:latin typeface="IBM Plex Sans" pitchFamily="34" charset="0"/>
                          <a:ea typeface="IBM Plex Sans" pitchFamily="34" charset="-122"/>
                          <a:cs typeface="IBM Plex Sans" pitchFamily="34" charset="-120"/>
                        </a:rPr>
                        <a:t>Arti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&lt; 800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Baik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800 – 1000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Sedang, pertimbangkan ventilasi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1000 – 1500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Buruk, buka jendela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5961">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 1500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960"/>
                        </a:lnSpc>
                        <a:buNone/>
                      </a:pPr>
                      <a:r>
                        <a:rPr lang="en-US" sz="1400" dirty="0">
                          <a:solidFill>
                            <a:srgbClr val="1E2A33"/>
                          </a:solidFill>
                          <a:latin typeface="IBM Plex Sans" pitchFamily="34" charset="0"/>
                          <a:ea typeface="IBM Plex Sans" pitchFamily="34" charset="-122"/>
                          <a:cs typeface="IBM Plex Sans" pitchFamily="34" charset="-120"/>
                        </a:rPr>
                        <a:t>Sangat buruk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bl>
          </a:graphicData>
        </a:graphic>
      </p:graphicFrame>
      <p:sp>
        <p:nvSpPr>
          <p:cNvPr id="9" name="Text 5"/>
          <p:cNvSpPr/>
          <p:nvPr/>
        </p:nvSpPr>
        <p:spPr>
          <a:xfrm>
            <a:off x="6223000" y="4081066"/>
            <a:ext cx="531088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LED RGB memakai level terburuk dari keduanya. eCO₂ tidak mengubah kipas: filter tidak menyerap CO₂.</a:t>
            </a:r>
            <a:endParaRPr lang="en-US" sz="1200" dirty="0"/>
          </a:p>
        </p:txBody>
      </p:sp>
      <p:sp>
        <p:nvSpPr>
          <p:cNvPr id="10"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03 · SOFTWARE</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PlatformIO: struktur project &amp; build</a:t>
            </a:r>
            <a:endParaRPr lang="en-US" sz="3200" dirty="0"/>
          </a:p>
        </p:txBody>
      </p:sp>
      <p:sp>
        <p:nvSpPr>
          <p:cNvPr id="4" name="Text 2"/>
          <p:cNvSpPr/>
          <p:nvPr/>
        </p:nvSpPr>
        <p:spPr>
          <a:xfrm>
            <a:off x="812800" y="1722041"/>
            <a:ext cx="4826000" cy="2531666"/>
          </a:xfrm>
          <a:prstGeom prst="roundRect">
            <a:avLst>
              <a:gd name="adj" fmla="val 5016"/>
            </a:avLst>
          </a:prstGeom>
          <a:solidFill>
            <a:srgbClr val="0F1B24"/>
          </a:solidFill>
          <a:ln/>
        </p:spPr>
        <p:txBody>
          <a:bodyPr wrap="square" lIns="191403" tIns="166003" rIns="60339" bIns="140603" rtlCol="0" anchor="t">
            <a:normAutofit/>
          </a:bodyPr>
          <a:lstStyle/>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cair-purifier/</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platformio.ini </a:t>
            </a:r>
            <a:r>
              <a:rPr lang="en-US" sz="1200" dirty="0">
                <a:solidFill>
                  <a:srgbClr val="3DD6A3"/>
                </a:solidFill>
                <a:latin typeface="JetBrains Mono" pitchFamily="49" charset="0"/>
                <a:ea typeface="JetBrains Mono" pitchFamily="49" charset="-122"/>
                <a:cs typeface="JetBrains Mono" pitchFamily="49" charset="-120"/>
              </a:rPr>
              <a:t>board, library, partisi</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include/config.h </a:t>
            </a:r>
            <a:r>
              <a:rPr lang="en-US" sz="1200" dirty="0">
                <a:solidFill>
                  <a:srgbClr val="3DD6A3"/>
                </a:solidFill>
                <a:latin typeface="JetBrains Mono" pitchFamily="49" charset="0"/>
                <a:ea typeface="JetBrains Mono" pitchFamily="49" charset="-122"/>
                <a:cs typeface="JetBrains Mono" pitchFamily="49" charset="-120"/>
              </a:rPr>
              <a:t>pin &amp; default</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include/app.h </a:t>
            </a:r>
            <a:r>
              <a:rPr lang="en-US" sz="1200" dirty="0">
                <a:solidFill>
                  <a:srgbClr val="3DD6A3"/>
                </a:solidFill>
                <a:latin typeface="JetBrains Mono" pitchFamily="49" charset="0"/>
                <a:ea typeface="JetBrains Mono" pitchFamily="49" charset="-122"/>
                <a:cs typeface="JetBrains Mono" pitchFamily="49" charset="-120"/>
              </a:rPr>
              <a:t>data bersama</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src/main.cpp </a:t>
            </a:r>
            <a:r>
              <a:rPr lang="en-US" sz="1200" dirty="0">
                <a:solidFill>
                  <a:srgbClr val="3DD6A3"/>
                </a:solidFill>
                <a:latin typeface="JetBrains Mono" pitchFamily="49" charset="0"/>
                <a:ea typeface="JetBrains Mono" pitchFamily="49" charset="-122"/>
                <a:cs typeface="JetBrains Mono" pitchFamily="49" charset="-120"/>
              </a:rPr>
              <a:t>setup + buat task</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src/*_task.cpp </a:t>
            </a:r>
            <a:r>
              <a:rPr lang="en-US" sz="1200" dirty="0">
                <a:solidFill>
                  <a:srgbClr val="3DD6A3"/>
                </a:solidFill>
                <a:latin typeface="JetBrains Mono" pitchFamily="49" charset="0"/>
                <a:ea typeface="JetBrains Mono" pitchFamily="49" charset="-122"/>
                <a:cs typeface="JetBrains Mono" pitchFamily="49" charset="-120"/>
              </a:rPr>
              <a:t>1 file = 1 task</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web/index.html </a:t>
            </a:r>
            <a:r>
              <a:rPr lang="en-US" sz="1200" dirty="0">
                <a:solidFill>
                  <a:srgbClr val="3DD6A3"/>
                </a:solidFill>
                <a:latin typeface="JetBrains Mono" pitchFamily="49" charset="0"/>
                <a:ea typeface="JetBrains Mono" pitchFamily="49" charset="-122"/>
                <a:cs typeface="JetBrains Mono" pitchFamily="49" charset="-120"/>
              </a:rPr>
              <a:t>tampilan web</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tools/embed_web.py</a:t>
            </a:r>
            <a:endParaRPr lang="en-US" sz="1200" dirty="0"/>
          </a:p>
          <a:p>
            <a:pPr algn="l" indent="0" marL="0">
              <a:lnSpc>
                <a:spcPts val="1860"/>
              </a:lnSpc>
              <a:buNone/>
            </a:pPr>
            <a:r>
              <a:rPr lang="en-US" sz="1200" dirty="0">
                <a:solidFill>
                  <a:srgbClr val="C9D4DC"/>
                </a:solidFill>
                <a:latin typeface="JetBrains Mono" pitchFamily="49" charset="0"/>
                <a:ea typeface="JetBrains Mono" pitchFamily="49" charset="-122"/>
                <a:cs typeface="JetBrains Mono" pitchFamily="49" charset="-120"/>
              </a:rPr>
              <a:t>└ tools/sds011_sim.py</a:t>
            </a:r>
            <a:endParaRPr lang="en-US" sz="1200" dirty="0"/>
          </a:p>
        </p:txBody>
      </p:sp>
      <p:sp>
        <p:nvSpPr>
          <p:cNvPr id="5" name="Text 3"/>
          <p:cNvSpPr/>
          <p:nvPr/>
        </p:nvSpPr>
        <p:spPr>
          <a:xfrm>
            <a:off x="5892800" y="1722041"/>
            <a:ext cx="330200" cy="330200"/>
          </a:xfrm>
          <a:custGeom>
            <a:avLst/>
            <a:gdLst/>
            <a:ahLst/>
            <a:cxnLst/>
            <a:rect l="l" t="t" r="r" b="b"/>
            <a:pathLst>
              <a:path w="330200" h="330200">
                <a:moveTo>
                  <a:pt x="165100" y="0"/>
                </a:moveTo>
                <a:lnTo>
                  <a:pt x="165100" y="0"/>
                </a:lnTo>
                <a:arcTo hR="165100" wR="165100" stAng="16200000" swAng="5400000"/>
                <a:lnTo>
                  <a:pt x="330200" y="165100"/>
                </a:lnTo>
                <a:arcTo hR="165100" wR="165100" stAng="0" swAng="5400000"/>
                <a:lnTo>
                  <a:pt x="165100" y="330200"/>
                </a:lnTo>
                <a:arcTo hR="165100" wR="165100" stAng="5400000" swAng="5400000"/>
                <a:lnTo>
                  <a:pt x="0" y="165100"/>
                </a:lnTo>
                <a:arcTo hR="165100" wR="165100" stAng="10800000" swAng="5400000"/>
                <a:close/>
              </a:path>
            </a:pathLst>
          </a:custGeom>
          <a:solidFill>
            <a:srgbClr val="0B7A5A"/>
          </a:solidFill>
          <a:ln/>
        </p:spPr>
        <p:txBody>
          <a:bodyPr wrap="square" lIns="0" tIns="0" rIns="0" bIns="0" rtlCol="0" anchor="t">
            <a:normAutofit/>
          </a:bodyPr>
          <a:lstStyle/>
          <a:p>
            <a:pPr algn="ctr" indent="0" marL="0">
              <a:lnSpc>
                <a:spcPts val="2600"/>
              </a:lnSpc>
              <a:buNone/>
            </a:pPr>
            <a:r>
              <a:rPr lang="en-US" sz="1300" b="1" dirty="0">
                <a:solidFill>
                  <a:srgbClr val="F4F6F3"/>
                </a:solidFill>
                <a:latin typeface="IBM Plex Sans" pitchFamily="34" charset="0"/>
                <a:ea typeface="IBM Plex Sans" pitchFamily="34" charset="-122"/>
                <a:cs typeface="IBM Plex Sans" pitchFamily="34" charset="-120"/>
              </a:rPr>
              <a:t>1</a:t>
            </a:r>
            <a:endParaRPr lang="en-US" sz="1300" dirty="0"/>
          </a:p>
        </p:txBody>
      </p:sp>
      <p:sp>
        <p:nvSpPr>
          <p:cNvPr id="6" name="Text 4"/>
          <p:cNvSpPr/>
          <p:nvPr/>
        </p:nvSpPr>
        <p:spPr>
          <a:xfrm>
            <a:off x="6350000" y="1722041"/>
            <a:ext cx="518007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Pasang VS Code + ekstensi </a:t>
            </a:r>
            <a:r>
              <a:rPr lang="en-US" sz="1300" b="1" dirty="0">
                <a:solidFill>
                  <a:srgbClr val="1E2A33"/>
                </a:solidFill>
                <a:latin typeface="IBM Plex Sans" pitchFamily="34" charset="0"/>
                <a:ea typeface="IBM Plex Sans" pitchFamily="34" charset="-122"/>
                <a:cs typeface="IBM Plex Sans" pitchFamily="34" charset="-120"/>
              </a:rPr>
              <a:t>PlatformIO IDE</a:t>
            </a:r>
            <a:r>
              <a:rPr lang="en-US" sz="1300" dirty="0">
                <a:solidFill>
                  <a:srgbClr val="1E2A33"/>
                </a:solidFill>
                <a:latin typeface="IBM Plex Sans" pitchFamily="34" charset="0"/>
                <a:ea typeface="IBM Plex Sans" pitchFamily="34" charset="-122"/>
                <a:cs typeface="IBM Plex Sans" pitchFamily="34" charset="-120"/>
              </a:rPr>
              <a:t>, buka folder project</a:t>
            </a:r>
            <a:endParaRPr lang="en-US" sz="1300" dirty="0"/>
          </a:p>
        </p:txBody>
      </p:sp>
      <p:sp>
        <p:nvSpPr>
          <p:cNvPr id="7" name="Text 5"/>
          <p:cNvSpPr/>
          <p:nvPr/>
        </p:nvSpPr>
        <p:spPr>
          <a:xfrm>
            <a:off x="5892800" y="2153841"/>
            <a:ext cx="330200" cy="330200"/>
          </a:xfrm>
          <a:custGeom>
            <a:avLst/>
            <a:gdLst/>
            <a:ahLst/>
            <a:cxnLst/>
            <a:rect l="l" t="t" r="r" b="b"/>
            <a:pathLst>
              <a:path w="330200" h="330200">
                <a:moveTo>
                  <a:pt x="165100" y="0"/>
                </a:moveTo>
                <a:lnTo>
                  <a:pt x="165100" y="0"/>
                </a:lnTo>
                <a:arcTo hR="165100" wR="165100" stAng="16200000" swAng="5400000"/>
                <a:lnTo>
                  <a:pt x="330200" y="165100"/>
                </a:lnTo>
                <a:arcTo hR="165100" wR="165100" stAng="0" swAng="5400000"/>
                <a:lnTo>
                  <a:pt x="165100" y="330200"/>
                </a:lnTo>
                <a:arcTo hR="165100" wR="165100" stAng="5400000" swAng="5400000"/>
                <a:lnTo>
                  <a:pt x="0" y="165100"/>
                </a:lnTo>
                <a:arcTo hR="165100" wR="165100" stAng="10800000" swAng="5400000"/>
                <a:close/>
              </a:path>
            </a:pathLst>
          </a:custGeom>
          <a:solidFill>
            <a:srgbClr val="0B7A5A"/>
          </a:solidFill>
          <a:ln/>
        </p:spPr>
        <p:txBody>
          <a:bodyPr wrap="square" lIns="0" tIns="0" rIns="0" bIns="0" rtlCol="0" anchor="t">
            <a:normAutofit/>
          </a:bodyPr>
          <a:lstStyle/>
          <a:p>
            <a:pPr algn="ctr" indent="0" marL="0">
              <a:lnSpc>
                <a:spcPts val="2600"/>
              </a:lnSpc>
              <a:buNone/>
            </a:pPr>
            <a:r>
              <a:rPr lang="en-US" sz="1300" b="1" dirty="0">
                <a:solidFill>
                  <a:srgbClr val="F4F6F3"/>
                </a:solidFill>
                <a:latin typeface="IBM Plex Sans" pitchFamily="34" charset="0"/>
                <a:ea typeface="IBM Plex Sans" pitchFamily="34" charset="-122"/>
                <a:cs typeface="IBM Plex Sans" pitchFamily="34" charset="-120"/>
              </a:rPr>
              <a:t>2</a:t>
            </a:r>
            <a:endParaRPr lang="en-US" sz="1300" dirty="0"/>
          </a:p>
        </p:txBody>
      </p:sp>
      <p:sp>
        <p:nvSpPr>
          <p:cNvPr id="8" name="Text 6"/>
          <p:cNvSpPr/>
          <p:nvPr/>
        </p:nvSpPr>
        <p:spPr>
          <a:xfrm>
            <a:off x="6350000" y="2153841"/>
            <a:ext cx="518007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Build: </a:t>
            </a:r>
            <a:r>
              <a:rPr lang="en-US" sz="1300" dirty="0">
                <a:solidFill>
                  <a:srgbClr val="0B7A5A"/>
                </a:solidFill>
                <a:latin typeface="IBM Plex Sans" pitchFamily="34" charset="0"/>
                <a:ea typeface="IBM Plex Sans" pitchFamily="34" charset="-122"/>
                <a:cs typeface="IBM Plex Sans" pitchFamily="34" charset="-120"/>
              </a:rPr>
              <a:t>pio run</a:t>
            </a:r>
            <a:r>
              <a:rPr lang="en-US" sz="1300" dirty="0">
                <a:solidFill>
                  <a:srgbClr val="1E2A33"/>
                </a:solidFill>
                <a:latin typeface="IBM Plex Sans" pitchFamily="34" charset="0"/>
                <a:ea typeface="IBM Plex Sans" pitchFamily="34" charset="-122"/>
                <a:cs typeface="IBM Plex Sans" pitchFamily="34" charset="-120"/>
              </a:rPr>
              <a:t> (library diunduh otomatis)</a:t>
            </a:r>
            <a:endParaRPr lang="en-US" sz="1300" dirty="0"/>
          </a:p>
        </p:txBody>
      </p:sp>
      <p:sp>
        <p:nvSpPr>
          <p:cNvPr id="9" name="Text 7"/>
          <p:cNvSpPr/>
          <p:nvPr/>
        </p:nvSpPr>
        <p:spPr>
          <a:xfrm>
            <a:off x="5892800" y="2585641"/>
            <a:ext cx="330200" cy="330200"/>
          </a:xfrm>
          <a:custGeom>
            <a:avLst/>
            <a:gdLst/>
            <a:ahLst/>
            <a:cxnLst/>
            <a:rect l="l" t="t" r="r" b="b"/>
            <a:pathLst>
              <a:path w="330200" h="330200">
                <a:moveTo>
                  <a:pt x="165100" y="0"/>
                </a:moveTo>
                <a:lnTo>
                  <a:pt x="165100" y="0"/>
                </a:lnTo>
                <a:arcTo hR="165100" wR="165100" stAng="16200000" swAng="5400000"/>
                <a:lnTo>
                  <a:pt x="330200" y="165100"/>
                </a:lnTo>
                <a:arcTo hR="165100" wR="165100" stAng="0" swAng="5400000"/>
                <a:lnTo>
                  <a:pt x="165100" y="330200"/>
                </a:lnTo>
                <a:arcTo hR="165100" wR="165100" stAng="5400000" swAng="5400000"/>
                <a:lnTo>
                  <a:pt x="0" y="165100"/>
                </a:lnTo>
                <a:arcTo hR="165100" wR="165100" stAng="10800000" swAng="5400000"/>
                <a:close/>
              </a:path>
            </a:pathLst>
          </a:custGeom>
          <a:solidFill>
            <a:srgbClr val="0B7A5A"/>
          </a:solidFill>
          <a:ln/>
        </p:spPr>
        <p:txBody>
          <a:bodyPr wrap="square" lIns="0" tIns="0" rIns="0" bIns="0" rtlCol="0" anchor="t">
            <a:normAutofit/>
          </a:bodyPr>
          <a:lstStyle/>
          <a:p>
            <a:pPr algn="ctr" indent="0" marL="0">
              <a:lnSpc>
                <a:spcPts val="2600"/>
              </a:lnSpc>
              <a:buNone/>
            </a:pPr>
            <a:r>
              <a:rPr lang="en-US" sz="1300" b="1" dirty="0">
                <a:solidFill>
                  <a:srgbClr val="F4F6F3"/>
                </a:solidFill>
                <a:latin typeface="IBM Plex Sans" pitchFamily="34" charset="0"/>
                <a:ea typeface="IBM Plex Sans" pitchFamily="34" charset="-122"/>
                <a:cs typeface="IBM Plex Sans" pitchFamily="34" charset="-120"/>
              </a:rPr>
              <a:t>3</a:t>
            </a:r>
            <a:endParaRPr lang="en-US" sz="1300" dirty="0"/>
          </a:p>
        </p:txBody>
      </p:sp>
      <p:sp>
        <p:nvSpPr>
          <p:cNvPr id="10" name="Text 8"/>
          <p:cNvSpPr/>
          <p:nvPr/>
        </p:nvSpPr>
        <p:spPr>
          <a:xfrm>
            <a:off x="6350000" y="2585641"/>
            <a:ext cx="518007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Upload: </a:t>
            </a:r>
            <a:r>
              <a:rPr lang="en-US" sz="1300" dirty="0">
                <a:solidFill>
                  <a:srgbClr val="0B7A5A"/>
                </a:solidFill>
                <a:latin typeface="IBM Plex Sans" pitchFamily="34" charset="0"/>
                <a:ea typeface="IBM Plex Sans" pitchFamily="34" charset="-122"/>
                <a:cs typeface="IBM Plex Sans" pitchFamily="34" charset="-120"/>
              </a:rPr>
              <a:t>pio run -t upload --upload-port COM5</a:t>
            </a:r>
            <a:endParaRPr lang="en-US" sz="1300" dirty="0"/>
          </a:p>
        </p:txBody>
      </p:sp>
      <p:sp>
        <p:nvSpPr>
          <p:cNvPr id="11" name="Text 9"/>
          <p:cNvSpPr/>
          <p:nvPr/>
        </p:nvSpPr>
        <p:spPr>
          <a:xfrm>
            <a:off x="5892800" y="3017441"/>
            <a:ext cx="330200" cy="330200"/>
          </a:xfrm>
          <a:custGeom>
            <a:avLst/>
            <a:gdLst/>
            <a:ahLst/>
            <a:cxnLst/>
            <a:rect l="l" t="t" r="r" b="b"/>
            <a:pathLst>
              <a:path w="330200" h="330200">
                <a:moveTo>
                  <a:pt x="165100" y="0"/>
                </a:moveTo>
                <a:lnTo>
                  <a:pt x="165100" y="0"/>
                </a:lnTo>
                <a:arcTo hR="165100" wR="165100" stAng="16200000" swAng="5400000"/>
                <a:lnTo>
                  <a:pt x="330200" y="165100"/>
                </a:lnTo>
                <a:arcTo hR="165100" wR="165100" stAng="0" swAng="5400000"/>
                <a:lnTo>
                  <a:pt x="165100" y="330200"/>
                </a:lnTo>
                <a:arcTo hR="165100" wR="165100" stAng="5400000" swAng="5400000"/>
                <a:lnTo>
                  <a:pt x="0" y="165100"/>
                </a:lnTo>
                <a:arcTo hR="165100" wR="165100" stAng="10800000" swAng="5400000"/>
                <a:close/>
              </a:path>
            </a:pathLst>
          </a:custGeom>
          <a:solidFill>
            <a:srgbClr val="0B7A5A"/>
          </a:solidFill>
          <a:ln/>
        </p:spPr>
        <p:txBody>
          <a:bodyPr wrap="square" lIns="0" tIns="0" rIns="0" bIns="0" rtlCol="0" anchor="t">
            <a:normAutofit/>
          </a:bodyPr>
          <a:lstStyle/>
          <a:p>
            <a:pPr algn="ctr" indent="0" marL="0">
              <a:lnSpc>
                <a:spcPts val="2600"/>
              </a:lnSpc>
              <a:buNone/>
            </a:pPr>
            <a:r>
              <a:rPr lang="en-US" sz="1300" b="1" dirty="0">
                <a:solidFill>
                  <a:srgbClr val="F4F6F3"/>
                </a:solidFill>
                <a:latin typeface="IBM Plex Sans" pitchFamily="34" charset="0"/>
                <a:ea typeface="IBM Plex Sans" pitchFamily="34" charset="-122"/>
                <a:cs typeface="IBM Plex Sans" pitchFamily="34" charset="-120"/>
              </a:rPr>
              <a:t>4</a:t>
            </a:r>
            <a:endParaRPr lang="en-US" sz="1300" dirty="0"/>
          </a:p>
        </p:txBody>
      </p:sp>
      <p:sp>
        <p:nvSpPr>
          <p:cNvPr id="12" name="Text 10"/>
          <p:cNvSpPr/>
          <p:nvPr/>
        </p:nvSpPr>
        <p:spPr>
          <a:xfrm>
            <a:off x="6350000" y="3017441"/>
            <a:ext cx="518007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Monitor: </a:t>
            </a:r>
            <a:r>
              <a:rPr lang="en-US" sz="1300" dirty="0">
                <a:solidFill>
                  <a:srgbClr val="0B7A5A"/>
                </a:solidFill>
                <a:latin typeface="IBM Plex Sans" pitchFamily="34" charset="0"/>
                <a:ea typeface="IBM Plex Sans" pitchFamily="34" charset="-122"/>
                <a:cs typeface="IBM Plex Sans" pitchFamily="34" charset="-120"/>
              </a:rPr>
              <a:t>pio device monitor -p COM5</a:t>
            </a:r>
            <a:r>
              <a:rPr lang="en-US" sz="1300" dirty="0">
                <a:solidFill>
                  <a:srgbClr val="1E2A33"/>
                </a:solidFill>
                <a:latin typeface="IBM Plex Sans" pitchFamily="34" charset="0"/>
                <a:ea typeface="IBM Plex Sans" pitchFamily="34" charset="-122"/>
                <a:cs typeface="IBM Plex Sans" pitchFamily="34" charset="-120"/>
              </a:rPr>
              <a:t> (115200)</a:t>
            </a:r>
            <a:endParaRPr lang="en-US" sz="1300" dirty="0"/>
          </a:p>
        </p:txBody>
      </p:sp>
      <p:sp>
        <p:nvSpPr>
          <p:cNvPr id="13" name="Text 11"/>
          <p:cNvSpPr/>
          <p:nvPr/>
        </p:nvSpPr>
        <p:spPr>
          <a:xfrm>
            <a:off x="5895975" y="3452416"/>
            <a:ext cx="5480050" cy="661591"/>
          </a:xfrm>
          <a:prstGeom prst="roundRect">
            <a:avLst>
              <a:gd name="adj" fmla="val 11038"/>
            </a:avLst>
          </a:prstGeom>
          <a:solidFill>
            <a:srgbClr val="FFFFFF"/>
          </a:solidFill>
          <a:ln w="6350">
            <a:solidFill>
              <a:srgbClr val="DDE3E0"/>
            </a:solidFill>
            <a:prstDash val="solid"/>
          </a:ln>
        </p:spPr>
        <p:txBody>
          <a:bodyPr wrap="square" lIns="134187" tIns="96087" rIns="0" bIns="70687"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Error “No module named intelhex”</a:t>
            </a:r>
            <a:r>
              <a:rPr lang="en-US" sz="1200" dirty="0">
                <a:solidFill>
                  <a:srgbClr val="4A5568"/>
                </a:solidFill>
                <a:latin typeface="IBM Plex Sans" pitchFamily="34" charset="0"/>
                <a:ea typeface="IBM Plex Sans" pitchFamily="34" charset="-122"/>
                <a:cs typeface="IBM Plex Sans" pitchFamily="34" charset="-120"/>
              </a:rPr>
              <a:t>: jalankan</a:t>
            </a:r>
            <a:endParaRPr lang="en-US" sz="1200" dirty="0"/>
          </a:p>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…\.platformio\penv\Scripts\python -m pip install intelhex</a:t>
            </a:r>
            <a:endParaRPr lang="en-US" sz="12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03 · FREERTOS</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Sembilan task, masing-masing satu tugas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4741"/>
          <a:ext cx="7378700" cy="3592711"/>
        </p:xfrm>
        <a:graphic>
          <a:graphicData uri="http://schemas.openxmlformats.org/drawingml/2006/table">
            <a:tbl>
              <a:tblPr/>
              <a:tblGrid>
                <a:gridCol w="1475740"/>
                <a:gridCol w="959231"/>
                <a:gridCol w="959231"/>
                <a:gridCol w="1180592"/>
                <a:gridCol w="2803906"/>
              </a:tblGrid>
              <a:tr h="359271">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Task</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Core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Prio</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Siklus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Tugas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fan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4</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100 ms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PWM, relay, rpm, LED, tombol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sensor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20 ms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SDS011 (PM dalam)</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zh03b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3</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50 ms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ZH03B (PM luar)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env</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 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ENS160 + AHT21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scd40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 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CO₂ SCD40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console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20 ms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perintah &amp; log UART0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remotexy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20 ms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app BLE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web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 ms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WiFi, HTTP, riwayat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59271">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display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250 ms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OLED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bl>
          </a:graphicData>
        </a:graphic>
      </p:graphicFrame>
      <p:sp>
        <p:nvSpPr>
          <p:cNvPr id="5" name="Shape 2"/>
          <p:cNvSpPr/>
          <p:nvPr/>
        </p:nvSpPr>
        <p:spPr>
          <a:xfrm>
            <a:off x="8458200" y="1722041"/>
            <a:ext cx="2921000" cy="1300361"/>
          </a:xfrm>
          <a:prstGeom prst="roundRect">
            <a:avLst>
              <a:gd name="adj" fmla="val 9767"/>
            </a:avLst>
          </a:prstGeom>
          <a:solidFill>
            <a:srgbClr val="0F1B24"/>
          </a:solidFill>
          <a:ln/>
        </p:spPr>
      </p:sp>
      <p:sp>
        <p:nvSpPr>
          <p:cNvPr id="6" name="Text 3"/>
          <p:cNvSpPr/>
          <p:nvPr/>
        </p:nvSpPr>
        <p:spPr>
          <a:xfrm>
            <a:off x="8661400" y="1899841"/>
            <a:ext cx="259003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3DD6A3"/>
                </a:solidFill>
                <a:latin typeface="IBM Plex Sans" pitchFamily="34" charset="0"/>
                <a:ea typeface="IBM Plex Sans" pitchFamily="34" charset="-122"/>
                <a:cs typeface="IBM Plex Sans" pitchFamily="34" charset="-120"/>
              </a:rPr>
              <a:t>Kenapa pakai task?</a:t>
            </a:r>
            <a:endParaRPr lang="en-US" sz="1500" dirty="0"/>
          </a:p>
        </p:txBody>
      </p:sp>
      <p:sp>
        <p:nvSpPr>
          <p:cNvPr id="7" name="Text 4"/>
          <p:cNvSpPr/>
          <p:nvPr/>
        </p:nvSpPr>
        <p:spPr>
          <a:xfrm>
            <a:off x="8661400" y="2204641"/>
            <a:ext cx="259003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Tiap bagian punya loop sendiri. Web yang lambat tidak menghambat kipas.</a:t>
            </a:r>
            <a:endParaRPr lang="en-US" sz="1200" dirty="0"/>
          </a:p>
        </p:txBody>
      </p:sp>
      <p:sp>
        <p:nvSpPr>
          <p:cNvPr id="8" name="Shape 5"/>
          <p:cNvSpPr/>
          <p:nvPr/>
        </p:nvSpPr>
        <p:spPr>
          <a:xfrm>
            <a:off x="8461375" y="3152577"/>
            <a:ext cx="2914650" cy="1306711"/>
          </a:xfrm>
          <a:prstGeom prst="roundRect">
            <a:avLst>
              <a:gd name="adj" fmla="val 9476"/>
            </a:avLst>
          </a:prstGeom>
          <a:solidFill>
            <a:srgbClr val="FFFFFF"/>
          </a:solidFill>
          <a:ln w="6350">
            <a:solidFill>
              <a:srgbClr val="DDE3E0"/>
            </a:solidFill>
            <a:prstDash val="solid"/>
          </a:ln>
        </p:spPr>
      </p:sp>
      <p:sp>
        <p:nvSpPr>
          <p:cNvPr id="9" name="Text 6"/>
          <p:cNvSpPr/>
          <p:nvPr/>
        </p:nvSpPr>
        <p:spPr>
          <a:xfrm>
            <a:off x="8667750" y="3333552"/>
            <a:ext cx="257695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Prioritas</a:t>
            </a:r>
            <a:endParaRPr lang="en-US" sz="1500" dirty="0"/>
          </a:p>
        </p:txBody>
      </p:sp>
      <p:sp>
        <p:nvSpPr>
          <p:cNvPr id="10" name="Text 7"/>
          <p:cNvSpPr/>
          <p:nvPr/>
        </p:nvSpPr>
        <p:spPr>
          <a:xfrm>
            <a:off x="8667750" y="3638352"/>
            <a:ext cx="2576957"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Angka besar didahulukan. Kipas paling tinggi karena menyangkut keselamatan.</a:t>
            </a:r>
            <a:endParaRPr lang="en-US" sz="1200" dirty="0"/>
          </a:p>
        </p:txBody>
      </p:sp>
      <p:sp>
        <p:nvSpPr>
          <p:cNvPr id="11" name="Shape 8"/>
          <p:cNvSpPr/>
          <p:nvPr/>
        </p:nvSpPr>
        <p:spPr>
          <a:xfrm>
            <a:off x="8461375" y="4592638"/>
            <a:ext cx="2914650" cy="1093391"/>
          </a:xfrm>
          <a:prstGeom prst="roundRect">
            <a:avLst>
              <a:gd name="adj" fmla="val 11325"/>
            </a:avLst>
          </a:prstGeom>
          <a:solidFill>
            <a:srgbClr val="FFFFFF"/>
          </a:solidFill>
          <a:ln w="6350">
            <a:solidFill>
              <a:srgbClr val="DDE3E0"/>
            </a:solidFill>
            <a:prstDash val="solid"/>
          </a:ln>
        </p:spPr>
      </p:sp>
      <p:sp>
        <p:nvSpPr>
          <p:cNvPr id="12" name="Text 9"/>
          <p:cNvSpPr/>
          <p:nvPr/>
        </p:nvSpPr>
        <p:spPr>
          <a:xfrm>
            <a:off x="8667750" y="4773613"/>
            <a:ext cx="257695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vTaskDelay()</a:t>
            </a:r>
            <a:endParaRPr lang="en-US" sz="1500" dirty="0"/>
          </a:p>
        </p:txBody>
      </p:sp>
      <p:sp>
        <p:nvSpPr>
          <p:cNvPr id="13" name="Text 10"/>
          <p:cNvSpPr/>
          <p:nvPr/>
        </p:nvSpPr>
        <p:spPr>
          <a:xfrm>
            <a:off x="8667750" y="5078413"/>
            <a:ext cx="257695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Bukan delay() biasa: task tidur dan CPU dipakai task lain.</a:t>
            </a:r>
            <a:endParaRPr lang="en-US" sz="1200"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03 · FREERTOS</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Berbagi data dengan aman</a:t>
            </a:r>
            <a:endParaRPr lang="en-US" sz="3200" dirty="0"/>
          </a:p>
        </p:txBody>
      </p:sp>
      <p:sp>
        <p:nvSpPr>
          <p:cNvPr id="4" name="Shape 2"/>
          <p:cNvSpPr/>
          <p:nvPr/>
        </p:nvSpPr>
        <p:spPr>
          <a:xfrm>
            <a:off x="815975" y="1725216"/>
            <a:ext cx="3397250" cy="2388691"/>
          </a:xfrm>
          <a:prstGeom prst="roundRect">
            <a:avLst>
              <a:gd name="adj" fmla="val 5184"/>
            </a:avLst>
          </a:prstGeom>
          <a:solidFill>
            <a:srgbClr val="FFFFFF"/>
          </a:solidFill>
          <a:ln w="6350">
            <a:solidFill>
              <a:srgbClr val="DDE3E0"/>
            </a:solidFill>
            <a:prstDash val="solid"/>
          </a:ln>
        </p:spPr>
      </p:sp>
      <p:pic>
        <p:nvPicPr>
          <p:cNvPr id="5" name="Image 0" descr="Lock">    </p:cNvPr>
          <p:cNvPicPr>
            <a:picLocks noChangeAspect="1"/>
          </p:cNvPicPr>
          <p:nvPr/>
        </p:nvPicPr>
        <p:blipFill>
          <a:blip r:embed="rId1"/>
          <a:srcRect l="0" r="0" t="0" b="0"/>
          <a:stretch/>
        </p:blipFill>
        <p:spPr>
          <a:xfrm>
            <a:off x="1022350" y="1931591"/>
            <a:ext cx="355600" cy="355600"/>
          </a:xfrm>
          <a:prstGeom prst="rect">
            <a:avLst/>
          </a:prstGeom>
        </p:spPr>
      </p:pic>
      <p:sp>
        <p:nvSpPr>
          <p:cNvPr id="6" name="Text 3"/>
          <p:cNvSpPr/>
          <p:nvPr/>
        </p:nvSpPr>
        <p:spPr>
          <a:xfrm>
            <a:off x="1022350" y="238879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A33"/>
                </a:solidFill>
                <a:latin typeface="IBM Plex Sans" pitchFamily="34" charset="0"/>
                <a:ea typeface="IBM Plex Sans" pitchFamily="34" charset="-122"/>
                <a:cs typeface="IBM Plex Sans" pitchFamily="34" charset="-120"/>
              </a:rPr>
              <a:t>Mutex · Lock</a:t>
            </a:r>
            <a:endParaRPr lang="en-US" sz="1700" dirty="0"/>
          </a:p>
        </p:txBody>
      </p:sp>
      <p:sp>
        <p:nvSpPr>
          <p:cNvPr id="7" name="Text 4"/>
          <p:cNvSpPr/>
          <p:nvPr/>
        </p:nvSpPr>
        <p:spPr>
          <a:xfrm>
            <a:off x="1022350" y="2749451"/>
            <a:ext cx="307403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Satu kunci untuk g_cfg, g_sensor, g_fan, g_env, g_out. Data disalin cepat, lalu kunci dilepas.</a:t>
            </a:r>
            <a:endParaRPr lang="en-US" sz="1200" dirty="0"/>
          </a:p>
        </p:txBody>
      </p:sp>
      <p:sp>
        <p:nvSpPr>
          <p:cNvPr id="8" name="Text 5"/>
          <p:cNvSpPr/>
          <p:nvPr/>
        </p:nvSpPr>
        <p:spPr>
          <a:xfrm>
            <a:off x="1022350" y="3491012"/>
            <a:ext cx="2984500" cy="416520"/>
          </a:xfrm>
          <a:prstGeom prst="roundRect">
            <a:avLst>
              <a:gd name="adj" fmla="val 15245"/>
            </a:avLst>
          </a:prstGeom>
          <a:solidFill>
            <a:srgbClr val="0F1B24"/>
          </a:solidFill>
          <a:ln/>
        </p:spPr>
        <p:txBody>
          <a:bodyPr wrap="square" lIns="83001" tIns="83001" rIns="0" bIns="57601" rtlCol="0" anchor="t">
            <a:normAutofit/>
          </a:bodyPr>
          <a:lstStyle/>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 Lock l; s = g_cfg; }</a:t>
            </a:r>
            <a:endParaRPr lang="en-US" sz="1200" dirty="0"/>
          </a:p>
        </p:txBody>
      </p:sp>
      <p:sp>
        <p:nvSpPr>
          <p:cNvPr id="9" name="Shape 6"/>
          <p:cNvSpPr/>
          <p:nvPr/>
        </p:nvSpPr>
        <p:spPr>
          <a:xfrm>
            <a:off x="4397375" y="1725216"/>
            <a:ext cx="3397250" cy="2388691"/>
          </a:xfrm>
          <a:prstGeom prst="roundRect">
            <a:avLst>
              <a:gd name="adj" fmla="val 5184"/>
            </a:avLst>
          </a:prstGeom>
          <a:solidFill>
            <a:srgbClr val="FFFFFF"/>
          </a:solidFill>
          <a:ln w="6350">
            <a:solidFill>
              <a:srgbClr val="DDE3E0"/>
            </a:solidFill>
            <a:prstDash val="solid"/>
          </a:ln>
        </p:spPr>
      </p:sp>
      <p:pic>
        <p:nvPicPr>
          <p:cNvPr id="10" name="Image 1" descr="Link">    </p:cNvPr>
          <p:cNvPicPr>
            <a:picLocks noChangeAspect="1"/>
          </p:cNvPicPr>
          <p:nvPr/>
        </p:nvPicPr>
        <p:blipFill>
          <a:blip r:embed="rId2"/>
          <a:srcRect l="0" r="0" t="0" b="0"/>
          <a:stretch/>
        </p:blipFill>
        <p:spPr>
          <a:xfrm>
            <a:off x="4603750" y="1931591"/>
            <a:ext cx="355600" cy="355600"/>
          </a:xfrm>
          <a:prstGeom prst="rect">
            <a:avLst/>
          </a:prstGeom>
        </p:spPr>
      </p:pic>
      <p:sp>
        <p:nvSpPr>
          <p:cNvPr id="11" name="Text 7"/>
          <p:cNvSpPr/>
          <p:nvPr/>
        </p:nvSpPr>
        <p:spPr>
          <a:xfrm>
            <a:off x="4603750" y="238879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A33"/>
                </a:solidFill>
                <a:latin typeface="IBM Plex Sans" pitchFamily="34" charset="0"/>
                <a:ea typeface="IBM Plex Sans" pitchFamily="34" charset="-122"/>
                <a:cs typeface="IBM Plex Sans" pitchFamily="34" charset="-120"/>
              </a:rPr>
              <a:t>I2CLock</a:t>
            </a:r>
            <a:endParaRPr lang="en-US" sz="1700" dirty="0"/>
          </a:p>
        </p:txBody>
      </p:sp>
      <p:sp>
        <p:nvSpPr>
          <p:cNvPr id="12" name="Text 8"/>
          <p:cNvSpPr/>
          <p:nvPr/>
        </p:nvSpPr>
        <p:spPr>
          <a:xfrm>
            <a:off x="4603750" y="2749451"/>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Kunci khusus bus I2C, agar OLED, ENS160, AHT21 dan SCD40 tidak bicara bersamaan.</a:t>
            </a:r>
            <a:endParaRPr lang="en-US" sz="1200" dirty="0"/>
          </a:p>
        </p:txBody>
      </p:sp>
      <p:sp>
        <p:nvSpPr>
          <p:cNvPr id="13" name="Text 9"/>
          <p:cNvSpPr/>
          <p:nvPr/>
        </p:nvSpPr>
        <p:spPr>
          <a:xfrm>
            <a:off x="4603750" y="3277691"/>
            <a:ext cx="2984500" cy="629841"/>
          </a:xfrm>
          <a:prstGeom prst="roundRect">
            <a:avLst>
              <a:gd name="adj" fmla="val 10082"/>
            </a:avLst>
          </a:prstGeom>
          <a:solidFill>
            <a:srgbClr val="0F1B24"/>
          </a:solidFill>
          <a:ln/>
        </p:spPr>
        <p:txBody>
          <a:bodyPr wrap="square" lIns="83001" tIns="83001" rIns="0" bIns="57601" rtlCol="0" anchor="t">
            <a:normAutofit/>
          </a:bodyPr>
          <a:lstStyle/>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 I2CLock l;</a:t>
            </a:r>
            <a:endParaRPr lang="en-US" sz="1200" dirty="0"/>
          </a:p>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oled.display(); }</a:t>
            </a:r>
            <a:endParaRPr lang="en-US" sz="1200" dirty="0"/>
          </a:p>
        </p:txBody>
      </p:sp>
      <p:sp>
        <p:nvSpPr>
          <p:cNvPr id="14" name="Shape 10"/>
          <p:cNvSpPr/>
          <p:nvPr/>
        </p:nvSpPr>
        <p:spPr>
          <a:xfrm>
            <a:off x="7978775" y="1725216"/>
            <a:ext cx="3397250" cy="2388691"/>
          </a:xfrm>
          <a:prstGeom prst="roundRect">
            <a:avLst>
              <a:gd name="adj" fmla="val 5184"/>
            </a:avLst>
          </a:prstGeom>
          <a:solidFill>
            <a:srgbClr val="FFFFFF"/>
          </a:solidFill>
          <a:ln w="6350">
            <a:solidFill>
              <a:srgbClr val="DDE3E0"/>
            </a:solidFill>
            <a:prstDash val="solid"/>
          </a:ln>
        </p:spPr>
      </p:sp>
      <p:pic>
        <p:nvPicPr>
          <p:cNvPr id="15" name="Image 2" descr="PaperPlane">    </p:cNvPr>
          <p:cNvPicPr>
            <a:picLocks noChangeAspect="1"/>
          </p:cNvPicPr>
          <p:nvPr/>
        </p:nvPicPr>
        <p:blipFill>
          <a:blip r:embed="rId3"/>
          <a:srcRect l="0" r="0" t="0" b="0"/>
          <a:stretch/>
        </p:blipFill>
        <p:spPr>
          <a:xfrm>
            <a:off x="8185150" y="1931591"/>
            <a:ext cx="355600" cy="355600"/>
          </a:xfrm>
          <a:prstGeom prst="rect">
            <a:avLst/>
          </a:prstGeom>
        </p:spPr>
      </p:pic>
      <p:sp>
        <p:nvSpPr>
          <p:cNvPr id="16" name="Text 11"/>
          <p:cNvSpPr/>
          <p:nvPr/>
        </p:nvSpPr>
        <p:spPr>
          <a:xfrm>
            <a:off x="8185150" y="238879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A33"/>
                </a:solidFill>
                <a:latin typeface="IBM Plex Sans" pitchFamily="34" charset="0"/>
                <a:ea typeface="IBM Plex Sans" pitchFamily="34" charset="-122"/>
                <a:cs typeface="IBM Plex Sans" pitchFamily="34" charset="-120"/>
              </a:rPr>
              <a:t>Queue</a:t>
            </a:r>
            <a:endParaRPr lang="en-US" sz="1700" dirty="0"/>
          </a:p>
        </p:txBody>
      </p:sp>
      <p:sp>
        <p:nvSpPr>
          <p:cNvPr id="17" name="Text 12"/>
          <p:cNvSpPr/>
          <p:nvPr/>
        </p:nvSpPr>
        <p:spPr>
          <a:xfrm>
            <a:off x="8185150" y="2749451"/>
            <a:ext cx="30740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Console mengirim perintah (sleep, wake, query) ke task sensor lewat antrian g_sdsQ.</a:t>
            </a:r>
            <a:endParaRPr lang="en-US" sz="1200" dirty="0"/>
          </a:p>
        </p:txBody>
      </p:sp>
      <p:sp>
        <p:nvSpPr>
          <p:cNvPr id="18" name="Text 13"/>
          <p:cNvSpPr/>
          <p:nvPr/>
        </p:nvSpPr>
        <p:spPr>
          <a:xfrm>
            <a:off x="8185150" y="3277691"/>
            <a:ext cx="2984500" cy="416520"/>
          </a:xfrm>
          <a:prstGeom prst="roundRect">
            <a:avLst>
              <a:gd name="adj" fmla="val 15245"/>
            </a:avLst>
          </a:prstGeom>
          <a:solidFill>
            <a:srgbClr val="0F1B24"/>
          </a:solidFill>
          <a:ln/>
        </p:spPr>
        <p:txBody>
          <a:bodyPr wrap="square" lIns="83001" tIns="83001" rIns="0" bIns="57601" rtlCol="0" anchor="t">
            <a:normAutofit/>
          </a:bodyPr>
          <a:lstStyle/>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xQueueSend(g_sdsQ, …)</a:t>
            </a:r>
            <a:endParaRPr lang="en-US" sz="1200" dirty="0"/>
          </a:p>
        </p:txBody>
      </p:sp>
      <p:sp>
        <p:nvSpPr>
          <p:cNvPr id="19" name="Text 14"/>
          <p:cNvSpPr/>
          <p:nvPr/>
        </p:nvSpPr>
        <p:spPr>
          <a:xfrm>
            <a:off x="812800" y="4371082"/>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Setting disimpan ke </a:t>
            </a:r>
            <a:r>
              <a:rPr lang="en-US" sz="1300" b="1" dirty="0">
                <a:solidFill>
                  <a:srgbClr val="4A5568"/>
                </a:solidFill>
                <a:latin typeface="IBM Plex Sans" pitchFamily="34" charset="0"/>
                <a:ea typeface="IBM Plex Sans" pitchFamily="34" charset="-122"/>
                <a:cs typeface="IBM Plex Sans" pitchFamily="34" charset="-120"/>
              </a:rPr>
              <a:t>NVS</a:t>
            </a:r>
            <a:r>
              <a:rPr lang="en-US" sz="1300" dirty="0">
                <a:solidFill>
                  <a:srgbClr val="4A5568"/>
                </a:solidFill>
                <a:latin typeface="IBM Plex Sans" pitchFamily="34" charset="0"/>
                <a:ea typeface="IBM Plex Sans" pitchFamily="34" charset="-122"/>
                <a:cs typeface="IBM Plex Sans" pitchFamily="34" charset="-120"/>
              </a:rPr>
              <a:t> (flash) 3 s setelah perubahan terakhir dari app/web, sehingga flash tidak cepat aus.</a:t>
            </a:r>
            <a:endParaRPr lang="en-US" sz="1300" dirty="0"/>
          </a:p>
        </p:txBody>
      </p:sp>
      <p:sp>
        <p:nvSpPr>
          <p:cNvPr id="20"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03 · LOGIKA KIPAS</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Dari angka PM2.5 ke sinyal PWM</a:t>
            </a:r>
            <a:endParaRPr lang="en-US" sz="3200" dirty="0"/>
          </a:p>
        </p:txBody>
      </p:sp>
      <p:sp>
        <p:nvSpPr>
          <p:cNvPr id="4" name="Shape 2"/>
          <p:cNvSpPr/>
          <p:nvPr/>
        </p:nvSpPr>
        <p:spPr>
          <a:xfrm>
            <a:off x="815975" y="1725216"/>
            <a:ext cx="1903710" cy="943471"/>
          </a:xfrm>
          <a:prstGeom prst="roundRect">
            <a:avLst>
              <a:gd name="adj" fmla="val 10432"/>
            </a:avLst>
          </a:prstGeom>
          <a:solidFill>
            <a:srgbClr val="FFFFFF"/>
          </a:solidFill>
          <a:ln w="6350">
            <a:solidFill>
              <a:srgbClr val="DDE3E0"/>
            </a:solidFill>
            <a:prstDash val="solid"/>
          </a:ln>
        </p:spPr>
      </p:sp>
      <p:sp>
        <p:nvSpPr>
          <p:cNvPr id="5" name="Text 3"/>
          <p:cNvSpPr/>
          <p:nvPr/>
        </p:nvSpPr>
        <p:spPr>
          <a:xfrm>
            <a:off x="958850" y="18680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7A5A"/>
                </a:solidFill>
                <a:latin typeface="IBM Plex Sans" pitchFamily="34" charset="0"/>
                <a:ea typeface="IBM Plex Sans" pitchFamily="34" charset="-122"/>
                <a:cs typeface="IBM Plex Sans" pitchFamily="34" charset="-120"/>
              </a:rPr>
              <a:t>1</a:t>
            </a:r>
            <a:endParaRPr lang="en-US" sz="1200" dirty="0"/>
          </a:p>
        </p:txBody>
      </p:sp>
      <p:sp>
        <p:nvSpPr>
          <p:cNvPr id="6" name="Text 4"/>
          <p:cNvSpPr/>
          <p:nvPr/>
        </p:nvSpPr>
        <p:spPr>
          <a:xfrm>
            <a:off x="958850" y="2081411"/>
            <a:ext cx="166876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Rata-rata PM2.5</a:t>
            </a:r>
            <a:endParaRPr lang="en-US" sz="1300" dirty="0"/>
          </a:p>
        </p:txBody>
      </p:sp>
      <p:sp>
        <p:nvSpPr>
          <p:cNvPr id="7" name="Text 5"/>
          <p:cNvSpPr/>
          <p:nvPr/>
        </p:nvSpPr>
        <p:spPr>
          <a:xfrm>
            <a:off x="958850" y="23124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5 sampel</a:t>
            </a:r>
            <a:endParaRPr lang="en-US" sz="1200" dirty="0"/>
          </a:p>
        </p:txBody>
      </p:sp>
      <p:pic>
        <p:nvPicPr>
          <p:cNvPr id="8" name="Image 0" descr="connector">    </p:cNvPr>
          <p:cNvPicPr>
            <a:picLocks noChangeAspect="1"/>
          </p:cNvPicPr>
          <p:nvPr/>
        </p:nvPicPr>
        <p:blipFill>
          <a:blip r:embed="rId1"/>
          <a:srcRect l="0" r="0" t="0" b="0"/>
          <a:stretch/>
        </p:blipFill>
        <p:spPr>
          <a:xfrm>
            <a:off x="2722860" y="2146102"/>
            <a:ext cx="254000" cy="101600"/>
          </a:xfrm>
          <a:prstGeom prst="rect">
            <a:avLst/>
          </a:prstGeom>
        </p:spPr>
      </p:pic>
      <p:sp>
        <p:nvSpPr>
          <p:cNvPr id="9" name="Shape 6"/>
          <p:cNvSpPr/>
          <p:nvPr/>
        </p:nvSpPr>
        <p:spPr>
          <a:xfrm>
            <a:off x="2980035" y="1725216"/>
            <a:ext cx="1903809" cy="943471"/>
          </a:xfrm>
          <a:prstGeom prst="roundRect">
            <a:avLst>
              <a:gd name="adj" fmla="val 10432"/>
            </a:avLst>
          </a:prstGeom>
          <a:solidFill>
            <a:srgbClr val="FFFFFF"/>
          </a:solidFill>
          <a:ln w="6350">
            <a:solidFill>
              <a:srgbClr val="DDE3E0"/>
            </a:solidFill>
            <a:prstDash val="solid"/>
          </a:ln>
        </p:spPr>
      </p:sp>
      <p:sp>
        <p:nvSpPr>
          <p:cNvPr id="10" name="Text 7"/>
          <p:cNvSpPr/>
          <p:nvPr/>
        </p:nvSpPr>
        <p:spPr>
          <a:xfrm>
            <a:off x="3122910" y="1868091"/>
            <a:ext cx="16688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7A5A"/>
                </a:solidFill>
                <a:latin typeface="IBM Plex Sans" pitchFamily="34" charset="0"/>
                <a:ea typeface="IBM Plex Sans" pitchFamily="34" charset="-122"/>
                <a:cs typeface="IBM Plex Sans" pitchFamily="34" charset="-120"/>
              </a:rPr>
              <a:t>2</a:t>
            </a:r>
            <a:endParaRPr lang="en-US" sz="1200" dirty="0"/>
          </a:p>
        </p:txBody>
      </p:sp>
      <p:sp>
        <p:nvSpPr>
          <p:cNvPr id="11" name="Text 8"/>
          <p:cNvSpPr/>
          <p:nvPr/>
        </p:nvSpPr>
        <p:spPr>
          <a:xfrm>
            <a:off x="3122910" y="2081411"/>
            <a:ext cx="1668859"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Kategori</a:t>
            </a:r>
            <a:endParaRPr lang="en-US" sz="1300" dirty="0"/>
          </a:p>
        </p:txBody>
      </p:sp>
      <p:sp>
        <p:nvSpPr>
          <p:cNvPr id="12" name="Text 9"/>
          <p:cNvSpPr/>
          <p:nvPr/>
        </p:nvSpPr>
        <p:spPr>
          <a:xfrm>
            <a:off x="3122910" y="2312491"/>
            <a:ext cx="16688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 histeresis</a:t>
            </a:r>
            <a:endParaRPr lang="en-US" sz="1200" dirty="0"/>
          </a:p>
        </p:txBody>
      </p:sp>
      <p:pic>
        <p:nvPicPr>
          <p:cNvPr id="13" name="Image 1" descr="connector">    </p:cNvPr>
          <p:cNvPicPr>
            <a:picLocks noChangeAspect="1"/>
          </p:cNvPicPr>
          <p:nvPr/>
        </p:nvPicPr>
        <p:blipFill>
          <a:blip r:embed="rId2"/>
          <a:srcRect l="0" r="0" t="0" b="0"/>
          <a:stretch/>
        </p:blipFill>
        <p:spPr>
          <a:xfrm>
            <a:off x="4887020" y="2146102"/>
            <a:ext cx="254000" cy="101600"/>
          </a:xfrm>
          <a:prstGeom prst="rect">
            <a:avLst/>
          </a:prstGeom>
        </p:spPr>
      </p:pic>
      <p:sp>
        <p:nvSpPr>
          <p:cNvPr id="14" name="Shape 10"/>
          <p:cNvSpPr/>
          <p:nvPr/>
        </p:nvSpPr>
        <p:spPr>
          <a:xfrm>
            <a:off x="5144195" y="1725216"/>
            <a:ext cx="1903710" cy="943471"/>
          </a:xfrm>
          <a:prstGeom prst="roundRect">
            <a:avLst>
              <a:gd name="adj" fmla="val 10432"/>
            </a:avLst>
          </a:prstGeom>
          <a:solidFill>
            <a:srgbClr val="FFFFFF"/>
          </a:solidFill>
          <a:ln w="6350">
            <a:solidFill>
              <a:srgbClr val="DDE3E0"/>
            </a:solidFill>
            <a:prstDash val="solid"/>
          </a:ln>
        </p:spPr>
      </p:sp>
      <p:sp>
        <p:nvSpPr>
          <p:cNvPr id="15" name="Text 11"/>
          <p:cNvSpPr/>
          <p:nvPr/>
        </p:nvSpPr>
        <p:spPr>
          <a:xfrm>
            <a:off x="5287070" y="18680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7A5A"/>
                </a:solidFill>
                <a:latin typeface="IBM Plex Sans" pitchFamily="34" charset="0"/>
                <a:ea typeface="IBM Plex Sans" pitchFamily="34" charset="-122"/>
                <a:cs typeface="IBM Plex Sans" pitchFamily="34" charset="-120"/>
              </a:rPr>
              <a:t>3</a:t>
            </a:r>
            <a:endParaRPr lang="en-US" sz="1200" dirty="0"/>
          </a:p>
        </p:txBody>
      </p:sp>
      <p:sp>
        <p:nvSpPr>
          <p:cNvPr id="16" name="Text 12"/>
          <p:cNvSpPr/>
          <p:nvPr/>
        </p:nvSpPr>
        <p:spPr>
          <a:xfrm>
            <a:off x="5287070" y="2081411"/>
            <a:ext cx="166876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Target duty</a:t>
            </a:r>
            <a:endParaRPr lang="en-US" sz="1300" dirty="0"/>
          </a:p>
        </p:txBody>
      </p:sp>
      <p:sp>
        <p:nvSpPr>
          <p:cNvPr id="17" name="Text 13"/>
          <p:cNvSpPr/>
          <p:nvPr/>
        </p:nvSpPr>
        <p:spPr>
          <a:xfrm>
            <a:off x="5287070" y="23124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sesuai mode</a:t>
            </a:r>
            <a:endParaRPr lang="en-US" sz="1200" dirty="0"/>
          </a:p>
        </p:txBody>
      </p:sp>
      <p:pic>
        <p:nvPicPr>
          <p:cNvPr id="18" name="Image 2" descr="connector">    </p:cNvPr>
          <p:cNvPicPr>
            <a:picLocks noChangeAspect="1"/>
          </p:cNvPicPr>
          <p:nvPr/>
        </p:nvPicPr>
        <p:blipFill>
          <a:blip r:embed="rId3"/>
          <a:srcRect l="0" r="0" t="0" b="0"/>
          <a:stretch/>
        </p:blipFill>
        <p:spPr>
          <a:xfrm>
            <a:off x="7051080" y="2146102"/>
            <a:ext cx="254000" cy="101600"/>
          </a:xfrm>
          <a:prstGeom prst="rect">
            <a:avLst/>
          </a:prstGeom>
        </p:spPr>
      </p:pic>
      <p:sp>
        <p:nvSpPr>
          <p:cNvPr id="19" name="Shape 14"/>
          <p:cNvSpPr/>
          <p:nvPr/>
        </p:nvSpPr>
        <p:spPr>
          <a:xfrm>
            <a:off x="7308255" y="1725216"/>
            <a:ext cx="1903710" cy="943471"/>
          </a:xfrm>
          <a:prstGeom prst="roundRect">
            <a:avLst>
              <a:gd name="adj" fmla="val 10432"/>
            </a:avLst>
          </a:prstGeom>
          <a:solidFill>
            <a:srgbClr val="FFFFFF"/>
          </a:solidFill>
          <a:ln w="6350">
            <a:solidFill>
              <a:srgbClr val="DDE3E0"/>
            </a:solidFill>
            <a:prstDash val="solid"/>
          </a:ln>
        </p:spPr>
      </p:sp>
      <p:sp>
        <p:nvSpPr>
          <p:cNvPr id="20" name="Text 15"/>
          <p:cNvSpPr/>
          <p:nvPr/>
        </p:nvSpPr>
        <p:spPr>
          <a:xfrm>
            <a:off x="7451130" y="18680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7A5A"/>
                </a:solidFill>
                <a:latin typeface="IBM Plex Sans" pitchFamily="34" charset="0"/>
                <a:ea typeface="IBM Plex Sans" pitchFamily="34" charset="-122"/>
                <a:cs typeface="IBM Plex Sans" pitchFamily="34" charset="-120"/>
              </a:rPr>
              <a:t>4</a:t>
            </a:r>
            <a:endParaRPr lang="en-US" sz="1200" dirty="0"/>
          </a:p>
        </p:txBody>
      </p:sp>
      <p:sp>
        <p:nvSpPr>
          <p:cNvPr id="21" name="Text 16"/>
          <p:cNvSpPr/>
          <p:nvPr/>
        </p:nvSpPr>
        <p:spPr>
          <a:xfrm>
            <a:off x="7451130" y="2081411"/>
            <a:ext cx="166876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Slew</a:t>
            </a:r>
            <a:endParaRPr lang="en-US" sz="1300" dirty="0"/>
          </a:p>
        </p:txBody>
      </p:sp>
      <p:sp>
        <p:nvSpPr>
          <p:cNvPr id="22" name="Text 17"/>
          <p:cNvSpPr/>
          <p:nvPr/>
        </p:nvSpPr>
        <p:spPr>
          <a:xfrm>
            <a:off x="7451130" y="23124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maks 25%/s</a:t>
            </a:r>
            <a:endParaRPr lang="en-US" sz="1200" dirty="0"/>
          </a:p>
        </p:txBody>
      </p:sp>
      <p:pic>
        <p:nvPicPr>
          <p:cNvPr id="23" name="Image 3" descr="connector">    </p:cNvPr>
          <p:cNvPicPr>
            <a:picLocks noChangeAspect="1"/>
          </p:cNvPicPr>
          <p:nvPr/>
        </p:nvPicPr>
        <p:blipFill>
          <a:blip r:embed="rId4"/>
          <a:srcRect l="0" r="0" t="0" b="0"/>
          <a:stretch/>
        </p:blipFill>
        <p:spPr>
          <a:xfrm>
            <a:off x="9215140" y="2146102"/>
            <a:ext cx="254000" cy="101600"/>
          </a:xfrm>
          <a:prstGeom prst="rect">
            <a:avLst/>
          </a:prstGeom>
        </p:spPr>
      </p:pic>
      <p:sp>
        <p:nvSpPr>
          <p:cNvPr id="24" name="Shape 18"/>
          <p:cNvSpPr/>
          <p:nvPr/>
        </p:nvSpPr>
        <p:spPr>
          <a:xfrm>
            <a:off x="9472315" y="1725216"/>
            <a:ext cx="1903710" cy="943471"/>
          </a:xfrm>
          <a:prstGeom prst="roundRect">
            <a:avLst>
              <a:gd name="adj" fmla="val 10432"/>
            </a:avLst>
          </a:prstGeom>
          <a:solidFill>
            <a:srgbClr val="FFFFFF"/>
          </a:solidFill>
          <a:ln w="6350">
            <a:solidFill>
              <a:srgbClr val="DDE3E0"/>
            </a:solidFill>
            <a:prstDash val="solid"/>
          </a:ln>
        </p:spPr>
      </p:sp>
      <p:sp>
        <p:nvSpPr>
          <p:cNvPr id="25" name="Text 19"/>
          <p:cNvSpPr/>
          <p:nvPr/>
        </p:nvSpPr>
        <p:spPr>
          <a:xfrm>
            <a:off x="9615190" y="18680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7A5A"/>
                </a:solidFill>
                <a:latin typeface="IBM Plex Sans" pitchFamily="34" charset="0"/>
                <a:ea typeface="IBM Plex Sans" pitchFamily="34" charset="-122"/>
                <a:cs typeface="IBM Plex Sans" pitchFamily="34" charset="-120"/>
              </a:rPr>
              <a:t>5</a:t>
            </a:r>
            <a:endParaRPr lang="en-US" sz="1200" dirty="0"/>
          </a:p>
        </p:txBody>
      </p:sp>
      <p:sp>
        <p:nvSpPr>
          <p:cNvPr id="26" name="Text 20"/>
          <p:cNvSpPr/>
          <p:nvPr/>
        </p:nvSpPr>
        <p:spPr>
          <a:xfrm>
            <a:off x="9615190" y="2081411"/>
            <a:ext cx="166876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33"/>
                </a:solidFill>
                <a:latin typeface="IBM Plex Sans" pitchFamily="34" charset="0"/>
                <a:ea typeface="IBM Plex Sans" pitchFamily="34" charset="-122"/>
                <a:cs typeface="IBM Plex Sans" pitchFamily="34" charset="-120"/>
              </a:rPr>
              <a:t>Relay + kick</a:t>
            </a:r>
            <a:endParaRPr lang="en-US" sz="1300" dirty="0"/>
          </a:p>
        </p:txBody>
      </p:sp>
      <p:sp>
        <p:nvSpPr>
          <p:cNvPr id="27" name="Text 21"/>
          <p:cNvSpPr/>
          <p:nvPr/>
        </p:nvSpPr>
        <p:spPr>
          <a:xfrm>
            <a:off x="9615190" y="2312491"/>
            <a:ext cx="16687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lalu PWM</a:t>
            </a:r>
            <a:endParaRPr lang="en-US" sz="1200" dirty="0"/>
          </a:p>
        </p:txBody>
      </p:sp>
      <p:sp>
        <p:nvSpPr>
          <p:cNvPr id="28" name="Shape 22"/>
          <p:cNvSpPr/>
          <p:nvPr/>
        </p:nvSpPr>
        <p:spPr>
          <a:xfrm>
            <a:off x="812800" y="2925862"/>
            <a:ext cx="3403600" cy="1142901"/>
          </a:xfrm>
          <a:prstGeom prst="roundRect">
            <a:avLst>
              <a:gd name="adj" fmla="val 11112"/>
            </a:avLst>
          </a:prstGeom>
          <a:solidFill>
            <a:srgbClr val="0F1B24"/>
          </a:solidFill>
          <a:ln/>
        </p:spPr>
      </p:sp>
      <p:sp>
        <p:nvSpPr>
          <p:cNvPr id="29" name="Text 23"/>
          <p:cNvSpPr/>
          <p:nvPr/>
        </p:nvSpPr>
        <p:spPr>
          <a:xfrm>
            <a:off x="1003300" y="3116362"/>
            <a:ext cx="311327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3DD6A3"/>
                </a:solidFill>
                <a:latin typeface="IBM Plex Sans" pitchFamily="34" charset="0"/>
                <a:ea typeface="IBM Plex Sans" pitchFamily="34" charset="-122"/>
                <a:cs typeface="IBM Plex Sans" pitchFamily="34" charset="-120"/>
              </a:rPr>
              <a:t>Otomatis</a:t>
            </a:r>
            <a:endParaRPr lang="en-US" sz="1700" dirty="0"/>
          </a:p>
        </p:txBody>
      </p:sp>
      <p:sp>
        <p:nvSpPr>
          <p:cNvPr id="30" name="Text 24"/>
          <p:cNvSpPr/>
          <p:nvPr/>
        </p:nvSpPr>
        <p:spPr>
          <a:xfrm>
            <a:off x="1003300" y="3451622"/>
            <a:ext cx="311327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Duty mengikuti kategori. Sensor PM mati → duty aman 50%.</a:t>
            </a:r>
            <a:endParaRPr lang="en-US" sz="1200" dirty="0"/>
          </a:p>
        </p:txBody>
      </p:sp>
      <p:sp>
        <p:nvSpPr>
          <p:cNvPr id="31" name="Shape 25"/>
          <p:cNvSpPr/>
          <p:nvPr/>
        </p:nvSpPr>
        <p:spPr>
          <a:xfrm>
            <a:off x="4394200" y="2925862"/>
            <a:ext cx="3403600" cy="1142901"/>
          </a:xfrm>
          <a:prstGeom prst="roundRect">
            <a:avLst>
              <a:gd name="adj" fmla="val 11112"/>
            </a:avLst>
          </a:prstGeom>
          <a:solidFill>
            <a:srgbClr val="0F1B24"/>
          </a:solidFill>
          <a:ln/>
        </p:spPr>
      </p:sp>
      <p:sp>
        <p:nvSpPr>
          <p:cNvPr id="32" name="Text 26"/>
          <p:cNvSpPr/>
          <p:nvPr/>
        </p:nvSpPr>
        <p:spPr>
          <a:xfrm>
            <a:off x="4584700" y="3116362"/>
            <a:ext cx="311327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3DD6A3"/>
                </a:solidFill>
                <a:latin typeface="IBM Plex Sans" pitchFamily="34" charset="0"/>
                <a:ea typeface="IBM Plex Sans" pitchFamily="34" charset="-122"/>
                <a:cs typeface="IBM Plex Sans" pitchFamily="34" charset="-120"/>
              </a:rPr>
              <a:t>Manual</a:t>
            </a:r>
            <a:endParaRPr lang="en-US" sz="1700" dirty="0"/>
          </a:p>
        </p:txBody>
      </p:sp>
      <p:sp>
        <p:nvSpPr>
          <p:cNvPr id="33" name="Text 27"/>
          <p:cNvSpPr/>
          <p:nvPr/>
        </p:nvSpPr>
        <p:spPr>
          <a:xfrm>
            <a:off x="4584700" y="3451622"/>
            <a:ext cx="311327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Duty tetap dari app (+/−), slider web, atau console “fixed”.</a:t>
            </a:r>
            <a:endParaRPr lang="en-US" sz="1200" dirty="0"/>
          </a:p>
        </p:txBody>
      </p:sp>
      <p:sp>
        <p:nvSpPr>
          <p:cNvPr id="34" name="Shape 28"/>
          <p:cNvSpPr/>
          <p:nvPr/>
        </p:nvSpPr>
        <p:spPr>
          <a:xfrm>
            <a:off x="7975600" y="2925862"/>
            <a:ext cx="3403600" cy="1142901"/>
          </a:xfrm>
          <a:prstGeom prst="roundRect">
            <a:avLst>
              <a:gd name="adj" fmla="val 11112"/>
            </a:avLst>
          </a:prstGeom>
          <a:solidFill>
            <a:srgbClr val="0F1B24"/>
          </a:solidFill>
          <a:ln/>
        </p:spPr>
      </p:sp>
      <p:sp>
        <p:nvSpPr>
          <p:cNvPr id="35" name="Text 29"/>
          <p:cNvSpPr/>
          <p:nvPr/>
        </p:nvSpPr>
        <p:spPr>
          <a:xfrm>
            <a:off x="8166100" y="3116362"/>
            <a:ext cx="311327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3DD6A3"/>
                </a:solidFill>
                <a:latin typeface="IBM Plex Sans" pitchFamily="34" charset="0"/>
                <a:ea typeface="IBM Plex Sans" pitchFamily="34" charset="-122"/>
                <a:cs typeface="IBM Plex Sans" pitchFamily="34" charset="-120"/>
              </a:rPr>
              <a:t>Potensio</a:t>
            </a:r>
            <a:endParaRPr lang="en-US" sz="1700" dirty="0"/>
          </a:p>
        </p:txBody>
      </p:sp>
      <p:sp>
        <p:nvSpPr>
          <p:cNvPr id="36" name="Text 30"/>
          <p:cNvSpPr/>
          <p:nvPr/>
        </p:nvSpPr>
        <p:spPr>
          <a:xfrm>
            <a:off x="8166100" y="3451622"/>
            <a:ext cx="311327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Putar potensio di alat, 0–100% (di bawah 3% = mati).</a:t>
            </a:r>
            <a:endParaRPr lang="en-US" sz="1200" dirty="0"/>
          </a:p>
        </p:txBody>
      </p:sp>
      <p:sp>
        <p:nvSpPr>
          <p:cNvPr id="37" name="Text 31"/>
          <p:cNvSpPr/>
          <p:nvPr/>
        </p:nvSpPr>
        <p:spPr>
          <a:xfrm>
            <a:off x="812800" y="4322763"/>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Ganti mode: tombol BOOT di board (berputar Otomatis → Potensio → Manual), switch di app, atau tombol di web.</a:t>
            </a:r>
            <a:endParaRPr lang="en-US" sz="1300" dirty="0"/>
          </a:p>
        </p:txBody>
      </p:sp>
      <p:sp>
        <p:nvSpPr>
          <p:cNvPr id="38" name="Text 3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03 · INDIKATOR LOKAL</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Membaca OLED dan LED RGB</a:t>
            </a:r>
            <a:endParaRPr lang="en-US" sz="3200" dirty="0"/>
          </a:p>
        </p:txBody>
      </p:sp>
      <p:sp>
        <p:nvSpPr>
          <p:cNvPr id="4" name="Text 2"/>
          <p:cNvSpPr/>
          <p:nvPr/>
        </p:nvSpPr>
        <p:spPr>
          <a:xfrm>
            <a:off x="844550" y="1753791"/>
            <a:ext cx="5143500" cy="1752600"/>
          </a:xfrm>
          <a:prstGeom prst="roundRect">
            <a:avLst>
              <a:gd name="adj" fmla="val 3986"/>
            </a:avLst>
          </a:prstGeom>
          <a:solidFill>
            <a:srgbClr val="0A0F14"/>
          </a:solidFill>
          <a:ln w="63500">
            <a:solidFill>
              <a:srgbClr val="20262B"/>
            </a:solidFill>
            <a:prstDash val="solid"/>
          </a:ln>
        </p:spPr>
        <p:txBody>
          <a:bodyPr wrap="none" lIns="214492" tIns="189092" rIns="74284" bIns="163692" rtlCol="0" anchor="t">
            <a:normAutofit/>
          </a:bodyPr>
          <a:lstStyle/>
          <a:p>
            <a:pPr algn="l" indent="0" marL="0">
              <a:lnSpc>
                <a:spcPts val="2100"/>
              </a:lnSpc>
              <a:buNone/>
            </a:pPr>
            <a:r>
              <a:rPr lang="en-US" sz="1400" dirty="0">
                <a:solidFill>
                  <a:srgbClr val="7FD8F7"/>
                </a:solidFill>
                <a:latin typeface="JetBrains Mono" pitchFamily="49" charset="0"/>
                <a:ea typeface="JetBrains Mono" pitchFamily="49" charset="-122"/>
                <a:cs typeface="JetBrains Mono" pitchFamily="49" charset="-120"/>
              </a:rPr>
              <a:t>CAIR AUTO W B OK</a:t>
            </a:r>
            <a:endParaRPr lang="en-US" sz="1400" dirty="0"/>
          </a:p>
          <a:p>
            <a:pPr algn="l" indent="0" marL="0">
              <a:lnSpc>
                <a:spcPts val="2100"/>
              </a:lnSpc>
              <a:buNone/>
            </a:pPr>
            <a:r>
              <a:rPr lang="en-US" sz="1400" dirty="0">
                <a:solidFill>
                  <a:srgbClr val="7FD8F7"/>
                </a:solidFill>
                <a:latin typeface="JetBrains Mono" pitchFamily="49" charset="0"/>
                <a:ea typeface="JetBrains Mono" pitchFamily="49" charset="-122"/>
                <a:cs typeface="JetBrains Mono" pitchFamily="49" charset="-120"/>
              </a:rPr>
              <a:t>PM2.5 </a:t>
            </a:r>
            <a:r>
              <a:rPr lang="en-US" sz="1400" b="1" dirty="0">
                <a:solidFill>
                  <a:srgbClr val="7FD8F7"/>
                </a:solidFill>
                <a:latin typeface="JetBrains Mono" pitchFamily="49" charset="0"/>
                <a:ea typeface="JetBrains Mono" pitchFamily="49" charset="-122"/>
                <a:cs typeface="JetBrains Mono" pitchFamily="49" charset="-120"/>
              </a:rPr>
              <a:t>22.4</a:t>
            </a:r>
            <a:endParaRPr lang="en-US" sz="1400" dirty="0"/>
          </a:p>
          <a:p>
            <a:pPr algn="l" indent="0" marL="0">
              <a:lnSpc>
                <a:spcPts val="2100"/>
              </a:lnSpc>
              <a:buNone/>
            </a:pPr>
            <a:r>
              <a:rPr lang="en-US" sz="1400" dirty="0">
                <a:solidFill>
                  <a:srgbClr val="7FD8F7"/>
                </a:solidFill>
                <a:latin typeface="JetBrains Mono" pitchFamily="49" charset="0"/>
                <a:ea typeface="JetBrains Mono" pitchFamily="49" charset="-122"/>
                <a:cs typeface="JetBrains Mono" pitchFamily="49" charset="-120"/>
              </a:rPr>
              <a:t>PM10 34.1 CO2 1180</a:t>
            </a:r>
            <a:endParaRPr lang="en-US" sz="1400" dirty="0"/>
          </a:p>
          <a:p>
            <a:pPr algn="l" indent="0" marL="0">
              <a:lnSpc>
                <a:spcPts val="2100"/>
              </a:lnSpc>
              <a:buNone/>
            </a:pPr>
            <a:r>
              <a:rPr lang="en-US" sz="1400" dirty="0">
                <a:solidFill>
                  <a:srgbClr val="7FD8F7"/>
                </a:solidFill>
                <a:latin typeface="JetBrains Mono" pitchFamily="49" charset="0"/>
                <a:ea typeface="JetBrains Mono" pitchFamily="49" charset="-122"/>
                <a:cs typeface="JetBrains Mono" pitchFamily="49" charset="-120"/>
              </a:rPr>
              <a:t>BAHAYA 29.4C 72%</a:t>
            </a:r>
            <a:endParaRPr lang="en-US" sz="1400" dirty="0"/>
          </a:p>
          <a:p>
            <a:pPr algn="l" indent="0" marL="0">
              <a:lnSpc>
                <a:spcPts val="2100"/>
              </a:lnSpc>
              <a:buNone/>
            </a:pPr>
            <a:r>
              <a:rPr lang="en-US" sz="1400" dirty="0">
                <a:solidFill>
                  <a:srgbClr val="7FD8F7"/>
                </a:solidFill>
                <a:latin typeface="JetBrains Mono" pitchFamily="49" charset="0"/>
                <a:ea typeface="JetBrains Mono" pitchFamily="49" charset="-122"/>
                <a:cs typeface="JetBrains Mono" pitchFamily="49" charset="-120"/>
              </a:rPr>
              <a:t>FAN 75% 1460rpm ▮▮▮░</a:t>
            </a:r>
            <a:endParaRPr lang="en-US" sz="1400" dirty="0"/>
          </a:p>
        </p:txBody>
      </p:sp>
      <p:sp>
        <p:nvSpPr>
          <p:cNvPr id="5" name="Text 3"/>
          <p:cNvSpPr/>
          <p:nvPr/>
        </p:nvSpPr>
        <p:spPr>
          <a:xfrm>
            <a:off x="812800" y="3639741"/>
            <a:ext cx="536321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W</a:t>
            </a:r>
            <a:r>
              <a:rPr lang="en-US" sz="1200" dirty="0">
                <a:solidFill>
                  <a:srgbClr val="4A5568"/>
                </a:solidFill>
                <a:latin typeface="IBM Plex Sans" pitchFamily="34" charset="0"/>
                <a:ea typeface="IBM Plex Sans" pitchFamily="34" charset="-122"/>
                <a:cs typeface="IBM Plex Sans" pitchFamily="34" charset="-120"/>
              </a:rPr>
              <a:t> = WiFi router terhubung · </a:t>
            </a:r>
            <a:r>
              <a:rPr lang="en-US" sz="1200" b="1" dirty="0">
                <a:solidFill>
                  <a:srgbClr val="4A5568"/>
                </a:solidFill>
                <a:latin typeface="IBM Plex Sans" pitchFamily="34" charset="0"/>
                <a:ea typeface="IBM Plex Sans" pitchFamily="34" charset="-122"/>
                <a:cs typeface="IBM Plex Sans" pitchFamily="34" charset="-120"/>
              </a:rPr>
              <a:t>B</a:t>
            </a:r>
            <a:r>
              <a:rPr lang="en-US" sz="1200" dirty="0">
                <a:solidFill>
                  <a:srgbClr val="4A5568"/>
                </a:solidFill>
                <a:latin typeface="IBM Plex Sans" pitchFamily="34" charset="0"/>
                <a:ea typeface="IBM Plex Sans" pitchFamily="34" charset="-122"/>
                <a:cs typeface="IBM Plex Sans" pitchFamily="34" charset="-120"/>
              </a:rPr>
              <a:t> = app BLE terhubung · </a:t>
            </a:r>
            <a:r>
              <a:rPr lang="en-US" sz="1200" b="1" dirty="0">
                <a:solidFill>
                  <a:srgbClr val="4A5568"/>
                </a:solidFill>
                <a:latin typeface="IBM Plex Sans" pitchFamily="34" charset="0"/>
                <a:ea typeface="IBM Plex Sans" pitchFamily="34" charset="-122"/>
                <a:cs typeface="IBM Plex Sans" pitchFamily="34" charset="-120"/>
              </a:rPr>
              <a:t>OK</a:t>
            </a:r>
            <a:r>
              <a:rPr lang="en-US" sz="1200" dirty="0">
                <a:solidFill>
                  <a:srgbClr val="4A5568"/>
                </a:solidFill>
                <a:latin typeface="IBM Plex Sans" pitchFamily="34" charset="0"/>
                <a:ea typeface="IBM Plex Sans" pitchFamily="34" charset="-122"/>
                <a:cs typeface="IBM Plex Sans" pitchFamily="34" charset="-120"/>
              </a:rPr>
              <a:t> = data SDS011 segar (Q = query mode, -- = error)</a:t>
            </a:r>
            <a:endParaRPr lang="en-US" sz="1200" dirty="0"/>
          </a:p>
        </p:txBody>
      </p:sp>
      <p:sp>
        <p:nvSpPr>
          <p:cNvPr id="6" name="Text 4"/>
          <p:cNvSpPr/>
          <p:nvPr/>
        </p:nvSpPr>
        <p:spPr>
          <a:xfrm>
            <a:off x="6375400" y="1722041"/>
            <a:ext cx="51539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JetBrains Mono" pitchFamily="49" charset="0"/>
                <a:ea typeface="JetBrains Mono" pitchFamily="49" charset="-122"/>
                <a:cs typeface="JetBrains Mono" pitchFamily="49" charset="-120"/>
              </a:rPr>
              <a:t>LED RGB ONBOARD (GPIO48)</a:t>
            </a:r>
            <a:endParaRPr lang="en-US" sz="1200" dirty="0"/>
          </a:p>
        </p:txBody>
      </p:sp>
      <p:sp>
        <p:nvSpPr>
          <p:cNvPr id="7" name="Shape 5"/>
          <p:cNvSpPr/>
          <p:nvPr/>
        </p:nvSpPr>
        <p:spPr>
          <a:xfrm>
            <a:off x="6375400" y="2024261"/>
            <a:ext cx="254000" cy="254000"/>
          </a:xfrm>
          <a:prstGeom prst="roundRect">
            <a:avLst>
              <a:gd name="adj" fmla="val 50000"/>
            </a:avLst>
          </a:prstGeom>
          <a:solidFill>
            <a:srgbClr val="1F9D63"/>
          </a:solidFill>
          <a:ln/>
        </p:spPr>
      </p:sp>
      <p:sp>
        <p:nvSpPr>
          <p:cNvPr id="8" name="Text 6"/>
          <p:cNvSpPr/>
          <p:nvPr/>
        </p:nvSpPr>
        <p:spPr>
          <a:xfrm>
            <a:off x="6743700" y="2035671"/>
            <a:ext cx="149447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Hijau: udara baik</a:t>
            </a:r>
            <a:endParaRPr lang="en-US" sz="1300" dirty="0"/>
          </a:p>
        </p:txBody>
      </p:sp>
      <p:sp>
        <p:nvSpPr>
          <p:cNvPr id="9" name="Shape 7"/>
          <p:cNvSpPr/>
          <p:nvPr/>
        </p:nvSpPr>
        <p:spPr>
          <a:xfrm>
            <a:off x="6375400" y="2367161"/>
            <a:ext cx="254000" cy="254000"/>
          </a:xfrm>
          <a:prstGeom prst="roundRect">
            <a:avLst>
              <a:gd name="adj" fmla="val 50000"/>
            </a:avLst>
          </a:prstGeom>
          <a:solidFill>
            <a:srgbClr val="E8C547"/>
          </a:solidFill>
          <a:ln/>
        </p:spPr>
      </p:sp>
      <p:sp>
        <p:nvSpPr>
          <p:cNvPr id="10" name="Text 8"/>
          <p:cNvSpPr/>
          <p:nvPr/>
        </p:nvSpPr>
        <p:spPr>
          <a:xfrm>
            <a:off x="6743700" y="2378571"/>
            <a:ext cx="1633776"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Kuning: mulai naik</a:t>
            </a:r>
            <a:endParaRPr lang="en-US" sz="1300" dirty="0"/>
          </a:p>
        </p:txBody>
      </p:sp>
      <p:sp>
        <p:nvSpPr>
          <p:cNvPr id="11" name="Shape 9"/>
          <p:cNvSpPr/>
          <p:nvPr/>
        </p:nvSpPr>
        <p:spPr>
          <a:xfrm>
            <a:off x="6375400" y="2710061"/>
            <a:ext cx="254000" cy="254000"/>
          </a:xfrm>
          <a:prstGeom prst="roundRect">
            <a:avLst>
              <a:gd name="adj" fmla="val 50000"/>
            </a:avLst>
          </a:prstGeom>
          <a:solidFill>
            <a:srgbClr val="EA6F17"/>
          </a:solidFill>
          <a:ln/>
        </p:spPr>
      </p:sp>
      <p:sp>
        <p:nvSpPr>
          <p:cNvPr id="12" name="Text 10"/>
          <p:cNvSpPr/>
          <p:nvPr/>
        </p:nvSpPr>
        <p:spPr>
          <a:xfrm>
            <a:off x="6743700" y="2721471"/>
            <a:ext cx="221051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Oranye: bahaya / pengap</a:t>
            </a:r>
            <a:endParaRPr lang="en-US" sz="1300" dirty="0"/>
          </a:p>
        </p:txBody>
      </p:sp>
      <p:sp>
        <p:nvSpPr>
          <p:cNvPr id="13" name="Shape 11"/>
          <p:cNvSpPr/>
          <p:nvPr/>
        </p:nvSpPr>
        <p:spPr>
          <a:xfrm>
            <a:off x="6375400" y="3052961"/>
            <a:ext cx="254000" cy="254000"/>
          </a:xfrm>
          <a:prstGeom prst="roundRect">
            <a:avLst>
              <a:gd name="adj" fmla="val 50000"/>
            </a:avLst>
          </a:prstGeom>
          <a:solidFill>
            <a:srgbClr val="D63434"/>
          </a:solidFill>
          <a:ln/>
        </p:spPr>
      </p:sp>
      <p:sp>
        <p:nvSpPr>
          <p:cNvPr id="14" name="Text 12"/>
          <p:cNvSpPr/>
          <p:nvPr/>
        </p:nvSpPr>
        <p:spPr>
          <a:xfrm>
            <a:off x="6743700" y="3064371"/>
            <a:ext cx="2777728"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Merah berkedip: sangat bahaya</a:t>
            </a:r>
            <a:endParaRPr lang="en-US" sz="1300" dirty="0"/>
          </a:p>
        </p:txBody>
      </p:sp>
      <p:sp>
        <p:nvSpPr>
          <p:cNvPr id="15" name="Shape 13"/>
          <p:cNvSpPr/>
          <p:nvPr/>
        </p:nvSpPr>
        <p:spPr>
          <a:xfrm>
            <a:off x="6375400" y="3395861"/>
            <a:ext cx="254000" cy="254000"/>
          </a:xfrm>
          <a:prstGeom prst="roundRect">
            <a:avLst>
              <a:gd name="adj" fmla="val 50000"/>
            </a:avLst>
          </a:prstGeom>
          <a:solidFill>
            <a:srgbClr val="9B5DE5"/>
          </a:solidFill>
          <a:ln/>
        </p:spPr>
      </p:sp>
      <p:sp>
        <p:nvSpPr>
          <p:cNvPr id="16" name="Text 14"/>
          <p:cNvSpPr/>
          <p:nvPr/>
        </p:nvSpPr>
        <p:spPr>
          <a:xfrm>
            <a:off x="6743700" y="3407271"/>
            <a:ext cx="2809399"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Ungu berkedip: sensor PM error</a:t>
            </a:r>
            <a:endParaRPr lang="en-US" sz="1300" dirty="0"/>
          </a:p>
        </p:txBody>
      </p:sp>
      <p:sp>
        <p:nvSpPr>
          <p:cNvPr id="17" name="Shape 15"/>
          <p:cNvSpPr/>
          <p:nvPr/>
        </p:nvSpPr>
        <p:spPr>
          <a:xfrm>
            <a:off x="6375400" y="3738761"/>
            <a:ext cx="254000" cy="254000"/>
          </a:xfrm>
          <a:prstGeom prst="roundRect">
            <a:avLst>
              <a:gd name="adj" fmla="val 50000"/>
            </a:avLst>
          </a:prstGeom>
          <a:gradFill rotWithShape="1">
            <a:gsLst>
              <a:gs pos="50000">
                <a:srgbClr val="D63434"/>
              </a:gs>
              <a:gs pos="50000">
                <a:srgbClr val="2563EB"/>
              </a:gs>
            </a:gsLst>
            <a:lin ang="0" scaled="0"/>
          </a:gradFill>
          <a:ln/>
        </p:spPr>
      </p:sp>
      <p:sp>
        <p:nvSpPr>
          <p:cNvPr id="18" name="Text 16"/>
          <p:cNvSpPr/>
          <p:nvPr/>
        </p:nvSpPr>
        <p:spPr>
          <a:xfrm>
            <a:off x="6743700" y="3750171"/>
            <a:ext cx="271093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2A33"/>
                </a:solidFill>
                <a:latin typeface="IBM Plex Sans" pitchFamily="34" charset="0"/>
                <a:ea typeface="IBM Plex Sans" pitchFamily="34" charset="-122"/>
                <a:cs typeface="IBM Plex Sans" pitchFamily="34" charset="-120"/>
              </a:rPr>
              <a:t>Merah-biru cepat: kipas macet</a:t>
            </a:r>
            <a:endParaRPr lang="en-US" sz="1300" dirty="0"/>
          </a:p>
        </p:txBody>
      </p:sp>
      <p:sp>
        <p:nvSpPr>
          <p:cNvPr id="19" name="Text 17"/>
          <p:cNvSpPr/>
          <p:nvPr/>
        </p:nvSpPr>
        <p:spPr>
          <a:xfrm>
            <a:off x="6375400" y="4081661"/>
            <a:ext cx="515391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LED tidak menyala? jembatani pad solder “RGB” di board, atau ganti PIN_RGB ke 38.</a:t>
            </a:r>
            <a:endParaRPr lang="en-US" sz="1200" dirty="0"/>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03 · DIAGNOSA</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Membaca log saat boot (serial monitor)</a:t>
            </a:r>
            <a:endParaRPr lang="en-US" sz="3200" dirty="0"/>
          </a:p>
        </p:txBody>
      </p:sp>
      <p:sp>
        <p:nvSpPr>
          <p:cNvPr id="4" name="Text 2"/>
          <p:cNvSpPr/>
          <p:nvPr/>
        </p:nvSpPr>
        <p:spPr>
          <a:xfrm>
            <a:off x="812800" y="1722041"/>
            <a:ext cx="6604000" cy="3784600"/>
          </a:xfrm>
          <a:prstGeom prst="roundRect">
            <a:avLst>
              <a:gd name="adj" fmla="val 3356"/>
            </a:avLst>
          </a:prstGeom>
          <a:solidFill>
            <a:srgbClr val="0F1B24"/>
          </a:solidFill>
          <a:ln/>
        </p:spPr>
        <p:txBody>
          <a:bodyPr wrap="none" lIns="166003" tIns="140603" rIns="0" bIns="115203" rtlCol="0" anchor="t">
            <a:normAutofit/>
          </a:bodyPr>
          <a:lstStyle/>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[ 52] [sys] reset : POWERON</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[ 60] [i2c] device di 0x38 (AHT21)</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[ 61] [i2c] device di 0x3C (OLED)</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[ 62] [i2c] device di 0x53 (ENS160)</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[ 63] [i2c] device di 0x62 (SCD40)</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[ 70] [task] fan core=1 prio=4 -&gt; OK</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[ 420] [env] ENS160 di 0x53, mode standard OK</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[ 610] [wifi] AP "CAIR-3F2A" aktif</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[ 980] [rxy] BLE aktif, nama "CAIR"</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[1320] [sds] menunggu frame data...</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[1340] [zh] ZH03B (PM luar) menunggu frame...</a:t>
            </a:r>
            <a:endParaRPr lang="en-US" sz="1200" dirty="0"/>
          </a:p>
          <a:p>
            <a:pPr algn="l" indent="0" marL="0">
              <a:lnSpc>
                <a:spcPts val="1800"/>
              </a:lnSpc>
              <a:buNone/>
            </a:pPr>
            <a:r>
              <a:rPr lang="en-US" sz="1200" dirty="0">
                <a:solidFill>
                  <a:srgbClr val="3DD6A3"/>
                </a:solidFill>
                <a:latin typeface="JetBrains Mono" pitchFamily="49" charset="0"/>
                <a:ea typeface="JetBrains Mono" pitchFamily="49" charset="-122"/>
                <a:cs typeface="JetBrains Mono" pitchFamily="49" charset="-120"/>
              </a:rPr>
              <a:t>[2100] [sds] ONLINE, PM2.5=12.3 PM10=17.1</a:t>
            </a:r>
            <a:endParaRPr lang="en-US" sz="1200" dirty="0"/>
          </a:p>
          <a:p>
            <a:pPr algn="l" indent="0" marL="0">
              <a:lnSpc>
                <a:spcPts val="1800"/>
              </a:lnSpc>
              <a:buNone/>
            </a:pPr>
            <a:r>
              <a:rPr lang="en-US" sz="1200" dirty="0">
                <a:solidFill>
                  <a:srgbClr val="3DD6A3"/>
                </a:solidFill>
                <a:latin typeface="JetBrains Mono" pitchFamily="49" charset="0"/>
                <a:ea typeface="JetBrains Mono" pitchFamily="49" charset="-122"/>
                <a:cs typeface="JetBrains Mono" pitchFamily="49" charset="-120"/>
              </a:rPr>
              <a:t>[2400] [zh] ONLINE, PM2.5 luar=38 PM10=52</a:t>
            </a:r>
            <a:endParaRPr lang="en-US" sz="1200" dirty="0"/>
          </a:p>
          <a:p>
            <a:pPr algn="l" indent="0" marL="0">
              <a:lnSpc>
                <a:spcPts val="1800"/>
              </a:lnSpc>
              <a:buNone/>
            </a:pPr>
            <a:r>
              <a:rPr lang="en-US" sz="1200" dirty="0">
                <a:solidFill>
                  <a:srgbClr val="3DD6A3"/>
                </a:solidFill>
                <a:latin typeface="JetBrains Mono" pitchFamily="49" charset="0"/>
                <a:ea typeface="JetBrains Mono" pitchFamily="49" charset="-122"/>
                <a:cs typeface="JetBrains Mono" pitchFamily="49" charset="-120"/>
              </a:rPr>
              <a:t>[7300] [scd] ONLINE, CO2=612 ppm T=28.9C RH=70%</a:t>
            </a:r>
            <a:endParaRPr lang="en-US" sz="1200" dirty="0"/>
          </a:p>
          <a:p>
            <a:pPr algn="l" indent="0" marL="0">
              <a:lnSpc>
                <a:spcPts val="1800"/>
              </a:lnSpc>
              <a:buNone/>
            </a:pPr>
            <a:r>
              <a:rPr lang="en-US" sz="1200" dirty="0">
                <a:solidFill>
                  <a:srgbClr val="3DD6A3"/>
                </a:solidFill>
                <a:latin typeface="JetBrains Mono" pitchFamily="49" charset="0"/>
                <a:ea typeface="JetBrains Mono" pitchFamily="49" charset="-122"/>
                <a:cs typeface="JetBrains Mono" pitchFamily="49" charset="-120"/>
              </a:rPr>
              <a:t>[4500] [wifi] TERHUBUNG ip=192.168.1.37</a:t>
            </a:r>
            <a:endParaRPr lang="en-US" sz="1200" dirty="0"/>
          </a:p>
        </p:txBody>
      </p:sp>
      <p:sp>
        <p:nvSpPr>
          <p:cNvPr id="5" name="Shape 3"/>
          <p:cNvSpPr/>
          <p:nvPr/>
        </p:nvSpPr>
        <p:spPr>
          <a:xfrm>
            <a:off x="7673975" y="1725216"/>
            <a:ext cx="3702050" cy="925711"/>
          </a:xfrm>
          <a:prstGeom prst="roundRect">
            <a:avLst>
              <a:gd name="adj" fmla="val 10632"/>
            </a:avLst>
          </a:prstGeom>
          <a:solidFill>
            <a:srgbClr val="FFFFFF"/>
          </a:solidFill>
          <a:ln w="6350">
            <a:solidFill>
              <a:srgbClr val="DDE3E0"/>
            </a:solidFill>
            <a:prstDash val="solid"/>
          </a:ln>
        </p:spPr>
      </p:sp>
      <p:sp>
        <p:nvSpPr>
          <p:cNvPr id="6" name="Text 4"/>
          <p:cNvSpPr/>
          <p:nvPr/>
        </p:nvSpPr>
        <p:spPr>
          <a:xfrm>
            <a:off x="7842250" y="1868091"/>
            <a:ext cx="346646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E2A33"/>
                </a:solidFill>
                <a:latin typeface="IBM Plex Sans" pitchFamily="34" charset="0"/>
                <a:ea typeface="IBM Plex Sans" pitchFamily="34" charset="-122"/>
                <a:cs typeface="IBM Plex Sans" pitchFamily="34" charset="-120"/>
              </a:rPr>
              <a:t>[i2c]</a:t>
            </a:r>
            <a:endParaRPr lang="en-US" sz="1400" dirty="0"/>
          </a:p>
        </p:txBody>
      </p:sp>
      <p:sp>
        <p:nvSpPr>
          <p:cNvPr id="7" name="Text 5"/>
          <p:cNvSpPr/>
          <p:nvPr/>
        </p:nvSpPr>
        <p:spPr>
          <a:xfrm>
            <a:off x="7842250" y="2081411"/>
            <a:ext cx="346646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4 alamat harus muncul (0x38, 0x3C, 0x53, 0x62). Kurang satu → cek kabel I2C.</a:t>
            </a:r>
            <a:endParaRPr lang="en-US" sz="1200" dirty="0"/>
          </a:p>
        </p:txBody>
      </p:sp>
      <p:sp>
        <p:nvSpPr>
          <p:cNvPr id="8" name="Shape 6"/>
          <p:cNvSpPr/>
          <p:nvPr/>
        </p:nvSpPr>
        <p:spPr>
          <a:xfrm>
            <a:off x="7673975" y="2771577"/>
            <a:ext cx="3702050" cy="925711"/>
          </a:xfrm>
          <a:prstGeom prst="roundRect">
            <a:avLst>
              <a:gd name="adj" fmla="val 10632"/>
            </a:avLst>
          </a:prstGeom>
          <a:solidFill>
            <a:srgbClr val="FFFFFF"/>
          </a:solidFill>
          <a:ln w="6350">
            <a:solidFill>
              <a:srgbClr val="DDE3E0"/>
            </a:solidFill>
            <a:prstDash val="solid"/>
          </a:ln>
        </p:spPr>
      </p:sp>
      <p:sp>
        <p:nvSpPr>
          <p:cNvPr id="9" name="Text 7"/>
          <p:cNvSpPr/>
          <p:nvPr/>
        </p:nvSpPr>
        <p:spPr>
          <a:xfrm>
            <a:off x="7842250" y="2914452"/>
            <a:ext cx="346646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E2A33"/>
                </a:solidFill>
                <a:latin typeface="IBM Plex Sans" pitchFamily="34" charset="0"/>
                <a:ea typeface="IBM Plex Sans" pitchFamily="34" charset="-122"/>
                <a:cs typeface="IBM Plex Sans" pitchFamily="34" charset="-120"/>
              </a:rPr>
              <a:t>[sds] · [zh]</a:t>
            </a:r>
            <a:endParaRPr lang="en-US" sz="1400" dirty="0"/>
          </a:p>
        </p:txBody>
      </p:sp>
      <p:sp>
        <p:nvSpPr>
          <p:cNvPr id="10" name="Text 8"/>
          <p:cNvSpPr/>
          <p:nvPr/>
        </p:nvSpPr>
        <p:spPr>
          <a:xfrm>
            <a:off x="7842250" y="3127772"/>
            <a:ext cx="346646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Tetap “menunggu” → TX/RX tertukar, GND atau 5 V lepas.</a:t>
            </a:r>
            <a:endParaRPr lang="en-US" sz="1200" dirty="0"/>
          </a:p>
        </p:txBody>
      </p:sp>
      <p:sp>
        <p:nvSpPr>
          <p:cNvPr id="11" name="Shape 9"/>
          <p:cNvSpPr/>
          <p:nvPr/>
        </p:nvSpPr>
        <p:spPr>
          <a:xfrm>
            <a:off x="7673975" y="3817938"/>
            <a:ext cx="3702050" cy="712391"/>
          </a:xfrm>
          <a:prstGeom prst="roundRect">
            <a:avLst>
              <a:gd name="adj" fmla="val 13816"/>
            </a:avLst>
          </a:prstGeom>
          <a:solidFill>
            <a:srgbClr val="FFFFFF"/>
          </a:solidFill>
          <a:ln w="6350">
            <a:solidFill>
              <a:srgbClr val="DDE3E0"/>
            </a:solidFill>
            <a:prstDash val="solid"/>
          </a:ln>
        </p:spPr>
      </p:sp>
      <p:sp>
        <p:nvSpPr>
          <p:cNvPr id="12" name="Text 10"/>
          <p:cNvSpPr/>
          <p:nvPr/>
        </p:nvSpPr>
        <p:spPr>
          <a:xfrm>
            <a:off x="7842250" y="3960813"/>
            <a:ext cx="346646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E2A33"/>
                </a:solidFill>
                <a:latin typeface="IBM Plex Sans" pitchFamily="34" charset="0"/>
                <a:ea typeface="IBM Plex Sans" pitchFamily="34" charset="-122"/>
                <a:cs typeface="IBM Plex Sans" pitchFamily="34" charset="-120"/>
              </a:rPr>
              <a:t>[wifi]</a:t>
            </a:r>
            <a:endParaRPr lang="en-US" sz="1400" dirty="0"/>
          </a:p>
        </p:txBody>
      </p:sp>
      <p:sp>
        <p:nvSpPr>
          <p:cNvPr id="13" name="Text 11"/>
          <p:cNvSpPr/>
          <p:nvPr/>
        </p:nvSpPr>
        <p:spPr>
          <a:xfrm>
            <a:off x="7842250" y="4174133"/>
            <a:ext cx="34664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IP di sini = alamat dashboard web.</a:t>
            </a:r>
            <a:endParaRPr lang="en-US" sz="12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04 · KONEKTIVITAS</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RemoteXY lewat Bluetooth LE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4741"/>
          <a:ext cx="6997700" cy="3114675"/>
        </p:xfrm>
        <a:graphic>
          <a:graphicData uri="http://schemas.openxmlformats.org/drawingml/2006/table">
            <a:tbl>
              <a:tblPr/>
              <a:tblGrid>
                <a:gridCol w="2799080"/>
                <a:gridCol w="4198620"/>
              </a:tblGrid>
              <a:tr h="346075">
                <a:tc>
                  <a:txBody>
                    <a:bodyPr/>
                    <a:lstStyle/>
                    <a:p>
                      <a:pPr indent="0" marL="0">
                        <a:lnSpc>
                          <a:spcPts val="1750"/>
                        </a:lnSpc>
                        <a:buNone/>
                      </a:pPr>
                      <a:r>
                        <a:rPr lang="en-US" sz="1250" b="1" dirty="0">
                          <a:solidFill>
                            <a:srgbClr val="1E2A33"/>
                          </a:solidFill>
                          <a:latin typeface="IBM Plex Sans" pitchFamily="34" charset="0"/>
                          <a:ea typeface="IBM Plex Sans" pitchFamily="34" charset="-122"/>
                          <a:cs typeface="IBM Plex Sans" pitchFamily="34" charset="-120"/>
                        </a:rPr>
                        <a:t>Variabel GUI</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750"/>
                        </a:lnSpc>
                        <a:buNone/>
                      </a:pPr>
                      <a:r>
                        <a:rPr lang="en-US" sz="1250" b="1" dirty="0">
                          <a:solidFill>
                            <a:srgbClr val="1E2A33"/>
                          </a:solidFill>
                          <a:latin typeface="IBM Plex Sans" pitchFamily="34" charset="0"/>
                          <a:ea typeface="IBM Plex Sans" pitchFamily="34" charset="-122"/>
                          <a:cs typeface="IBM Plex Sans" pitchFamily="34" charset="-120"/>
                        </a:rPr>
                        <a:t>Isi / fungsi</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switch_fanmode</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ON = Otomatis, OFF = Manual</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button_fanadd / sub</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±5% (hanya saat Manual)</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circularBar_01</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PM2.5, 100% = 50 µg/m³</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value_pm25 / pm10</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µg/m³ dari SDS011 (dalam)</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value_pm25ext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PM2.5 luar (ZH03B), 0 bila offline</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value_status</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AMAN … SGT BAHAYA / NO SENSOR</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value_fanspeed / fanrpm</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duty % dan rpm tachometer</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value_temp / rh / CO2</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AHT21 · CO₂ SCD40 (cadangan ENS160)</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bl>
          </a:graphicData>
        </a:graphic>
      </p:graphicFrame>
      <p:sp>
        <p:nvSpPr>
          <p:cNvPr id="5" name="Shape 2"/>
          <p:cNvSpPr/>
          <p:nvPr/>
        </p:nvSpPr>
        <p:spPr>
          <a:xfrm>
            <a:off x="8077200" y="1722041"/>
            <a:ext cx="3302000" cy="1074341"/>
          </a:xfrm>
          <a:prstGeom prst="roundRect">
            <a:avLst>
              <a:gd name="adj" fmla="val 11821"/>
            </a:avLst>
          </a:prstGeom>
          <a:solidFill>
            <a:srgbClr val="0F1B24"/>
          </a:solidFill>
          <a:ln/>
        </p:spPr>
      </p:sp>
      <p:sp>
        <p:nvSpPr>
          <p:cNvPr id="6" name="Text 3"/>
          <p:cNvSpPr/>
          <p:nvPr/>
        </p:nvSpPr>
        <p:spPr>
          <a:xfrm>
            <a:off x="8280400" y="1899841"/>
            <a:ext cx="298246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3DD6A3"/>
                </a:solidFill>
                <a:latin typeface="IBM Plex Sans" pitchFamily="34" charset="0"/>
                <a:ea typeface="IBM Plex Sans" pitchFamily="34" charset="-122"/>
                <a:cs typeface="IBM Plex Sans" pitchFamily="34" charset="-120"/>
              </a:rPr>
              <a:t>Menyambung</a:t>
            </a:r>
            <a:endParaRPr lang="en-US" sz="1500" dirty="0"/>
          </a:p>
        </p:txBody>
      </p:sp>
      <p:sp>
        <p:nvSpPr>
          <p:cNvPr id="7" name="Text 4"/>
          <p:cNvSpPr/>
          <p:nvPr/>
        </p:nvSpPr>
        <p:spPr>
          <a:xfrm>
            <a:off x="8280400" y="2191941"/>
            <a:ext cx="298246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App RemoteXY → tambah perangkat → </a:t>
            </a:r>
            <a:r>
              <a:rPr lang="en-US" sz="1200" b="1" dirty="0">
                <a:solidFill>
                  <a:srgbClr val="C9D4DC"/>
                </a:solidFill>
                <a:latin typeface="IBM Plex Sans" pitchFamily="34" charset="0"/>
                <a:ea typeface="IBM Plex Sans" pitchFamily="34" charset="-122"/>
                <a:cs typeface="IBM Plex Sans" pitchFamily="34" charset="-120"/>
              </a:rPr>
              <a:t>Bluetooth BLE</a:t>
            </a:r>
            <a:r>
              <a:rPr lang="en-US" sz="1200" dirty="0">
                <a:solidFill>
                  <a:srgbClr val="C9D4DC"/>
                </a:solidFill>
                <a:latin typeface="IBM Plex Sans" pitchFamily="34" charset="0"/>
                <a:ea typeface="IBM Plex Sans" pitchFamily="34" charset="-122"/>
                <a:cs typeface="IBM Plex Sans" pitchFamily="34" charset="-120"/>
              </a:rPr>
              <a:t> → pilih “CAIR”</a:t>
            </a:r>
            <a:endParaRPr lang="en-US" sz="1200" dirty="0"/>
          </a:p>
        </p:txBody>
      </p:sp>
      <p:sp>
        <p:nvSpPr>
          <p:cNvPr id="8" name="Shape 5"/>
          <p:cNvSpPr/>
          <p:nvPr/>
        </p:nvSpPr>
        <p:spPr>
          <a:xfrm>
            <a:off x="8080375" y="2913856"/>
            <a:ext cx="3295650" cy="1294011"/>
          </a:xfrm>
          <a:prstGeom prst="roundRect">
            <a:avLst>
              <a:gd name="adj" fmla="val 9569"/>
            </a:avLst>
          </a:prstGeom>
          <a:solidFill>
            <a:srgbClr val="FFFFFF"/>
          </a:solidFill>
          <a:ln w="6350">
            <a:solidFill>
              <a:srgbClr val="DDE3E0"/>
            </a:solidFill>
            <a:prstDash val="solid"/>
          </a:ln>
        </p:spPr>
      </p:sp>
      <p:sp>
        <p:nvSpPr>
          <p:cNvPr id="9" name="Text 6"/>
          <p:cNvSpPr/>
          <p:nvPr/>
        </p:nvSpPr>
        <p:spPr>
          <a:xfrm>
            <a:off x="8286750" y="3094831"/>
            <a:ext cx="296938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Mengubah GUI</a:t>
            </a:r>
            <a:endParaRPr lang="en-US" sz="1500" dirty="0"/>
          </a:p>
        </p:txBody>
      </p:sp>
      <p:sp>
        <p:nvSpPr>
          <p:cNvPr id="10" name="Text 7"/>
          <p:cNvSpPr/>
          <p:nvPr/>
        </p:nvSpPr>
        <p:spPr>
          <a:xfrm>
            <a:off x="8286750" y="3386931"/>
            <a:ext cx="2969387"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Generate ulang di editor, ganti </a:t>
            </a:r>
            <a:r>
              <a:rPr lang="en-US" sz="1200" b="1" dirty="0">
                <a:solidFill>
                  <a:srgbClr val="4A5568"/>
                </a:solidFill>
                <a:latin typeface="IBM Plex Sans" pitchFamily="34" charset="0"/>
                <a:ea typeface="IBM Plex Sans" pitchFamily="34" charset="-122"/>
                <a:cs typeface="IBM Plex Sans" pitchFamily="34" charset="-120"/>
              </a:rPr>
              <a:t>CONF dan struct sekaligus</a:t>
            </a:r>
            <a:r>
              <a:rPr lang="en-US" sz="1200" dirty="0">
                <a:solidFill>
                  <a:srgbClr val="4A5568"/>
                </a:solidFill>
                <a:latin typeface="IBM Plex Sans" pitchFamily="34" charset="0"/>
                <a:ea typeface="IBM Plex Sans" pitchFamily="34" charset="-122"/>
                <a:cs typeface="IBM Plex Sans" pitchFamily="34" charset="-120"/>
              </a:rPr>
              <a:t> di include/remotexy_gui.h.</a:t>
            </a:r>
            <a:endParaRPr lang="en-US" sz="1200" dirty="0"/>
          </a:p>
        </p:txBody>
      </p:sp>
      <p:sp>
        <p:nvSpPr>
          <p:cNvPr id="11" name="Shape 8"/>
          <p:cNvSpPr/>
          <p:nvPr/>
        </p:nvSpPr>
        <p:spPr>
          <a:xfrm>
            <a:off x="8080375" y="4328517"/>
            <a:ext cx="3295650" cy="1080691"/>
          </a:xfrm>
          <a:prstGeom prst="roundRect">
            <a:avLst>
              <a:gd name="adj" fmla="val 11458"/>
            </a:avLst>
          </a:prstGeom>
          <a:solidFill>
            <a:srgbClr val="FFFFFF"/>
          </a:solidFill>
          <a:ln w="6350">
            <a:solidFill>
              <a:srgbClr val="DDE3E0"/>
            </a:solidFill>
            <a:prstDash val="solid"/>
          </a:ln>
        </p:spPr>
      </p:sp>
      <p:sp>
        <p:nvSpPr>
          <p:cNvPr id="12" name="Text 9"/>
          <p:cNvSpPr/>
          <p:nvPr/>
        </p:nvSpPr>
        <p:spPr>
          <a:xfrm>
            <a:off x="8286750" y="4509492"/>
            <a:ext cx="296938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B8530C"/>
                </a:solidFill>
                <a:latin typeface="IBM Plex Sans" pitchFamily="34" charset="0"/>
                <a:ea typeface="IBM Plex Sans" pitchFamily="34" charset="-122"/>
                <a:cs typeface="IBM Plex Sans" pitchFamily="34" charset="-120"/>
              </a:rPr>
              <a:t>Catatan</a:t>
            </a:r>
            <a:endParaRPr lang="en-US" sz="1500" dirty="0"/>
          </a:p>
        </p:txBody>
      </p:sp>
      <p:sp>
        <p:nvSpPr>
          <p:cNvPr id="13" name="Text 10"/>
          <p:cNvSpPr/>
          <p:nvPr/>
        </p:nvSpPr>
        <p:spPr>
          <a:xfrm>
            <a:off x="8286750" y="4801592"/>
            <a:ext cx="296938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ESP32-S3 hanya punya BLE. GUI ini butuh lisensi PRO di app.</a:t>
            </a:r>
            <a:endParaRPr lang="en-US" sz="1200"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04 · KONEKTIVITAS</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Dashboard web: dua cara masuk</a:t>
            </a:r>
            <a:endParaRPr lang="en-US" sz="3200" dirty="0"/>
          </a:p>
        </p:txBody>
      </p:sp>
      <p:pic>
        <p:nvPicPr>
          <p:cNvPr id="4" name="Image 0" descr="Dashboard web CAIR di HP: PM2.5 22.4, kartu PM2.5 dalam vs luar dengan delta -16.2, dan saran">    </p:cNvPr>
          <p:cNvPicPr>
            <a:picLocks noChangeAspect="1"/>
          </p:cNvPicPr>
          <p:nvPr/>
        </p:nvPicPr>
        <p:blipFill>
          <a:blip r:embed="rId1"/>
          <a:srcRect l="1282" r="1282" t="0" b="0"/>
          <a:stretch/>
        </p:blipFill>
        <p:spPr>
          <a:xfrm>
            <a:off x="863600" y="1772841"/>
            <a:ext cx="1930400" cy="3962400"/>
          </a:xfrm>
          <a:prstGeom prst="roundRect">
            <a:avLst>
              <a:gd name="adj" fmla="val 6579"/>
            </a:avLst>
          </a:prstGeom>
        </p:spPr>
      </p:pic>
      <p:sp>
        <p:nvSpPr>
          <p:cNvPr id="5" name="Shape 2"/>
          <p:cNvSpPr/>
          <p:nvPr/>
        </p:nvSpPr>
        <p:spPr>
          <a:xfrm>
            <a:off x="838200" y="1747441"/>
            <a:ext cx="1981200" cy="4013200"/>
          </a:xfrm>
          <a:prstGeom prst="roundRect">
            <a:avLst>
              <a:gd name="adj" fmla="val 7692"/>
            </a:avLst>
          </a:prstGeom>
          <a:noFill/>
          <a:ln w="50800">
            <a:solidFill>
              <a:srgbClr val="0F1B24"/>
            </a:solidFill>
            <a:prstDash val="solid"/>
          </a:ln>
        </p:spPr>
      </p:sp>
      <p:sp>
        <p:nvSpPr>
          <p:cNvPr id="6" name="Shape 3"/>
          <p:cNvSpPr/>
          <p:nvPr/>
        </p:nvSpPr>
        <p:spPr>
          <a:xfrm>
            <a:off x="3203575" y="1725216"/>
            <a:ext cx="8172450" cy="900311"/>
          </a:xfrm>
          <a:prstGeom prst="roundRect">
            <a:avLst>
              <a:gd name="adj" fmla="val 13754"/>
            </a:avLst>
          </a:prstGeom>
          <a:solidFill>
            <a:srgbClr val="FFFFFF"/>
          </a:solidFill>
          <a:ln w="6350">
            <a:solidFill>
              <a:srgbClr val="DDE3E0"/>
            </a:solidFill>
            <a:prstDash val="solid"/>
          </a:ln>
        </p:spPr>
      </p:sp>
      <p:sp>
        <p:nvSpPr>
          <p:cNvPr id="7" name="Text 4"/>
          <p:cNvSpPr/>
          <p:nvPr/>
        </p:nvSpPr>
        <p:spPr>
          <a:xfrm>
            <a:off x="3409950" y="1906191"/>
            <a:ext cx="799249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A · Hotspot alat (tanpa router)</a:t>
            </a:r>
            <a:endParaRPr lang="en-US" sz="1600" dirty="0"/>
          </a:p>
        </p:txBody>
      </p:sp>
      <p:sp>
        <p:nvSpPr>
          <p:cNvPr id="8" name="Text 5"/>
          <p:cNvSpPr/>
          <p:nvPr/>
        </p:nvSpPr>
        <p:spPr>
          <a:xfrm>
            <a:off x="3409950" y="2213471"/>
            <a:ext cx="799249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WiFi HP → </a:t>
            </a:r>
            <a:r>
              <a:rPr lang="en-US" sz="1300" b="1" dirty="0">
                <a:solidFill>
                  <a:srgbClr val="4A5568"/>
                </a:solidFill>
                <a:latin typeface="IBM Plex Sans" pitchFamily="34" charset="0"/>
                <a:ea typeface="IBM Plex Sans" pitchFamily="34" charset="-122"/>
                <a:cs typeface="IBM Plex Sans" pitchFamily="34" charset="-120"/>
              </a:rPr>
              <a:t>CAIR-XXXX</a:t>
            </a:r>
            <a:r>
              <a:rPr lang="en-US" sz="1300" dirty="0">
                <a:solidFill>
                  <a:srgbClr val="4A5568"/>
                </a:solidFill>
                <a:latin typeface="IBM Plex Sans" pitchFamily="34" charset="0"/>
                <a:ea typeface="IBM Plex Sans" pitchFamily="34" charset="-122"/>
                <a:cs typeface="IBM Plex Sans" pitchFamily="34" charset="-120"/>
              </a:rPr>
              <a:t>, password </a:t>
            </a:r>
            <a:r>
              <a:rPr lang="en-US" sz="1300" b="1" dirty="0">
                <a:solidFill>
                  <a:srgbClr val="4A5568"/>
                </a:solidFill>
                <a:latin typeface="IBM Plex Sans" pitchFamily="34" charset="0"/>
                <a:ea typeface="IBM Plex Sans" pitchFamily="34" charset="-122"/>
                <a:cs typeface="IBM Plex Sans" pitchFamily="34" charset="-120"/>
              </a:rPr>
              <a:t>cair1234</a:t>
            </a:r>
            <a:r>
              <a:rPr lang="en-US" sz="1300" dirty="0">
                <a:solidFill>
                  <a:srgbClr val="4A5568"/>
                </a:solidFill>
                <a:latin typeface="IBM Plex Sans" pitchFamily="34" charset="0"/>
                <a:ea typeface="IBM Plex Sans" pitchFamily="34" charset="-122"/>
                <a:cs typeface="IBM Plex Sans" pitchFamily="34" charset="-120"/>
              </a:rPr>
              <a:t>. Halaman terbuka otomatis, atau buka </a:t>
            </a:r>
            <a:r>
              <a:rPr lang="en-US" sz="1300" dirty="0">
                <a:solidFill>
                  <a:srgbClr val="0B7A5A"/>
                </a:solidFill>
                <a:latin typeface="IBM Plex Sans" pitchFamily="34" charset="0"/>
                <a:ea typeface="IBM Plex Sans" pitchFamily="34" charset="-122"/>
                <a:cs typeface="IBM Plex Sans" pitchFamily="34" charset="-120"/>
              </a:rPr>
              <a:t>192.168.4.1</a:t>
            </a:r>
            <a:endParaRPr lang="en-US" sz="1300" dirty="0"/>
          </a:p>
        </p:txBody>
      </p:sp>
      <p:sp>
        <p:nvSpPr>
          <p:cNvPr id="9" name="Shape 6"/>
          <p:cNvSpPr/>
          <p:nvPr/>
        </p:nvSpPr>
        <p:spPr>
          <a:xfrm>
            <a:off x="3203575" y="2771577"/>
            <a:ext cx="8172450" cy="900311"/>
          </a:xfrm>
          <a:prstGeom prst="roundRect">
            <a:avLst>
              <a:gd name="adj" fmla="val 13754"/>
            </a:avLst>
          </a:prstGeom>
          <a:solidFill>
            <a:srgbClr val="FFFFFF"/>
          </a:solidFill>
          <a:ln w="6350">
            <a:solidFill>
              <a:srgbClr val="DDE3E0"/>
            </a:solidFill>
            <a:prstDash val="solid"/>
          </a:ln>
        </p:spPr>
      </p:sp>
      <p:sp>
        <p:nvSpPr>
          <p:cNvPr id="10" name="Text 7"/>
          <p:cNvSpPr/>
          <p:nvPr/>
        </p:nvSpPr>
        <p:spPr>
          <a:xfrm>
            <a:off x="3409950" y="2952552"/>
            <a:ext cx="799249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B · Lewat WiFi sekolah/rumah</a:t>
            </a:r>
            <a:endParaRPr lang="en-US" sz="1600" dirty="0"/>
          </a:p>
        </p:txBody>
      </p:sp>
      <p:sp>
        <p:nvSpPr>
          <p:cNvPr id="11" name="Text 8"/>
          <p:cNvSpPr/>
          <p:nvPr/>
        </p:nvSpPr>
        <p:spPr>
          <a:xfrm>
            <a:off x="3409950" y="3259832"/>
            <a:ext cx="799249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Menu </a:t>
            </a:r>
            <a:r>
              <a:rPr lang="en-US" sz="1300" b="1" dirty="0">
                <a:solidFill>
                  <a:srgbClr val="4A5568"/>
                </a:solidFill>
                <a:latin typeface="IBM Plex Sans" pitchFamily="34" charset="0"/>
                <a:ea typeface="IBM Plex Sans" pitchFamily="34" charset="-122"/>
                <a:cs typeface="IBM Plex Sans" pitchFamily="34" charset="-120"/>
              </a:rPr>
              <a:t>WiFi &amp; koneksi</a:t>
            </a:r>
            <a:r>
              <a:rPr lang="en-US" sz="1300" dirty="0">
                <a:solidFill>
                  <a:srgbClr val="4A5568"/>
                </a:solidFill>
                <a:latin typeface="IBM Plex Sans" pitchFamily="34" charset="0"/>
                <a:ea typeface="IBM Plex Sans" pitchFamily="34" charset="-122"/>
                <a:cs typeface="IBM Plex Sans" pitchFamily="34" charset="-120"/>
              </a:rPr>
              <a:t> → Cari jaringan → Sambungkan. Lalu buka </a:t>
            </a:r>
            <a:r>
              <a:rPr lang="en-US" sz="1300" dirty="0">
                <a:solidFill>
                  <a:srgbClr val="0B7A5A"/>
                </a:solidFill>
                <a:latin typeface="IBM Plex Sans" pitchFamily="34" charset="0"/>
                <a:ea typeface="IBM Plex Sans" pitchFamily="34" charset="-122"/>
                <a:cs typeface="IBM Plex Sans" pitchFamily="34" charset="-120"/>
              </a:rPr>
              <a:t>cair.local</a:t>
            </a:r>
            <a:r>
              <a:rPr lang="en-US" sz="1300" dirty="0">
                <a:solidFill>
                  <a:srgbClr val="4A5568"/>
                </a:solidFill>
                <a:latin typeface="IBM Plex Sans" pitchFamily="34" charset="0"/>
                <a:ea typeface="IBM Plex Sans" pitchFamily="34" charset="-122"/>
                <a:cs typeface="IBM Plex Sans" pitchFamily="34" charset="-120"/>
              </a:rPr>
              <a:t> atau IP di log.</a:t>
            </a:r>
            <a:endParaRPr lang="en-US" sz="1300" dirty="0"/>
          </a:p>
        </p:txBody>
      </p:sp>
      <p:sp>
        <p:nvSpPr>
          <p:cNvPr id="12" name="Shape 9"/>
          <p:cNvSpPr/>
          <p:nvPr/>
        </p:nvSpPr>
        <p:spPr>
          <a:xfrm>
            <a:off x="3200400" y="3814763"/>
            <a:ext cx="8178800" cy="1089521"/>
          </a:xfrm>
          <a:prstGeom prst="roundRect">
            <a:avLst>
              <a:gd name="adj" fmla="val 11656"/>
            </a:avLst>
          </a:prstGeom>
          <a:solidFill>
            <a:srgbClr val="0F1B24"/>
          </a:solidFill>
          <a:ln/>
        </p:spPr>
      </p:sp>
      <p:sp>
        <p:nvSpPr>
          <p:cNvPr id="13" name="Text 10"/>
          <p:cNvSpPr/>
          <p:nvPr/>
        </p:nvSpPr>
        <p:spPr>
          <a:xfrm>
            <a:off x="3403600" y="3992563"/>
            <a:ext cx="800557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DD6A3"/>
                </a:solidFill>
                <a:latin typeface="IBM Plex Sans" pitchFamily="34" charset="0"/>
                <a:ea typeface="IBM Plex Sans" pitchFamily="34" charset="-122"/>
                <a:cs typeface="IBM Plex Sans" pitchFamily="34" charset="-120"/>
              </a:rPr>
              <a:t>Isi halaman</a:t>
            </a:r>
            <a:endParaRPr lang="en-US" sz="1600" dirty="0"/>
          </a:p>
        </p:txBody>
      </p:sp>
      <p:sp>
        <p:nvSpPr>
          <p:cNvPr id="14" name="Text 11"/>
          <p:cNvSpPr/>
          <p:nvPr/>
        </p:nvSpPr>
        <p:spPr>
          <a:xfrm>
            <a:off x="3403600" y="4299843"/>
            <a:ext cx="80055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Nilai real-time · </a:t>
            </a:r>
            <a:r>
              <a:rPr lang="en-US" sz="1200" b="1" dirty="0">
                <a:solidFill>
                  <a:srgbClr val="C9D4DC"/>
                </a:solidFill>
                <a:latin typeface="IBM Plex Sans" pitchFamily="34" charset="0"/>
                <a:ea typeface="IBM Plex Sans" pitchFamily="34" charset="-122"/>
                <a:cs typeface="IBM Plex Sans" pitchFamily="34" charset="-120"/>
              </a:rPr>
              <a:t>PM2.5 dalam vs luar: Δ = dalam − luar, negatif = dalam lebih bersih</a:t>
            </a:r>
            <a:r>
              <a:rPr lang="en-US" sz="1200" dirty="0">
                <a:solidFill>
                  <a:srgbClr val="C9D4DC"/>
                </a:solidFill>
                <a:latin typeface="IBM Plex Sans" pitchFamily="34" charset="0"/>
                <a:ea typeface="IBM Plex Sans" pitchFamily="34" charset="-122"/>
                <a:cs typeface="IBM Plex Sans" pitchFamily="34" charset="-120"/>
              </a:rPr>
              <a:t> · saran · kontrol kipas · grafik 2 jam (dalam &amp; luar) · CSV · pengaturan</a:t>
            </a:r>
            <a:endParaRPr lang="en-US" sz="12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04 · WEB EMBED</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Halaman web ikut tertanam di firmware</a:t>
            </a:r>
            <a:endParaRPr lang="en-US" sz="3200" dirty="0"/>
          </a:p>
        </p:txBody>
      </p:sp>
      <p:sp>
        <p:nvSpPr>
          <p:cNvPr id="4" name="Shape 2"/>
          <p:cNvSpPr/>
          <p:nvPr/>
        </p:nvSpPr>
        <p:spPr>
          <a:xfrm>
            <a:off x="815975" y="1725216"/>
            <a:ext cx="2409825" cy="951111"/>
          </a:xfrm>
          <a:prstGeom prst="roundRect">
            <a:avLst>
              <a:gd name="adj" fmla="val 10348"/>
            </a:avLst>
          </a:prstGeom>
          <a:solidFill>
            <a:srgbClr val="FFFFFF"/>
          </a:solidFill>
          <a:ln w="6350">
            <a:solidFill>
              <a:srgbClr val="DDE3E0"/>
            </a:solidFill>
            <a:prstDash val="solid"/>
          </a:ln>
        </p:spPr>
      </p:sp>
      <p:sp>
        <p:nvSpPr>
          <p:cNvPr id="5" name="Text 3"/>
          <p:cNvSpPr/>
          <p:nvPr/>
        </p:nvSpPr>
        <p:spPr>
          <a:xfrm>
            <a:off x="971550" y="1880791"/>
            <a:ext cx="21616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7A5A"/>
                </a:solidFill>
                <a:latin typeface="JetBrains Mono" pitchFamily="49" charset="0"/>
                <a:ea typeface="JetBrains Mono" pitchFamily="49" charset="-122"/>
                <a:cs typeface="JetBrains Mono" pitchFamily="49" charset="-120"/>
              </a:rPr>
              <a:t>web/index.html</a:t>
            </a:r>
            <a:endParaRPr lang="en-US" sz="1200" dirty="0"/>
          </a:p>
        </p:txBody>
      </p:sp>
      <p:sp>
        <p:nvSpPr>
          <p:cNvPr id="6" name="Text 4"/>
          <p:cNvSpPr/>
          <p:nvPr/>
        </p:nvSpPr>
        <p:spPr>
          <a:xfrm>
            <a:off x="971550" y="2094111"/>
            <a:ext cx="21616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HTML+CSS+JS, 22 KB</a:t>
            </a:r>
            <a:endParaRPr lang="en-US" sz="1200" dirty="0"/>
          </a:p>
        </p:txBody>
      </p:sp>
      <p:pic>
        <p:nvPicPr>
          <p:cNvPr id="7" name="Image 0" descr="connector">    </p:cNvPr>
          <p:cNvPicPr>
            <a:picLocks noChangeAspect="1"/>
          </p:cNvPicPr>
          <p:nvPr/>
        </p:nvPicPr>
        <p:blipFill>
          <a:blip r:embed="rId1"/>
          <a:srcRect l="0" r="0" t="0" b="0"/>
          <a:stretch/>
        </p:blipFill>
        <p:spPr>
          <a:xfrm>
            <a:off x="3228975" y="2149971"/>
            <a:ext cx="304800" cy="101600"/>
          </a:xfrm>
          <a:prstGeom prst="rect">
            <a:avLst/>
          </a:prstGeom>
        </p:spPr>
      </p:pic>
      <p:sp>
        <p:nvSpPr>
          <p:cNvPr id="8" name="Shape 5"/>
          <p:cNvSpPr/>
          <p:nvPr/>
        </p:nvSpPr>
        <p:spPr>
          <a:xfrm>
            <a:off x="3536950" y="1725216"/>
            <a:ext cx="2409825" cy="951111"/>
          </a:xfrm>
          <a:prstGeom prst="roundRect">
            <a:avLst>
              <a:gd name="adj" fmla="val 10348"/>
            </a:avLst>
          </a:prstGeom>
          <a:solidFill>
            <a:srgbClr val="FFFFFF"/>
          </a:solidFill>
          <a:ln w="6350">
            <a:solidFill>
              <a:srgbClr val="DDE3E0"/>
            </a:solidFill>
            <a:prstDash val="solid"/>
          </a:ln>
        </p:spPr>
      </p:sp>
      <p:sp>
        <p:nvSpPr>
          <p:cNvPr id="9" name="Text 6"/>
          <p:cNvSpPr/>
          <p:nvPr/>
        </p:nvSpPr>
        <p:spPr>
          <a:xfrm>
            <a:off x="3692525" y="1880791"/>
            <a:ext cx="21616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7A5A"/>
                </a:solidFill>
                <a:latin typeface="JetBrains Mono" pitchFamily="49" charset="0"/>
                <a:ea typeface="JetBrains Mono" pitchFamily="49" charset="-122"/>
                <a:cs typeface="JetBrains Mono" pitchFamily="49" charset="-120"/>
              </a:rPr>
              <a:t>embed_web.py</a:t>
            </a:r>
            <a:endParaRPr lang="en-US" sz="1200" dirty="0"/>
          </a:p>
        </p:txBody>
      </p:sp>
      <p:sp>
        <p:nvSpPr>
          <p:cNvPr id="10" name="Text 7"/>
          <p:cNvSpPr/>
          <p:nvPr/>
        </p:nvSpPr>
        <p:spPr>
          <a:xfrm>
            <a:off x="3692525" y="2094111"/>
            <a:ext cx="21616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gzip → 8 KB, otomatis saat build</a:t>
            </a:r>
            <a:endParaRPr lang="en-US" sz="1200" dirty="0"/>
          </a:p>
        </p:txBody>
      </p:sp>
      <p:pic>
        <p:nvPicPr>
          <p:cNvPr id="11" name="Image 1" descr="connector">    </p:cNvPr>
          <p:cNvPicPr>
            <a:picLocks noChangeAspect="1"/>
          </p:cNvPicPr>
          <p:nvPr/>
        </p:nvPicPr>
        <p:blipFill>
          <a:blip r:embed="rId2"/>
          <a:srcRect l="0" r="0" t="0" b="0"/>
          <a:stretch/>
        </p:blipFill>
        <p:spPr>
          <a:xfrm>
            <a:off x="5949950" y="2149971"/>
            <a:ext cx="304800" cy="101600"/>
          </a:xfrm>
          <a:prstGeom prst="rect">
            <a:avLst/>
          </a:prstGeom>
        </p:spPr>
      </p:pic>
      <p:sp>
        <p:nvSpPr>
          <p:cNvPr id="12" name="Shape 8"/>
          <p:cNvSpPr/>
          <p:nvPr/>
        </p:nvSpPr>
        <p:spPr>
          <a:xfrm>
            <a:off x="6257925" y="1725216"/>
            <a:ext cx="2409825" cy="951111"/>
          </a:xfrm>
          <a:prstGeom prst="roundRect">
            <a:avLst>
              <a:gd name="adj" fmla="val 10348"/>
            </a:avLst>
          </a:prstGeom>
          <a:solidFill>
            <a:srgbClr val="FFFFFF"/>
          </a:solidFill>
          <a:ln w="6350">
            <a:solidFill>
              <a:srgbClr val="DDE3E0"/>
            </a:solidFill>
            <a:prstDash val="solid"/>
          </a:ln>
        </p:spPr>
      </p:sp>
      <p:sp>
        <p:nvSpPr>
          <p:cNvPr id="13" name="Text 9"/>
          <p:cNvSpPr/>
          <p:nvPr/>
        </p:nvSpPr>
        <p:spPr>
          <a:xfrm>
            <a:off x="6413500" y="1880791"/>
            <a:ext cx="21616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B7A5A"/>
                </a:solidFill>
                <a:latin typeface="JetBrains Mono" pitchFamily="49" charset="0"/>
                <a:ea typeface="JetBrains Mono" pitchFamily="49" charset="-122"/>
                <a:cs typeface="JetBrains Mono" pitchFamily="49" charset="-120"/>
              </a:rPr>
              <a:t>web_index.h</a:t>
            </a:r>
            <a:endParaRPr lang="en-US" sz="1200" dirty="0"/>
          </a:p>
        </p:txBody>
      </p:sp>
      <p:sp>
        <p:nvSpPr>
          <p:cNvPr id="14" name="Text 10"/>
          <p:cNvSpPr/>
          <p:nvPr/>
        </p:nvSpPr>
        <p:spPr>
          <a:xfrm>
            <a:off x="6413500" y="2094111"/>
            <a:ext cx="21616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array byte di flash</a:t>
            </a:r>
            <a:endParaRPr lang="en-US" sz="1200" dirty="0"/>
          </a:p>
        </p:txBody>
      </p:sp>
      <p:pic>
        <p:nvPicPr>
          <p:cNvPr id="15" name="Image 2" descr="connector">    </p:cNvPr>
          <p:cNvPicPr>
            <a:picLocks noChangeAspect="1"/>
          </p:cNvPicPr>
          <p:nvPr/>
        </p:nvPicPr>
        <p:blipFill>
          <a:blip r:embed="rId3"/>
          <a:srcRect l="0" r="0" t="0" b="0"/>
          <a:stretch/>
        </p:blipFill>
        <p:spPr>
          <a:xfrm>
            <a:off x="8670925" y="2149971"/>
            <a:ext cx="304800" cy="101600"/>
          </a:xfrm>
          <a:prstGeom prst="rect">
            <a:avLst/>
          </a:prstGeom>
        </p:spPr>
      </p:pic>
      <p:sp>
        <p:nvSpPr>
          <p:cNvPr id="16" name="Shape 11"/>
          <p:cNvSpPr/>
          <p:nvPr/>
        </p:nvSpPr>
        <p:spPr>
          <a:xfrm>
            <a:off x="8975725" y="1722041"/>
            <a:ext cx="2403475" cy="957461"/>
          </a:xfrm>
          <a:prstGeom prst="roundRect">
            <a:avLst>
              <a:gd name="adj" fmla="val 10611"/>
            </a:avLst>
          </a:prstGeom>
          <a:solidFill>
            <a:srgbClr val="0F1B24"/>
          </a:solidFill>
          <a:ln/>
        </p:spPr>
      </p:sp>
      <p:sp>
        <p:nvSpPr>
          <p:cNvPr id="17" name="Text 12"/>
          <p:cNvSpPr/>
          <p:nvPr/>
        </p:nvSpPr>
        <p:spPr>
          <a:xfrm>
            <a:off x="9128125" y="1874441"/>
            <a:ext cx="21616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DD6A3"/>
                </a:solidFill>
                <a:latin typeface="JetBrains Mono" pitchFamily="49" charset="0"/>
                <a:ea typeface="JetBrains Mono" pitchFamily="49" charset="-122"/>
                <a:cs typeface="JetBrains Mono" pitchFamily="49" charset="-120"/>
              </a:rPr>
              <a:t>GET /</a:t>
            </a:r>
            <a:endParaRPr lang="en-US" sz="1200" dirty="0"/>
          </a:p>
        </p:txBody>
      </p:sp>
      <p:sp>
        <p:nvSpPr>
          <p:cNvPr id="18" name="Text 13"/>
          <p:cNvSpPr/>
          <p:nvPr/>
        </p:nvSpPr>
        <p:spPr>
          <a:xfrm>
            <a:off x="9128125" y="2087761"/>
            <a:ext cx="21616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dikirim + header gzip, browser membuka</a:t>
            </a:r>
            <a:endParaRPr lang="en-US" sz="1200" dirty="0"/>
          </a:p>
        </p:txBody>
      </p:sp>
      <p:sp>
        <p:nvSpPr>
          <p:cNvPr id="19" name="Text 14"/>
          <p:cNvSpPr/>
          <p:nvPr/>
        </p:nvSpPr>
        <p:spPr>
          <a:xfrm>
            <a:off x="812800" y="2933502"/>
            <a:ext cx="35057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Tanpa upload file terpisah</a:t>
            </a:r>
            <a:endParaRPr lang="en-US" sz="1500" dirty="0"/>
          </a:p>
        </p:txBody>
      </p:sp>
      <p:sp>
        <p:nvSpPr>
          <p:cNvPr id="20" name="Text 15"/>
          <p:cNvSpPr/>
          <p:nvPr/>
        </p:nvSpPr>
        <p:spPr>
          <a:xfrm>
            <a:off x="812800" y="3225602"/>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Cukup satu kali upload firmware; tidak perlu LittleFS/SPIFFS.</a:t>
            </a:r>
            <a:endParaRPr lang="en-US" sz="1200" dirty="0"/>
          </a:p>
        </p:txBody>
      </p:sp>
      <p:sp>
        <p:nvSpPr>
          <p:cNvPr id="21" name="Text 16"/>
          <p:cNvSpPr/>
          <p:nvPr/>
        </p:nvSpPr>
        <p:spPr>
          <a:xfrm>
            <a:off x="4394200" y="2933502"/>
            <a:ext cx="35057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Tanpa internet</a:t>
            </a:r>
            <a:endParaRPr lang="en-US" sz="1500" dirty="0"/>
          </a:p>
        </p:txBody>
      </p:sp>
      <p:sp>
        <p:nvSpPr>
          <p:cNvPr id="22" name="Text 17"/>
          <p:cNvSpPr/>
          <p:nvPr/>
        </p:nvSpPr>
        <p:spPr>
          <a:xfrm>
            <a:off x="4394200" y="3225602"/>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Tidak memakai CDN atau font online, jadi jalan di hotspot alat.</a:t>
            </a:r>
            <a:endParaRPr lang="en-US" sz="1200" dirty="0"/>
          </a:p>
        </p:txBody>
      </p:sp>
      <p:sp>
        <p:nvSpPr>
          <p:cNvPr id="23" name="Text 18"/>
          <p:cNvSpPr/>
          <p:nvPr/>
        </p:nvSpPr>
        <p:spPr>
          <a:xfrm>
            <a:off x="7975600" y="2933502"/>
            <a:ext cx="35057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E2A33"/>
                </a:solidFill>
                <a:latin typeface="IBM Plex Sans" pitchFamily="34" charset="0"/>
                <a:ea typeface="IBM Plex Sans" pitchFamily="34" charset="-122"/>
                <a:cs typeface="IBM Plex Sans" pitchFamily="34" charset="-120"/>
              </a:rPr>
              <a:t>Data lewat API</a:t>
            </a:r>
            <a:endParaRPr lang="en-US" sz="1500" dirty="0"/>
          </a:p>
        </p:txBody>
      </p:sp>
      <p:sp>
        <p:nvSpPr>
          <p:cNvPr id="24" name="Text 19"/>
          <p:cNvSpPr/>
          <p:nvPr/>
        </p:nvSpPr>
        <p:spPr>
          <a:xfrm>
            <a:off x="7975600" y="3225602"/>
            <a:ext cx="350570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Halaman meminta /api/status tiap 1 s (JSON), lalu menggambar ulang.</a:t>
            </a:r>
            <a:endParaRPr lang="en-US" sz="1200" dirty="0"/>
          </a:p>
        </p:txBody>
      </p:sp>
      <p:sp>
        <p:nvSpPr>
          <p:cNvPr id="25" name="Text 20"/>
          <p:cNvSpPr/>
          <p:nvPr/>
        </p:nvSpPr>
        <p:spPr>
          <a:xfrm>
            <a:off x="812800" y="3906242"/>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Mau ubah tampilan? Edit </a:t>
            </a:r>
            <a:r>
              <a:rPr lang="en-US" sz="1300" b="1" dirty="0">
                <a:solidFill>
                  <a:srgbClr val="4A5568"/>
                </a:solidFill>
                <a:latin typeface="IBM Plex Sans" pitchFamily="34" charset="0"/>
                <a:ea typeface="IBM Plex Sans" pitchFamily="34" charset="-122"/>
                <a:cs typeface="IBM Plex Sans" pitchFamily="34" charset="-120"/>
              </a:rPr>
              <a:t>web/index.html</a:t>
            </a:r>
            <a:r>
              <a:rPr lang="en-US" sz="1300" dirty="0">
                <a:solidFill>
                  <a:srgbClr val="4A5568"/>
                </a:solidFill>
                <a:latin typeface="IBM Plex Sans" pitchFamily="34" charset="0"/>
                <a:ea typeface="IBM Plex Sans" pitchFamily="34" charset="-122"/>
                <a:cs typeface="IBM Plex Sans" pitchFamily="34" charset="-120"/>
              </a:rPr>
              <a:t>, lalu build &amp; upload seperti biasa. Jangan edit web_index.h.</a:t>
            </a:r>
            <a:endParaRPr lang="en-US" sz="1300" dirty="0"/>
          </a:p>
        </p:txBody>
      </p:sp>
      <p:sp>
        <p:nvSpPr>
          <p:cNvPr id="26" name="Text 2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04 · WEB EMBED</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REST API di balik halaman</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4741"/>
          <a:ext cx="7708900" cy="3114675"/>
        </p:xfrm>
        <a:graphic>
          <a:graphicData uri="http://schemas.openxmlformats.org/drawingml/2006/table">
            <a:tbl>
              <a:tblPr/>
              <a:tblGrid>
                <a:gridCol w="1079246"/>
                <a:gridCol w="3083560"/>
                <a:gridCol w="3546094"/>
              </a:tblGrid>
              <a:tr h="346075">
                <a:tc>
                  <a:txBody>
                    <a:bodyPr/>
                    <a:lstStyle/>
                    <a:p>
                      <a:pPr indent="0" marL="0">
                        <a:lnSpc>
                          <a:spcPts val="1750"/>
                        </a:lnSpc>
                        <a:buNone/>
                      </a:pPr>
                      <a:r>
                        <a:rPr lang="en-US" sz="1250" b="1" dirty="0">
                          <a:solidFill>
                            <a:srgbClr val="1E2A33"/>
                          </a:solidFill>
                          <a:latin typeface="IBM Plex Sans" pitchFamily="34" charset="0"/>
                          <a:ea typeface="IBM Plex Sans" pitchFamily="34" charset="-122"/>
                          <a:cs typeface="IBM Plex Sans" pitchFamily="34" charset="-120"/>
                        </a:rPr>
                        <a:t>Metode</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750"/>
                        </a:lnSpc>
                        <a:buNone/>
                      </a:pPr>
                      <a:r>
                        <a:rPr lang="en-US" sz="1250" b="1" dirty="0">
                          <a:solidFill>
                            <a:srgbClr val="1E2A33"/>
                          </a:solidFill>
                          <a:latin typeface="IBM Plex Sans" pitchFamily="34" charset="0"/>
                          <a:ea typeface="IBM Plex Sans" pitchFamily="34" charset="-122"/>
                          <a:cs typeface="IBM Plex Sans" pitchFamily="34" charset="-120"/>
                        </a:rPr>
                        <a:t>Alamat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750"/>
                        </a:lnSpc>
                        <a:buNone/>
                      </a:pPr>
                      <a:r>
                        <a:rPr lang="en-US" sz="1250" b="1" dirty="0">
                          <a:solidFill>
                            <a:srgbClr val="1E2A33"/>
                          </a:solidFill>
                          <a:latin typeface="IBM Plex Sans" pitchFamily="34" charset="0"/>
                          <a:ea typeface="IBM Plex Sans" pitchFamily="34" charset="-122"/>
                          <a:cs typeface="IBM Plex Sans" pitchFamily="34" charset="-120"/>
                        </a:rPr>
                        <a:t>Fungsi</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GET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/api/status</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semua nilai + luar &amp; Δ, JSON</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POST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/api/mode</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mode=auto | fixed | pot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POST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/api/fan</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duty=0…100 (ke Manual)</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GET · POST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/api/config</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batas &amp; duty otomatis</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GET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/api/history</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riwayat 2 jam, JSON</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GET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/api/history.csv</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CSV: PM dalam, luar, Δ, CO₂</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GET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/api/wifi/scan</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cari jaringan</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POST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/api/wifi</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750"/>
                        </a:lnSpc>
                        <a:buNone/>
                      </a:pPr>
                      <a:r>
                        <a:rPr lang="en-US" sz="1250" dirty="0">
                          <a:solidFill>
                            <a:srgbClr val="1E2A33"/>
                          </a:solidFill>
                          <a:latin typeface="IBM Plex Sans" pitchFamily="34" charset="0"/>
                          <a:ea typeface="IBM Plex Sans" pitchFamily="34" charset="-122"/>
                          <a:cs typeface="IBM Plex Sans" pitchFamily="34" charset="-120"/>
                        </a:rPr>
                        <a:t>ssid, pass → sambung</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bl>
          </a:graphicData>
        </a:graphic>
      </p:graphicFrame>
      <p:pic>
        <p:nvPicPr>
          <p:cNvPr id="5" name="Image 0" descr="Kartu kontrol kipas dan grafik riwayat di dashboard web">    </p:cNvPr>
          <p:cNvPicPr>
            <a:picLocks noChangeAspect="1"/>
          </p:cNvPicPr>
          <p:nvPr/>
        </p:nvPicPr>
        <p:blipFill>
          <a:blip r:embed="rId1"/>
          <a:srcRect l="580" r="580" t="0" b="0"/>
          <a:stretch/>
        </p:blipFill>
        <p:spPr>
          <a:xfrm>
            <a:off x="8877300" y="1760141"/>
            <a:ext cx="2463800" cy="3898900"/>
          </a:xfrm>
          <a:prstGeom prst="roundRect">
            <a:avLst>
              <a:gd name="adj" fmla="val 4639"/>
            </a:avLst>
          </a:prstGeom>
        </p:spPr>
      </p:pic>
      <p:sp>
        <p:nvSpPr>
          <p:cNvPr id="6" name="Shape 2"/>
          <p:cNvSpPr/>
          <p:nvPr/>
        </p:nvSpPr>
        <p:spPr>
          <a:xfrm>
            <a:off x="8858250" y="1741091"/>
            <a:ext cx="2501900" cy="3937000"/>
          </a:xfrm>
          <a:prstGeom prst="roundRect">
            <a:avLst>
              <a:gd name="adj" fmla="val 5330"/>
            </a:avLst>
          </a:prstGeom>
          <a:noFill/>
          <a:ln w="38100">
            <a:solidFill>
              <a:srgbClr val="0F1B24"/>
            </a:solidFill>
            <a:prstDash val="solid"/>
          </a:ln>
        </p:spPr>
      </p:sp>
      <p:sp>
        <p:nvSpPr>
          <p:cNvPr id="7"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05 · PENGUJIAN</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Simulator SDS011 dan console</a:t>
            </a:r>
            <a:endParaRPr lang="en-US" sz="3200" dirty="0"/>
          </a:p>
        </p:txBody>
      </p:sp>
      <p:sp>
        <p:nvSpPr>
          <p:cNvPr id="4" name="Text 2"/>
          <p:cNvSpPr/>
          <p:nvPr/>
        </p:nvSpPr>
        <p:spPr>
          <a:xfrm>
            <a:off x="812800" y="1722041"/>
            <a:ext cx="604342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Simulator (Python, via USB-TTL)</a:t>
            </a:r>
            <a:endParaRPr lang="en-US" sz="1600" dirty="0"/>
          </a:p>
        </p:txBody>
      </p:sp>
      <p:sp>
        <p:nvSpPr>
          <p:cNvPr id="5" name="Text 3"/>
          <p:cNvSpPr/>
          <p:nvPr/>
        </p:nvSpPr>
        <p:spPr>
          <a:xfrm>
            <a:off x="812800" y="2080121"/>
            <a:ext cx="5867400" cy="1219200"/>
          </a:xfrm>
          <a:prstGeom prst="roundRect">
            <a:avLst>
              <a:gd name="adj" fmla="val 8333"/>
            </a:avLst>
          </a:prstGeom>
          <a:solidFill>
            <a:srgbClr val="0F1B24"/>
          </a:solidFill>
          <a:ln/>
        </p:spPr>
        <p:txBody>
          <a:bodyPr wrap="square" lIns="148042" tIns="122642" rIns="0" bIns="97242" rtlCol="0" anchor="t">
            <a:normAutofit/>
          </a:bodyPr>
          <a:lstStyle/>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pip install pyserial</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python tools/sds011_sim.py --list</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python tools/sds011_sim.py --port COM7</a:t>
            </a:r>
            <a:endParaRPr lang="en-US" sz="1200" dirty="0"/>
          </a:p>
          <a:p>
            <a:pPr algn="l" indent="0" marL="0">
              <a:lnSpc>
                <a:spcPts val="1800"/>
              </a:lnSpc>
              <a:buNone/>
            </a:pPr>
            <a:r>
              <a:rPr lang="en-US" sz="1200" dirty="0">
                <a:solidFill>
                  <a:srgbClr val="C9D4DC"/>
                </a:solidFill>
                <a:latin typeface="JetBrains Mono" pitchFamily="49" charset="0"/>
                <a:ea typeface="JetBrains Mono" pitchFamily="49" charset="-122"/>
                <a:cs typeface="JetBrains Mono" pitchFamily="49" charset="-120"/>
              </a:rPr>
              <a:t>--profile sine --base 10 --amp 30</a:t>
            </a:r>
            <a:endParaRPr lang="en-US" sz="1200" dirty="0"/>
          </a:p>
        </p:txBody>
      </p:sp>
      <p:sp>
        <p:nvSpPr>
          <p:cNvPr id="6" name="Text 4"/>
          <p:cNvSpPr/>
          <p:nvPr/>
        </p:nvSpPr>
        <p:spPr>
          <a:xfrm>
            <a:off x="812800" y="3413621"/>
            <a:ext cx="604342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Sambung TX adapter → GPIO18, RX → GPIO17, GND → GND.</a:t>
            </a:r>
            <a:endParaRPr lang="en-US" sz="1200" dirty="0"/>
          </a:p>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Ketik saat jalan: </a:t>
            </a:r>
            <a:r>
              <a:rPr lang="en-US" sz="1200" b="1" dirty="0">
                <a:solidFill>
                  <a:srgbClr val="4A5568"/>
                </a:solidFill>
                <a:latin typeface="IBM Plex Sans" pitchFamily="34" charset="0"/>
                <a:ea typeface="IBM Plex Sans" pitchFamily="34" charset="-122"/>
                <a:cs typeface="IBM Plex Sans" pitchFamily="34" charset="-120"/>
              </a:rPr>
              <a:t>set 25</a:t>
            </a:r>
            <a:r>
              <a:rPr lang="en-US" sz="1200" dirty="0">
                <a:solidFill>
                  <a:srgbClr val="4A5568"/>
                </a:solidFill>
                <a:latin typeface="IBM Plex Sans" pitchFamily="34" charset="0"/>
                <a:ea typeface="IBM Plex Sans" pitchFamily="34" charset="-122"/>
                <a:cs typeface="IBM Plex Sans" pitchFamily="34" charset="-120"/>
              </a:rPr>
              <a:t> · </a:t>
            </a:r>
            <a:r>
              <a:rPr lang="en-US" sz="1200" b="1" dirty="0">
                <a:solidFill>
                  <a:srgbClr val="4A5568"/>
                </a:solidFill>
                <a:latin typeface="IBM Plex Sans" pitchFamily="34" charset="0"/>
                <a:ea typeface="IBM Plex Sans" pitchFamily="34" charset="-122"/>
                <a:cs typeface="IBM Plex Sans" pitchFamily="34" charset="-120"/>
              </a:rPr>
              <a:t>burst</a:t>
            </a:r>
            <a:r>
              <a:rPr lang="en-US" sz="1200" dirty="0">
                <a:solidFill>
                  <a:srgbClr val="4A5568"/>
                </a:solidFill>
                <a:latin typeface="IBM Plex Sans" pitchFamily="34" charset="0"/>
                <a:ea typeface="IBM Plex Sans" pitchFamily="34" charset="-122"/>
                <a:cs typeface="IBM Plex Sans" pitchFamily="34" charset="-120"/>
              </a:rPr>
              <a:t> (asap) · </a:t>
            </a:r>
            <a:r>
              <a:rPr lang="en-US" sz="1200" b="1" dirty="0">
                <a:solidFill>
                  <a:srgbClr val="4A5568"/>
                </a:solidFill>
                <a:latin typeface="IBM Plex Sans" pitchFamily="34" charset="0"/>
                <a:ea typeface="IBM Plex Sans" pitchFamily="34" charset="-122"/>
                <a:cs typeface="IBM Plex Sans" pitchFamily="34" charset="-120"/>
              </a:rPr>
              <a:t>stop</a:t>
            </a:r>
            <a:r>
              <a:rPr lang="en-US" sz="1200" dirty="0">
                <a:solidFill>
                  <a:srgbClr val="4A5568"/>
                </a:solidFill>
                <a:latin typeface="IBM Plex Sans" pitchFamily="34" charset="0"/>
                <a:ea typeface="IBM Plex Sans" pitchFamily="34" charset="-122"/>
                <a:cs typeface="IBM Plex Sans" pitchFamily="34" charset="-120"/>
              </a:rPr>
              <a:t> (uji error) · </a:t>
            </a:r>
            <a:r>
              <a:rPr lang="en-US" sz="1200" b="1" dirty="0">
                <a:solidFill>
                  <a:srgbClr val="4A5568"/>
                </a:solidFill>
                <a:latin typeface="IBM Plex Sans" pitchFamily="34" charset="0"/>
                <a:ea typeface="IBM Plex Sans" pitchFamily="34" charset="-122"/>
                <a:cs typeface="IBM Plex Sans" pitchFamily="34" charset="-120"/>
              </a:rPr>
              <a:t>bad</a:t>
            </a:r>
            <a:r>
              <a:rPr lang="en-US" sz="1200" dirty="0">
                <a:solidFill>
                  <a:srgbClr val="4A5568"/>
                </a:solidFill>
                <a:latin typeface="IBM Plex Sans" pitchFamily="34" charset="0"/>
                <a:ea typeface="IBM Plex Sans" pitchFamily="34" charset="-122"/>
                <a:cs typeface="IBM Plex Sans" pitchFamily="34" charset="-120"/>
              </a:rPr>
              <a:t> (frame rusak)</a:t>
            </a:r>
            <a:endParaRPr lang="en-US" sz="1200" dirty="0"/>
          </a:p>
        </p:txBody>
      </p:sp>
      <p:sp>
        <p:nvSpPr>
          <p:cNvPr id="7" name="Text 5"/>
          <p:cNvSpPr/>
          <p:nvPr/>
        </p:nvSpPr>
        <p:spPr>
          <a:xfrm>
            <a:off x="6934200" y="1722041"/>
            <a:ext cx="457835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2A33"/>
                </a:solidFill>
                <a:latin typeface="IBM Plex Sans" pitchFamily="34" charset="0"/>
                <a:ea typeface="IBM Plex Sans" pitchFamily="34" charset="-122"/>
                <a:cs typeface="IBM Plex Sans" pitchFamily="34" charset="-120"/>
              </a:rPr>
              <a:t>Console (serial monitor)</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6900" y="2092821"/>
          <a:ext cx="4432300" cy="2328069"/>
        </p:xfrm>
        <a:graphic>
          <a:graphicData uri="http://schemas.openxmlformats.org/drawingml/2006/table">
            <a:tbl>
              <a:tblPr/>
              <a:tblGrid>
                <a:gridCol w="2038858"/>
                <a:gridCol w="2393442"/>
              </a:tblGrid>
              <a:tr h="332581">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Perintah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Fungsi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status · env · cfg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lihat semua nilai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mode auto|pot|fixed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ganti mode kipas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fixed 60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duty manual 60%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th 15 20 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batas kategori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wifi ssid pass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sambung ke router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save · load · defaults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simpan / muat NVS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bl>
          </a:graphicData>
        </a:graphic>
      </p:graphicFrame>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B7A5A"/>
                </a:solidFill>
                <a:latin typeface="JetBrains Mono" pitchFamily="49" charset="0"/>
                <a:ea typeface="JetBrains Mono" pitchFamily="49" charset="-122"/>
                <a:cs typeface="JetBrains Mono" pitchFamily="49" charset="-120"/>
              </a:rPr>
              <a:t>05 · TROUBLESHOOTING</a:t>
            </a:r>
            <a:endParaRPr lang="en-US" sz="1200" dirty="0"/>
          </a:p>
        </p:txBody>
      </p:sp>
      <p:sp>
        <p:nvSpPr>
          <p:cNvPr id="3" name="Text 1"/>
          <p:cNvSpPr/>
          <p:nvPr>
            <p:ph type="title"/>
          </p:nvPr>
        </p:nvSpPr>
        <p:spPr>
          <a:xfrm>
            <a:off x="812800" y="10007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0F1B24"/>
                </a:solidFill>
                <a:latin typeface="IBM Plex Sans" pitchFamily="34" charset="0"/>
                <a:ea typeface="IBM Plex Sans" pitchFamily="34" charset="-122"/>
                <a:cs typeface="IBM Plex Sans" pitchFamily="34" charset="-120"/>
              </a:rPr>
              <a:t>Gejala, penyebab, solusi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34741"/>
          <a:ext cx="10553700" cy="3990975"/>
        </p:xfrm>
        <a:graphic>
          <a:graphicData uri="http://schemas.openxmlformats.org/drawingml/2006/table">
            <a:tbl>
              <a:tblPr/>
              <a:tblGrid>
                <a:gridCol w="3166110"/>
                <a:gridCol w="3377184"/>
                <a:gridCol w="4010406"/>
              </a:tblGrid>
              <a:tr h="332581">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Gejala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Penyebab umum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c>
                  <a:txBody>
                    <a:bodyPr/>
                    <a:lstStyle/>
                    <a:p>
                      <a:pPr indent="0" marL="0">
                        <a:lnSpc>
                          <a:spcPts val="1680"/>
                        </a:lnSpc>
                        <a:buNone/>
                      </a:pPr>
                      <a:r>
                        <a:rPr lang="en-US" sz="1200" b="1" dirty="0">
                          <a:solidFill>
                            <a:srgbClr val="1E2A33"/>
                          </a:solidFill>
                          <a:latin typeface="IBM Plex Sans" pitchFamily="34" charset="0"/>
                          <a:ea typeface="IBM Plex Sans" pitchFamily="34" charset="-122"/>
                          <a:cs typeface="IBM Plex Sans" pitchFamily="34" charset="-120"/>
                        </a:rPr>
                        <a:t>Solusi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6"/>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sensor=WAIT, frm=0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TX/RX tertukar, GND lepas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tukar kabel 17/18, satukan GND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Monitor hanya ␀␀␀</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port atau baud salah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port USB “UART”, 115200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rpm selalu 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pull-up TACH tidak ada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10k dari GPIO7 ke 3V3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Kipas tak pernah diam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relay tak terpasang / terbalik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cek COM–NO, RELAY_ACTIVE_HIGH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OLED gelap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alamat/kabel I2C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lihat [i2c] di log boot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eCO₂ “WARM” / 400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ENS160 pemanasan (tanpa SCD40)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tunggu 3 menit (1 jam pertama)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LED RGB mati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pad “RGB” terbuka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jembatani pad / PIN_RGB 38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cair.local tak terbuka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HP tak dukung mDNS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pakai IP dari log / menu WiFi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PM luar “--”, [zh] OFFLINE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ZH03B tanpa 5 V, TX/RX tertukar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VCC 5 V, cek GPIO16/15 (D1: 19/23)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Sumber CO₂ = ENS160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SCD40 tak terdeteksi di 0x62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cek kabel I2C, lihat [i2c] &amp; [scd]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C9C7"/>
                      </a:solidFill>
                      <a:prstDash val="solid"/>
                      <a:round/>
                      <a:headEnd type="none" w="med" len="med"/>
                      <a:tailEnd type="none" w="med" len="med"/>
                    </a:lnL>
                    <a:lnR w="12700" cap="flat" cmpd="sng" algn="ctr">
                      <a:solidFill>
                        <a:srgbClr val="C8C9C7"/>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8C9C7"/>
                      </a:solidFill>
                      <a:prstDash val="solid"/>
                      <a:round/>
                      <a:headEnd type="none" w="med" len="med"/>
                      <a:tailEnd type="none" w="med" len="med"/>
                    </a:lnB>
                    <a:solidFill>
                      <a:srgbClr val="FBFCFA"/>
                    </a:solidFill>
                  </a:tcPr>
                </a:tc>
              </a:tr>
              <a:tr h="332581">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Build: intelhex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Python PlatformIO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nSpc>
                          <a:spcPts val="1680"/>
                        </a:lnSpc>
                        <a:buNone/>
                      </a:pPr>
                      <a:r>
                        <a:rPr lang="en-US" sz="1200" dirty="0">
                          <a:solidFill>
                            <a:srgbClr val="1E2A33"/>
                          </a:solidFill>
                          <a:latin typeface="IBM Plex Sans" pitchFamily="34" charset="0"/>
                          <a:ea typeface="IBM Plex Sans" pitchFamily="34" charset="-122"/>
                          <a:cs typeface="IBM Plex Sans" pitchFamily="34" charset="-120"/>
                        </a:rPr>
                        <a:t>pip install intelhex di penv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8C9C7"/>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875"/>
                </a:solidFill>
                <a:latin typeface="IBM Plex Sans" pitchFamily="34" charset="0"/>
                <a:ea typeface="IBM Plex Sans" pitchFamily="34" charset="-122"/>
                <a:cs typeface="IBM Plex Sans" pitchFamily="34" charset="-120"/>
              </a:rPr>
              <a:t>CAIR · Manual teknis — 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B24"/>
        </a:solidFill>
      </p:bgPr>
    </p:bg>
    <p:spTree>
      <p:nvGrpSpPr>
        <p:cNvPr id="1" name=""/>
        <p:cNvGrpSpPr/>
        <p:nvPr/>
      </p:nvGrpSpPr>
      <p:grpSpPr>
        <a:xfrm>
          <a:off x="0" y="0"/>
          <a:ext cx="0" cy="0"/>
          <a:chOff x="0" y="0"/>
          <a:chExt cx="0" cy="0"/>
        </a:xfrm>
      </p:grpSpPr>
      <p:sp>
        <p:nvSpPr>
          <p:cNvPr id="2" name="Shape 0"/>
          <p:cNvSpPr/>
          <p:nvPr/>
        </p:nvSpPr>
        <p:spPr>
          <a:xfrm>
            <a:off x="0" y="3937000"/>
            <a:ext cx="12192000" cy="2921000"/>
          </a:xfrm>
          <a:prstGeom prst="rect">
            <a:avLst/>
          </a:prstGeom>
          <a:gradFill rotWithShape="1">
            <a:gsLst>
              <a:gs pos="0">
                <a:srgbClr val="0F1B24"/>
              </a:gs>
              <a:gs pos="100000">
                <a:srgbClr val="0E3B33"/>
              </a:gs>
            </a:gsLst>
            <a:lin ang="5400000" scaled="0"/>
          </a:gradFill>
          <a:ln/>
        </p:spPr>
      </p:sp>
      <p:sp>
        <p:nvSpPr>
          <p:cNvPr id="3" name="Text 1"/>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DD6A3"/>
                </a:solidFill>
                <a:latin typeface="JetBrains Mono" pitchFamily="49" charset="0"/>
                <a:ea typeface="JetBrains Mono" pitchFamily="49" charset="-122"/>
                <a:cs typeface="JetBrains Mono" pitchFamily="49" charset="-120"/>
              </a:rPr>
              <a:t>RINGKASAN</a:t>
            </a:r>
            <a:endParaRPr lang="en-US" sz="1400" dirty="0"/>
          </a:p>
        </p:txBody>
      </p:sp>
      <p:sp>
        <p:nvSpPr>
          <p:cNvPr id="4" name="Text 2"/>
          <p:cNvSpPr/>
          <p:nvPr>
            <p:ph type="title"/>
          </p:nvPr>
        </p:nvSpPr>
        <p:spPr>
          <a:xfrm>
            <a:off x="812800" y="2660749"/>
            <a:ext cx="9810750" cy="107692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F4F6F3"/>
                </a:solidFill>
                <a:latin typeface="IBM Plex Sans" pitchFamily="34" charset="0"/>
                <a:ea typeface="IBM Plex Sans" pitchFamily="34" charset="-122"/>
                <a:cs typeface="IBM Plex Sans" pitchFamily="34" charset="-120"/>
              </a:rPr>
              <a:t>Sensor membaca, FreeRTOS memutuskan, kipas bekerja, dan HP menampilkan.</a:t>
            </a:r>
            <a:endParaRPr lang="en-US" sz="3600" dirty="0"/>
          </a:p>
        </p:txBody>
      </p:sp>
      <p:sp>
        <p:nvSpPr>
          <p:cNvPr id="5" name="Text 3"/>
          <p:cNvSpPr/>
          <p:nvPr/>
        </p:nvSpPr>
        <p:spPr>
          <a:xfrm>
            <a:off x="812800" y="5311279"/>
            <a:ext cx="345338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DD6A3"/>
                </a:solidFill>
                <a:latin typeface="IBM Plex Sans" pitchFamily="34" charset="0"/>
                <a:ea typeface="IBM Plex Sans" pitchFamily="34" charset="-122"/>
                <a:cs typeface="IBM Plex Sans" pitchFamily="34" charset="-120"/>
              </a:rPr>
              <a:t>Sebelum demo</a:t>
            </a:r>
            <a:endParaRPr lang="en-US" sz="1600" dirty="0"/>
          </a:p>
        </p:txBody>
      </p:sp>
      <p:sp>
        <p:nvSpPr>
          <p:cNvPr id="6" name="Text 4"/>
          <p:cNvSpPr/>
          <p:nvPr/>
        </p:nvSpPr>
        <p:spPr>
          <a:xfrm>
            <a:off x="812800" y="5618559"/>
            <a:ext cx="345338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Nyalakan alat 5 menit lebih awal agar ENS160 lewat pemanasan.</a:t>
            </a:r>
            <a:endParaRPr lang="en-US" sz="1200" dirty="0"/>
          </a:p>
        </p:txBody>
      </p:sp>
      <p:sp>
        <p:nvSpPr>
          <p:cNvPr id="7" name="Text 5"/>
          <p:cNvSpPr/>
          <p:nvPr/>
        </p:nvSpPr>
        <p:spPr>
          <a:xfrm>
            <a:off x="4419600" y="5311279"/>
            <a:ext cx="345338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DD6A3"/>
                </a:solidFill>
                <a:latin typeface="IBM Plex Sans" pitchFamily="34" charset="0"/>
                <a:ea typeface="IBM Plex Sans" pitchFamily="34" charset="-122"/>
                <a:cs typeface="IBM Plex Sans" pitchFamily="34" charset="-120"/>
              </a:rPr>
              <a:t>Untuk paper</a:t>
            </a:r>
            <a:endParaRPr lang="en-US" sz="1600" dirty="0"/>
          </a:p>
        </p:txBody>
      </p:sp>
      <p:sp>
        <p:nvSpPr>
          <p:cNvPr id="8" name="Text 6"/>
          <p:cNvSpPr/>
          <p:nvPr/>
        </p:nvSpPr>
        <p:spPr>
          <a:xfrm>
            <a:off x="4419600" y="5618559"/>
            <a:ext cx="34533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Unduh CSV tiap sesi; sebut “eCO₂ (estimasi)”.</a:t>
            </a:r>
            <a:endParaRPr lang="en-US" sz="1200" dirty="0"/>
          </a:p>
        </p:txBody>
      </p:sp>
      <p:sp>
        <p:nvSpPr>
          <p:cNvPr id="9" name="Text 7"/>
          <p:cNvSpPr/>
          <p:nvPr/>
        </p:nvSpPr>
        <p:spPr>
          <a:xfrm>
            <a:off x="8026400" y="5311279"/>
            <a:ext cx="345338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DD6A3"/>
                </a:solidFill>
                <a:latin typeface="IBM Plex Sans" pitchFamily="34" charset="0"/>
                <a:ea typeface="IBM Plex Sans" pitchFamily="34" charset="-122"/>
                <a:cs typeface="IBM Plex Sans" pitchFamily="34" charset="-120"/>
              </a:rPr>
              <a:t>Pengembangan</a:t>
            </a:r>
            <a:endParaRPr lang="en-US" sz="1600" dirty="0"/>
          </a:p>
        </p:txBody>
      </p:sp>
      <p:sp>
        <p:nvSpPr>
          <p:cNvPr id="10" name="Text 8"/>
          <p:cNvSpPr/>
          <p:nvPr/>
        </p:nvSpPr>
        <p:spPr>
          <a:xfrm>
            <a:off x="8026400" y="5618559"/>
            <a:ext cx="345338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DC"/>
                </a:solidFill>
                <a:latin typeface="IBM Plex Sans" pitchFamily="34" charset="0"/>
                <a:ea typeface="IBM Plex Sans" pitchFamily="34" charset="-122"/>
                <a:cs typeface="IBM Plex Sans" pitchFamily="34" charset="-120"/>
              </a:rPr>
              <a:t>Sensor CO₂ NDIR (MH-Z19), simpan riwayat ke kartu microSD shield.</a:t>
            </a:r>
            <a:endParaRPr lang="en-US" sz="1200" dirty="0"/>
          </a:p>
        </p:txBody>
      </p:sp>
    </p:spTree>
  </p:cSld>
  <p:clrMapOvr>
    <a:masterClrMapping/>
  </p:clrMapOvr>
</p:sld>
</file>

<file path=ppt/theme/theme1.xml><?xml version="1.0" encoding="utf-8"?>
<a:theme xmlns:a="http://schemas.openxmlformats.org/drawingml/2006/main" name="Manual CAIR Air Purifier">
  <a:themeElements>
    <a:clrScheme name="Manual CAIR Air Purifier">
      <a:dk1>
        <a:srgbClr val="0F1B24"/>
      </a:dk1>
      <a:lt1>
        <a:srgbClr val="F4F6F3"/>
      </a:lt1>
      <a:dk2>
        <a:srgbClr val="485258"/>
      </a:dk2>
      <a:lt2>
        <a:srgbClr val="DDE0DE"/>
      </a:lt2>
      <a:accent1>
        <a:srgbClr val="0B7A5A"/>
      </a:accent1>
      <a:accent2>
        <a:srgbClr val="3DD6A3"/>
      </a:accent2>
      <a:accent3>
        <a:srgbClr val="B8530C"/>
      </a:accent3>
      <a:accent4>
        <a:srgbClr val="1F9D63"/>
      </a:accent4>
      <a:accent5>
        <a:srgbClr val="2563EB"/>
      </a:accent5>
      <a:accent6>
        <a:srgbClr val="E8C547"/>
      </a:accent6>
      <a:hlink>
        <a:srgbClr val="0563C1"/>
      </a:hlink>
      <a:folHlink>
        <a:srgbClr val="954F72"/>
      </a:folHlink>
    </a:clrScheme>
    <a:fontScheme name="Manual CAIR Air Purifier">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Manual CAIR Air Purifier</dc:title>
  <dc:subject/>
  <dc:creator/>
  <cp:lastModifiedBy/>
  <cp:revision>1</cp:revision>
  <dcterms:created xsi:type="dcterms:W3CDTF">2026-10-21T09:58:58Z</dcterms:created>
  <dcterms:modified xsi:type="dcterms:W3CDTF">2026-10-21T09:58:58Z</dcterms:modified>
</cp:coreProperties>
</file>